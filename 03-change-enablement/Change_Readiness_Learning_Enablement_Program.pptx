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</a:rPr>
              <a:t>CHANGE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Readiness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Enablement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26974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3864"/>
                </a:solidFill>
              </a:rPr>
              <a:t>A structured L&amp;D and change enablement program designed to help global technology teams understand, adopt, and sustain strategic organizational change.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3547872"/>
            <a:ext cx="1097280" cy="310896"/>
          </a:xfrm>
          <a:prstGeom prst="rect">
            <a:avLst/>
          </a:prstGeom>
          <a:solidFill>
            <a:srgbClr val="E9E4FF"/>
          </a:solidFill>
          <a:ln>
            <a:solidFill>
              <a:srgbClr val="E9E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L&amp;D Partner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10512" y="3547872"/>
            <a:ext cx="1417320" cy="310896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Change Enablement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19272" y="3547872"/>
            <a:ext cx="1325880" cy="310896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</a:rPr>
              <a:t>Global Tech Teams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36592" y="3547872"/>
            <a:ext cx="1234440" cy="310896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</a:rPr>
              <a:t>Manager Enablement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</a:rPr>
              <a:t>PROGRAM FOCUS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4553712"/>
            <a:ext cx="25603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E7E9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emerged between strategic direction and day-to-day adoption. Employees and managers did not consistently understand what the change meant for roles, decisions, tools and priorities.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364992" y="4553712"/>
            <a:ext cx="25603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E7E9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Solution</a:t>
            </a:r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5-week blended journey that translates strategic change into role clarity, new capabilities, manager conversations, adoption plans and measurable impact.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537960" y="8503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5-week blended journey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0" y="1993392"/>
            <a:ext cx="502920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92240" y="1508760"/>
            <a:ext cx="658368" cy="960120"/>
          </a:xfrm>
          <a:prstGeom prst="rect">
            <a:avLst/>
          </a:prstGeom>
          <a:solidFill>
            <a:srgbClr val="E9E4FF"/>
          </a:solidFill>
          <a:ln>
            <a:solidFill>
              <a:srgbClr val="E9E4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1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Understand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47888" y="1993392"/>
            <a:ext cx="502920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42048" y="1508760"/>
            <a:ext cx="658368" cy="960120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2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Translate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997696" y="1993392"/>
            <a:ext cx="502920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991856" y="1508760"/>
            <a:ext cx="658368" cy="960120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3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Build skills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747504" y="1993392"/>
            <a:ext cx="502920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741664" y="1508760"/>
            <a:ext cx="658368" cy="960120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4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Enable managers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491472" y="1508760"/>
            <a:ext cx="658368" cy="960120"/>
          </a:xfrm>
          <a:prstGeom prst="rect">
            <a:avLst/>
          </a:prstGeom>
          <a:solidFill>
            <a:srgbClr val="FFE9D6"/>
          </a:solidFill>
          <a:ln>
            <a:solidFill>
              <a:srgbClr val="FFE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5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4213D"/>
                </a:solidFill>
              </a:rPr>
              <a:t>Measure adoption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537960" y="2971800"/>
            <a:ext cx="475488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7E9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Audience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Employees, middle managers, customer-facing teams, HRBPs, L&amp;D, product/technology teams and regional leaders.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4160520"/>
            <a:ext cx="4754880" cy="1417320"/>
          </a:xfrm>
          <a:prstGeom prst="rect">
            <a:avLst/>
          </a:prstGeom>
          <a:solidFill>
            <a:srgbClr val="F1EEFF"/>
          </a:solidFill>
          <a:ln w="8890">
            <a:solidFill>
              <a:srgbClr val="E9E4F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rate, change clarity, role readiness, manager confidence, role impact maps, knowledge hub visits, customer-facing readiness and adoption actions.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Challenge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3864"/>
                </a:solidFill>
              </a:rPr>
              <a:t>The organization is moving through a strategic transformation similar to global technology companies: new strategic identity, new technology direction, cloud/subscription transition, new customer expectations and stronger competitive pressure.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</a:rPr>
              <a:t>WHAT WAS HAPPENING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553212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Employees heard the strategy but could not translate it into daily work.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Managers gave different explanations to their teams.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Customer-facing teams struggled to explain the change consistently.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Teams had uneven readiness for new tools and workflows.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Employees were unsure which skills they needed to build.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Communication focused on vision, but not enough on role impact.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4213D"/>
                </a:solidFill>
              </a:rPr>
              <a:t>• Learning needs were not measured in a structured way.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720840" y="1920240"/>
            <a:ext cx="1645920" cy="502920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vision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2514600"/>
            <a:ext cx="0" cy="502920"/>
          </a:xfrm>
          <a:prstGeom prst="line">
            <a:avLst/>
          </a:prstGeom>
          <a:noFill/>
          <a:ln w="19050">
            <a:solidFill>
              <a:srgbClr val="657083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629400" y="3063240"/>
            <a:ext cx="1828800" cy="502920"/>
          </a:xfrm>
          <a:prstGeom prst="rect">
            <a:avLst/>
          </a:prstGeom>
          <a:solidFill>
            <a:srgbClr val="FFE9D6"/>
          </a:solidFill>
          <a:ln>
            <a:solidFill>
              <a:srgbClr val="FFE9D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Translation gap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3639312"/>
            <a:ext cx="0" cy="502920"/>
          </a:xfrm>
          <a:prstGeom prst="line">
            <a:avLst/>
          </a:prstGeom>
          <a:noFill/>
          <a:ln w="19050">
            <a:solidFill>
              <a:srgbClr val="65708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63640" y="4251960"/>
            <a:ext cx="2560320" cy="594360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Role clarity &amp; adoption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98280" y="1965960"/>
            <a:ext cx="2286000" cy="2880360"/>
          </a:xfrm>
          <a:prstGeom prst="rect">
            <a:avLst/>
          </a:prstGeom>
          <a:solidFill>
            <a:srgbClr val="F1EEFF"/>
          </a:solidFill>
          <a:ln w="8890">
            <a:solidFill>
              <a:srgbClr val="E9E4F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Need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change enablement program that helps employees and managers understand the change, translate it into daily work, build required capabilities, and measure adoption.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Needs Map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57083"/>
                </a:solidFill>
              </a:rPr>
              <a:t>A clean 3-column map connecting the identified need, organizational meaning and learning response.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03320" cy="384048"/>
          </a:xfrm>
          <a:prstGeom prst="rect">
            <a:avLst/>
          </a:prstGeom>
          <a:solidFill>
            <a:srgbClr val="14213D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Identified Need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4206240" y="1508760"/>
            <a:ext cx="3749040" cy="384048"/>
          </a:xfrm>
          <a:prstGeom prst="rect">
            <a:avLst/>
          </a:prstGeom>
          <a:solidFill>
            <a:srgbClr val="14213D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Organizational Meaning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7955280" y="1508760"/>
            <a:ext cx="3721608" cy="384048"/>
          </a:xfrm>
          <a:prstGeom prst="rect">
            <a:avLst/>
          </a:prstGeom>
          <a:solidFill>
            <a:srgbClr val="14213D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Learning Response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70332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Employees understand the strategy but not role impact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206240" y="1892808"/>
            <a:ext cx="374904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Strategic vision does not translate into daily behavior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7955280" y="1892808"/>
            <a:ext cx="3721608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Build Role Impact Map exercises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Managers explain the change differently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06240" y="2423160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Inconsistent messaging across teams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7955280" y="2423160"/>
            <a:ext cx="3721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Create Manager Change Conversation Guide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3703320" cy="603504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Customer-facing teams struggle with new messaging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206240" y="2953512"/>
            <a:ext cx="3749040" cy="603504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Customers receive inconsistent explanations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55280" y="2953512"/>
            <a:ext cx="3721608" cy="603504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Build customer-facing scripts and objection practice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02920" y="3557016"/>
            <a:ext cx="37033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New tools and workflows require new skills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206240" y="3557016"/>
            <a:ext cx="37490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Teams may adopt the change slowly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7955280" y="3557016"/>
            <a:ext cx="372160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Create Skills Gap Sprint and role-based learning paths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70332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Resistance appears as confusion or concern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206240" y="4160520"/>
            <a:ext cx="374904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Managers may dismiss concerns instead of addressing them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7955280" y="4160520"/>
            <a:ext cx="3721608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Add resistance response practice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02920" y="4690872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Global teams interpret the change differently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4206240" y="4690872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Regional inconsistency and slower adoption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7955280" y="4690872"/>
            <a:ext cx="3721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Add global examples and localization prompts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02920" y="5221224"/>
            <a:ext cx="370332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Learning impact is not measured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4206240" y="5221224"/>
            <a:ext cx="3749040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L&amp;D cannot identify where follow-up is needed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955280" y="5221224"/>
            <a:ext cx="3721608" cy="530352"/>
          </a:xfrm>
          <a:prstGeom prst="rect">
            <a:avLst/>
          </a:prstGeom>
          <a:solidFill>
            <a:srgbClr val="FAFAFE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Build Change Adoption Dashboard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02920" y="5751576"/>
            <a:ext cx="3703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Knowledge is scattered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206240" y="5751576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Employees waste time searching for answers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7955280" y="5751576"/>
            <a:ext cx="37216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</a:rPr>
              <a:t>Create Change Enablement Hub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5-Week Learning Journey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104241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57083"/>
                </a:solidFill>
              </a:rPr>
              <a:t>Each week produces a practical output that turns strategy into clarity, capability and adoption.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2706624" y="2048256"/>
            <a:ext cx="146304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2176272" cy="804672"/>
          </a:xfrm>
          <a:prstGeom prst="rect">
            <a:avLst/>
          </a:prstGeom>
          <a:solidFill>
            <a:srgbClr val="E9E4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Week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Understanding the 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217627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4213D"/>
                </a:solidFill>
              </a:rPr>
              <a:t>Goal: Build shared understanding of why the change is happening and what the organization is trying to achieve.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176272" cy="658368"/>
          </a:xfrm>
          <a:prstGeom prst="rect">
            <a:avLst/>
          </a:prstGeom>
          <a:solidFill>
            <a:srgbClr val="F1EE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Output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Change Narrative Map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992624" y="2048256"/>
            <a:ext cx="146304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34640" y="1645920"/>
            <a:ext cx="2176272" cy="804672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Week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What Changes in Daily 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633472"/>
            <a:ext cx="217627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4213D"/>
                </a:solidFill>
              </a:rPr>
              <a:t>Goal: Translate strategy into role-level clarity: tasks, tools, customer conversations, workflows and success metrics.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834640" y="4023360"/>
            <a:ext cx="2176272" cy="658368"/>
          </a:xfrm>
          <a:prstGeom prst="rect">
            <a:avLst/>
          </a:prstGeom>
          <a:solidFill>
            <a:srgbClr val="F1EE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Output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Role Impact Map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278624" y="2048256"/>
            <a:ext cx="146304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20640" y="1645920"/>
            <a:ext cx="2176272" cy="804672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Week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Building New Capabilities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633472"/>
            <a:ext cx="217627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4213D"/>
                </a:solidFill>
              </a:rPr>
              <a:t>Goal: Identify and prioritize the new skills and knowledge required by each team.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120640" y="4023360"/>
            <a:ext cx="2176272" cy="658368"/>
          </a:xfrm>
          <a:prstGeom prst="rect">
            <a:avLst/>
          </a:prstGeom>
          <a:solidFill>
            <a:srgbClr val="F1EE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Output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Skills Gap Map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564624" y="2048256"/>
            <a:ext cx="146304" cy="0"/>
          </a:xfrm>
          <a:prstGeom prst="line">
            <a:avLst/>
          </a:prstGeom>
          <a:noFill/>
          <a:ln w="25400">
            <a:solidFill>
              <a:srgbClr val="E7E9F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06640" y="1645920"/>
            <a:ext cx="2176272" cy="804672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Week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Manager Enablement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2633472"/>
            <a:ext cx="217627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4213D"/>
                </a:solidFill>
              </a:rPr>
              <a:t>Goal: Equip managers to communicate the change, respond to resistance and support adoption.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406640" y="4023360"/>
            <a:ext cx="2176272" cy="658368"/>
          </a:xfrm>
          <a:prstGeom prst="rect">
            <a:avLst/>
          </a:prstGeom>
          <a:solidFill>
            <a:srgbClr val="F1EE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Output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Manager Change Conversation Guide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692640" y="1645920"/>
            <a:ext cx="2176272" cy="804672"/>
          </a:xfrm>
          <a:prstGeom prst="rect">
            <a:avLst/>
          </a:prstGeom>
          <a:solidFill>
            <a:srgbClr val="FFE9D6"/>
          </a:solidFill>
          <a:ln>
            <a:solidFill>
              <a:srgbClr val="FFE9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Week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Adoption &amp; Continuous Improvement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633472"/>
            <a:ext cx="217627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4213D"/>
                </a:solidFill>
              </a:rPr>
              <a:t>Goal: Measure readiness, collect feedback, track adoption and define team-level follow-up actions.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9692640" y="4023360"/>
            <a:ext cx="2176272" cy="658368"/>
          </a:xfrm>
          <a:prstGeom prst="rect">
            <a:avLst/>
          </a:prstGeom>
          <a:solidFill>
            <a:srgbClr val="F1EE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Output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</a:rPr>
              <a:t>Team Adoption Plan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11201400" cy="685800"/>
          </a:xfrm>
          <a:prstGeom prst="rect">
            <a:avLst/>
          </a:prstGeom>
          <a:solidFill>
            <a:srgbClr val="14213D"/>
          </a:solidFill>
          <a:ln w="8890">
            <a:solidFill>
              <a:srgbClr val="14213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 logic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change → translate it into role impact → build capability → enable managers → measure adoption and follow-up actions.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Deliverables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104241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57083"/>
                </a:solidFill>
              </a:rPr>
              <a:t>A complete change enablement toolkit for training, manager conversations, role clarity, measurement and knowledge access.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5257800" cy="713232"/>
          </a:xfrm>
          <a:prstGeom prst="rect">
            <a:avLst/>
          </a:prstGeom>
          <a:solidFill>
            <a:srgbClr val="F1EEFF"/>
          </a:solidFill>
          <a:ln w="8890">
            <a:solidFill>
              <a:srgbClr val="F1EE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Facilitator Deck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training deck with content, exercises, simulations, discussion questions and facilitator notes.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257800" cy="713232"/>
          </a:xfrm>
          <a:prstGeom prst="rect">
            <a:avLst/>
          </a:prstGeom>
          <a:solidFill>
            <a:srgbClr val="BFD7FF"/>
          </a:solidFill>
          <a:ln w="8890">
            <a:solidFill>
              <a:srgbClr val="BFD7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Change Narrative Map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to explain what is changing, why now, who is affected and what the risks are.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5257800" cy="713232"/>
          </a:xfrm>
          <a:prstGeom prst="rect">
            <a:avLst/>
          </a:prstGeom>
          <a:solidFill>
            <a:srgbClr val="DFF7EA"/>
          </a:solidFill>
          <a:ln w="8890">
            <a:solidFill>
              <a:srgbClr val="DFF7EA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Role Impact Map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to translate strategy into team-level and role-level changes.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548640" y="4261104"/>
            <a:ext cx="5257800" cy="713232"/>
          </a:xfrm>
          <a:prstGeom prst="rect">
            <a:avLst/>
          </a:prstGeom>
          <a:solidFill>
            <a:srgbClr val="FFE5EF"/>
          </a:solidFill>
          <a:ln w="8890">
            <a:solidFill>
              <a:srgbClr val="FFE5E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Skills Gap Map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to prioritize learning needs created by the change.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548640" y="5157216"/>
            <a:ext cx="5257800" cy="713232"/>
          </a:xfrm>
          <a:prstGeom prst="rect">
            <a:avLst/>
          </a:prstGeom>
          <a:solidFill>
            <a:srgbClr val="FFE9D6"/>
          </a:solidFill>
          <a:ln w="8890">
            <a:solidFill>
              <a:srgbClr val="FFE9D6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Manager Change Conversation Guide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guide for team conversations.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263640" y="1572768"/>
            <a:ext cx="5257800" cy="713232"/>
          </a:xfrm>
          <a:prstGeom prst="rect">
            <a:avLst/>
          </a:prstGeom>
          <a:solidFill>
            <a:srgbClr val="F1EEFF"/>
          </a:solidFill>
          <a:ln w="8890">
            <a:solidFill>
              <a:srgbClr val="F1EE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Resistance Response Guide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and prompts for handling common concerns.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263640" y="2468880"/>
            <a:ext cx="5257800" cy="713232"/>
          </a:xfrm>
          <a:prstGeom prst="rect">
            <a:avLst/>
          </a:prstGeom>
          <a:solidFill>
            <a:srgbClr val="BFD7FF"/>
          </a:solidFill>
          <a:ln w="8890">
            <a:solidFill>
              <a:srgbClr val="BFD7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Change FAQ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answers to repeated employee and customer questions.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6263640" y="3364992"/>
            <a:ext cx="5257800" cy="713232"/>
          </a:xfrm>
          <a:prstGeom prst="rect">
            <a:avLst/>
          </a:prstGeom>
          <a:solidFill>
            <a:srgbClr val="DFF7EA"/>
          </a:solidFill>
          <a:ln w="8890">
            <a:solidFill>
              <a:srgbClr val="DFF7EA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Change Adoption Dashboard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dashboard for readiness and adoption.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263640" y="4261104"/>
            <a:ext cx="5257800" cy="713232"/>
          </a:xfrm>
          <a:prstGeom prst="rect">
            <a:avLst/>
          </a:prstGeom>
          <a:solidFill>
            <a:srgbClr val="FFE5EF"/>
          </a:solidFill>
          <a:ln w="8890">
            <a:solidFill>
              <a:srgbClr val="FFE5E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Change Learning Portal Mockup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LMS-style Figma screen.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263640" y="5157216"/>
            <a:ext cx="5257800" cy="713232"/>
          </a:xfrm>
          <a:prstGeom prst="rect">
            <a:avLst/>
          </a:prstGeom>
          <a:solidFill>
            <a:srgbClr val="FFE9D6"/>
          </a:solidFill>
          <a:ln w="8890">
            <a:solidFill>
              <a:srgbClr val="FFE9D6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Change Enablement Hub</a:t>
            </a:r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Notion hub with resources, templates and FAQ.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&amp; KPIs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1042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57083"/>
                </a:solidFill>
              </a:rPr>
              <a:t>Program impact is measured across attendance, readiness, clarity, manager confidence, resource usage and adoption behavior.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246120" cy="393192"/>
          </a:xfrm>
          <a:prstGeom prst="rect">
            <a:avLst/>
          </a:prstGeom>
          <a:solidFill>
            <a:srgbClr val="E9E4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480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Employees Enrolled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4361688" y="1600200"/>
            <a:ext cx="3246120" cy="393192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86%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61688" y="1993392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Completion Rate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8129016" y="1600200"/>
            <a:ext cx="3246120" cy="393192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2.9 → 4.2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29016" y="1993392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Change Clarity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594360" y="2734056"/>
            <a:ext cx="3246120" cy="393192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3.0 → 4.3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3127248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Manager Confidence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361688" y="2734056"/>
            <a:ext cx="3246120" cy="393192"/>
          </a:xfrm>
          <a:prstGeom prst="rect">
            <a:avLst/>
          </a:prstGeom>
          <a:solidFill>
            <a:srgbClr val="FFE9D6"/>
          </a:solidFill>
          <a:ln>
            <a:solidFill>
              <a:srgbClr val="FFE9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72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61688" y="3127248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Role Impact Maps Submitted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8129016" y="2734056"/>
            <a:ext cx="3246120" cy="393192"/>
          </a:xfrm>
          <a:prstGeom prst="rect">
            <a:avLst/>
          </a:prstGeom>
          <a:solidFill>
            <a:srgbClr val="E9E4FF"/>
          </a:solidFill>
          <a:ln>
            <a:solidFill>
              <a:srgbClr val="E9E4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1,850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29016" y="3127248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Knowledge Hub Visits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594360" y="3867912"/>
            <a:ext cx="3246120" cy="393192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81%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4360" y="4261104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Customer-Facing Readiness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4361688" y="3867912"/>
            <a:ext cx="3246120" cy="393192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64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361688" y="4261104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Team Adoption Plans Submitted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8129016" y="3867912"/>
            <a:ext cx="3246120" cy="393192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4.5 / 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29016" y="4261104"/>
            <a:ext cx="3246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4213D"/>
                </a:solidFill>
              </a:rPr>
              <a:t>Manager Satisfaction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594360" y="5166360"/>
            <a:ext cx="11000232" cy="731520"/>
          </a:xfrm>
          <a:prstGeom prst="rect">
            <a:avLst/>
          </a:prstGeom>
          <a:solidFill>
            <a:srgbClr val="14213D"/>
          </a:solidFill>
          <a:ln w="8890">
            <a:solidFill>
              <a:srgbClr val="14213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logic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measures not only attendance, but readiness, clarity, role impact, manager confidence, learning resource usage and adoption behavior.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Impact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458200" y="301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Change Readiness &amp; Learning Enablement Program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864"/>
                </a:solidFill>
              </a:rPr>
              <a:t>This project demonstrates how L&amp;D can support strategic organizational change by translating a high-level transformation into practical learning, manager enablement, role clarity, capability building and measurable adoption.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68EE"/>
                </a:solidFill>
              </a:rPr>
              <a:t>WHAT THIS PROJECT SHOWS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651760" cy="347472"/>
          </a:xfrm>
          <a:prstGeom prst="rect">
            <a:avLst/>
          </a:prstGeom>
          <a:solidFill>
            <a:srgbClr val="F1EEFF"/>
          </a:solidFill>
          <a:ln>
            <a:solidFill>
              <a:srgbClr val="F1EE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Learning needs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487168"/>
            <a:ext cx="2651760" cy="347472"/>
          </a:xfrm>
          <a:prstGeom prst="rect">
            <a:avLst/>
          </a:prstGeom>
          <a:solidFill>
            <a:srgbClr val="F1EEFF"/>
          </a:solidFill>
          <a:ln>
            <a:solidFill>
              <a:srgbClr val="F1EE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Change enablement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2651760" cy="347472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Manager enablement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3035808"/>
            <a:ext cx="2651760" cy="347472"/>
          </a:xfrm>
          <a:prstGeom prst="rect">
            <a:avLst/>
          </a:prstGeom>
          <a:solidFill>
            <a:srgbClr val="BFD7FF"/>
          </a:solidFill>
          <a:ln>
            <a:solidFill>
              <a:srgbClr val="BFD7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Role-based learning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2651760" cy="347472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Practical exercises and simulations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584448"/>
            <a:ext cx="2651760" cy="347472"/>
          </a:xfrm>
          <a:prstGeom prst="rect">
            <a:avLst/>
          </a:prstGeom>
          <a:solidFill>
            <a:srgbClr val="DFF7EA"/>
          </a:solidFill>
          <a:ln>
            <a:solidFill>
              <a:srgbClr val="DF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KPI-based measurement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33088"/>
            <a:ext cx="2651760" cy="347472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Learning operations thinking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4133088"/>
            <a:ext cx="2651760" cy="347472"/>
          </a:xfrm>
          <a:prstGeom prst="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Global technology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45262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7E9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change succeeds when people understand it, can explain it, can practice it, and can measure progress.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5257800"/>
            <a:ext cx="9784080" cy="438912"/>
          </a:xfrm>
          <a:prstGeom prst="rect">
            <a:avLst/>
          </a:prstGeom>
          <a:solidFill>
            <a:srgbClr val="7B68EE"/>
          </a:solidFill>
          <a:ln>
            <a:solidFill>
              <a:srgbClr val="7B68E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Ready for portfolio use: L&amp;D • Change Enablement • Manager Enablement • Global Tech Context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57083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Readiness &amp; Learning Enablement Program</dc:title>
  <dc:subject>Change Readiness &amp; Learning Enablement Program</dc:subject>
  <dc:creator>OpenAI</dc:creator>
  <cp:lastModifiedBy>OpenAI</cp:lastModifiedBy>
  <cp:revision>1</cp:revision>
  <dcterms:created xsi:type="dcterms:W3CDTF">2026-05-03T15:34:11Z</dcterms:created>
  <dcterms:modified xsi:type="dcterms:W3CDTF">2026-05-03T15:34:11Z</dcterms:modified>
</cp:coreProperties>
</file>