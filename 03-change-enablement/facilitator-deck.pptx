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Welcome participants. Explain that this training focuses on the practical side of organizational change: helping employees and managers understand the change, translate it into daily work, build new capabilities, and measure adoption. Clarify that the case is inspired by strategic transformations in global technology organizations such as rebranding and metaverse direction at Meta and cloud/subscription transition at Autodesk.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this portfolio project translates an academic analysis of organizational change into a realistic learning and enablement program. The goal is not to analyze Meta or Autodesk again, but to build a practical solution for a similar global technology transformation.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context as a realistic company scenario. The organization is not named as Meta or Autodesk; it is a simulated global technology company undergoing a strategic shift inspired by those cases.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problem is not that leaders did not define the change. The problem is that employees and managers do not yet have a shared practical understanding of how to work differently.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goal of the learning program. The training should make the change understandable, practical, and measurable.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change enablement is not one-size-fits-all. Each audience needs relevant examples and role-based 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outcomes quickly. Ask participants to identify which outcome feels most important for their team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full journey. Explain that each week includes a practical activity and an output that participants can use after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the backbone of the program. Explain that the model helps participants move from abstract strategy to concrete behavior.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Session 1 should reduce uncertainty and build shared language. Participants need to understand the external and internal reasons for the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participants 10 minutes to complete the map in pairs or small groups. Ask them to write in plain language that a teammate or customer could understand.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people often resist change because they cannot see what it actually means for their day-to-day work. The role impact map makes the change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participants to pick a team such as Sales, Customer Success, Product, or Support. They should focus on concrete behaviors, not vague statements.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session moves from awareness to capability building. Participants should identify what people must learn in order to perform well in the new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groups 12 minutes. Ask them to prioritize no more than three gaps, otherwise the plan becomes unrealistic.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managers are critical because employees often bring uncertainty, resistance, and practical questions to them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facilitation tool. Managers can apply this in team meetings or 1:1 conversations.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as a simulation inspired by a technology company moving toward a new future-facing product vision. It should feel similar to a Meta-style strategic shift without claiming to be an internal Meta training.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process the simulation. Encourage participants to distinguish between inspirational messaging and operational clarity.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this as a simulation inspired by Autodesk-like change. The goal is to practice explaining a business model transition and preparing customer-facing teams.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Guide participants to identify learning needs across functions and not only in sales.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attendance alone does not prove adoption. This session defines how to track understanding, confidence, behavior, and feedback.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how to measure readiness. Ask participants what questions would matter most in their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dashboard and how L&amp;D can use it to prioritize follow-up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communication is a learning asset. It helps employees understand the change and know where to go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strategic change needs cross-functional sponsorship and clear ownership.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summarizes the concrete assets that should be created as part of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explain how the program would be rolled out in a real organization.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Discuss that resistance is not always negative. It often signals unclear information, missing skills, or low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by summarizing the core message. Ask participants to name one action they will take this week to support adoption.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6F7FB"/>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7213F"/>
        </a:solidFill>
      </p:bgPr>
    </p:bg>
    <p:spTree>
      <p:nvGrpSpPr>
        <p:cNvPr id="1" name=""/>
        <p:cNvGrpSpPr/>
        <p:nvPr/>
      </p:nvGrpSpPr>
      <p:grpSpPr>
        <a:xfrm>
          <a:off x="0" y="0"/>
          <a:ext cx="0" cy="0"/>
          <a:chOff x="0" y="0"/>
          <a:chExt cx="0" cy="0"/>
        </a:xfrm>
      </p:grpSpPr>
      <p:sp>
        <p:nvSpPr>
          <p:cNvPr id="2" name="Shape 0"/>
          <p:cNvSpPr/>
          <p:nvPr/>
        </p:nvSpPr>
        <p:spPr>
          <a:xfrm>
            <a:off x="8869680" y="685800"/>
            <a:ext cx="2377440" cy="109728"/>
          </a:xfrm>
          <a:prstGeom prst="rect">
            <a:avLst/>
          </a:prstGeom>
          <a:solidFill>
            <a:srgbClr val="A69BE8"/>
          </a:solidFill>
          <a:ln w="12700">
            <a:solidFill>
              <a:srgbClr val="A69BE8"/>
            </a:solidFill>
            <a:prstDash val="solid"/>
          </a:ln>
        </p:spPr>
      </p:sp>
      <p:sp>
        <p:nvSpPr>
          <p:cNvPr id="3" name="Shape 1"/>
          <p:cNvSpPr/>
          <p:nvPr/>
        </p:nvSpPr>
        <p:spPr>
          <a:xfrm>
            <a:off x="9555480" y="1005840"/>
            <a:ext cx="1691640" cy="109728"/>
          </a:xfrm>
          <a:prstGeom prst="rect">
            <a:avLst/>
          </a:prstGeom>
          <a:solidFill>
            <a:srgbClr val="DDEBFF"/>
          </a:solidFill>
          <a:ln w="12700">
            <a:solidFill>
              <a:srgbClr val="DDEBFF"/>
            </a:solidFill>
            <a:prstDash val="solid"/>
          </a:ln>
        </p:spPr>
      </p:sp>
      <p:sp>
        <p:nvSpPr>
          <p:cNvPr id="4" name="Shape 2"/>
          <p:cNvSpPr/>
          <p:nvPr/>
        </p:nvSpPr>
        <p:spPr>
          <a:xfrm>
            <a:off x="749808" y="5897880"/>
            <a:ext cx="2926080" cy="91440"/>
          </a:xfrm>
          <a:prstGeom prst="rect">
            <a:avLst/>
          </a:prstGeom>
          <a:solidFill>
            <a:srgbClr val="DDF7EC"/>
          </a:solidFill>
          <a:ln w="12700">
            <a:solidFill>
              <a:srgbClr val="DDF7EC"/>
            </a:solidFill>
            <a:prstDash val="solid"/>
          </a:ln>
        </p:spPr>
      </p:sp>
      <p:sp>
        <p:nvSpPr>
          <p:cNvPr id="5" name="Text 3"/>
          <p:cNvSpPr/>
          <p:nvPr/>
        </p:nvSpPr>
        <p:spPr>
          <a:xfrm>
            <a:off x="731520" y="1325880"/>
            <a:ext cx="8869680" cy="960120"/>
          </a:xfrm>
          <a:prstGeom prst="rect">
            <a:avLst/>
          </a:prstGeom>
          <a:noFill/>
          <a:ln/>
        </p:spPr>
        <p:txBody>
          <a:bodyPr wrap="square" lIns="254" tIns="254" rIns="254" bIns="254" rtlCol="0" anchor="ctr">
            <a:normAutofit/>
          </a:bodyPr>
          <a:lstStyle/>
          <a:p>
            <a:pPr indent="0" marL="0">
              <a:buNone/>
            </a:pPr>
            <a:r>
              <a:rPr lang="en-US" sz="3000" b="1" dirty="0">
                <a:solidFill>
                  <a:srgbClr val="FFFFFF"/>
                </a:solidFill>
                <a:latin typeface="Aptos Display" pitchFamily="34" charset="0"/>
                <a:ea typeface="Aptos Display" pitchFamily="34" charset="-122"/>
                <a:cs typeface="Aptos Display" pitchFamily="34" charset="-120"/>
              </a:rPr>
              <a:t>Change Readiness &amp; Learning Enablement Program</a:t>
            </a:r>
            <a:endParaRPr lang="en-US" sz="3000" dirty="0"/>
          </a:p>
        </p:txBody>
      </p:sp>
      <p:sp>
        <p:nvSpPr>
          <p:cNvPr id="6" name="Text 4"/>
          <p:cNvSpPr/>
          <p:nvPr/>
        </p:nvSpPr>
        <p:spPr>
          <a:xfrm>
            <a:off x="749808" y="2542032"/>
            <a:ext cx="7863840" cy="457200"/>
          </a:xfrm>
          <a:prstGeom prst="rect">
            <a:avLst/>
          </a:prstGeom>
          <a:noFill/>
          <a:ln/>
        </p:spPr>
        <p:txBody>
          <a:bodyPr wrap="square" lIns="0" tIns="0" rIns="0" bIns="0" rtlCol="0" anchor="ctr">
            <a:normAutofit/>
          </a:bodyPr>
          <a:lstStyle/>
          <a:p>
            <a:pPr indent="0" marL="0">
              <a:buNone/>
            </a:pPr>
            <a:r>
              <a:rPr lang="en-US" sz="1350" dirty="0">
                <a:solidFill>
                  <a:srgbClr val="E5E7EB"/>
                </a:solidFill>
              </a:rPr>
              <a:t>A full facilitator deck for helping global technology teams understand, adopt, and sustain strategic organizational change.</a:t>
            </a:r>
            <a:endParaRPr lang="en-US" sz="1350" dirty="0"/>
          </a:p>
        </p:txBody>
      </p:sp>
      <p:sp>
        <p:nvSpPr>
          <p:cNvPr id="7" name="Shape 5"/>
          <p:cNvSpPr/>
          <p:nvPr/>
        </p:nvSpPr>
        <p:spPr>
          <a:xfrm>
            <a:off x="749808" y="3337560"/>
            <a:ext cx="1143000" cy="320040"/>
          </a:xfrm>
          <a:prstGeom prst="roundRect">
            <a:avLst>
              <a:gd name="adj" fmla="val 22857"/>
            </a:avLst>
          </a:prstGeom>
          <a:solidFill>
            <a:srgbClr val="A69BE8"/>
          </a:solidFill>
          <a:ln w="12700">
            <a:solidFill>
              <a:srgbClr val="A69BE8"/>
            </a:solidFill>
            <a:prstDash val="solid"/>
          </a:ln>
        </p:spPr>
      </p:sp>
      <p:sp>
        <p:nvSpPr>
          <p:cNvPr id="8" name="Text 6"/>
          <p:cNvSpPr/>
          <p:nvPr/>
        </p:nvSpPr>
        <p:spPr>
          <a:xfrm>
            <a:off x="804672" y="3419856"/>
            <a:ext cx="1033272" cy="109728"/>
          </a:xfrm>
          <a:prstGeom prst="rect">
            <a:avLst/>
          </a:prstGeom>
          <a:noFill/>
          <a:ln/>
        </p:spPr>
        <p:txBody>
          <a:bodyPr wrap="square" lIns="0" tIns="0" rIns="0" bIns="0" rtlCol="0" anchor="ctr">
            <a:normAutofit/>
          </a:bodyPr>
          <a:lstStyle/>
          <a:p>
            <a:pPr algn="ctr" indent="0" marL="0">
              <a:buNone/>
            </a:pPr>
            <a:r>
              <a:rPr lang="en-US" sz="760" b="1" dirty="0">
                <a:solidFill>
                  <a:srgbClr val="FFFFFF"/>
                </a:solidFill>
              </a:rPr>
              <a:t>L&amp;D Partner</a:t>
            </a:r>
            <a:endParaRPr lang="en-US" sz="760" dirty="0"/>
          </a:p>
        </p:txBody>
      </p:sp>
      <p:sp>
        <p:nvSpPr>
          <p:cNvPr id="9" name="Shape 7"/>
          <p:cNvSpPr/>
          <p:nvPr/>
        </p:nvSpPr>
        <p:spPr>
          <a:xfrm>
            <a:off x="2029968" y="3337560"/>
            <a:ext cx="1600200" cy="320040"/>
          </a:xfrm>
          <a:prstGeom prst="roundRect">
            <a:avLst>
              <a:gd name="adj" fmla="val 22857"/>
            </a:avLst>
          </a:prstGeom>
          <a:solidFill>
            <a:srgbClr val="DDEBFF"/>
          </a:solidFill>
          <a:ln w="12700">
            <a:solidFill>
              <a:srgbClr val="DDEBFF"/>
            </a:solidFill>
            <a:prstDash val="solid"/>
          </a:ln>
        </p:spPr>
      </p:sp>
      <p:sp>
        <p:nvSpPr>
          <p:cNvPr id="10" name="Text 8"/>
          <p:cNvSpPr/>
          <p:nvPr/>
        </p:nvSpPr>
        <p:spPr>
          <a:xfrm>
            <a:off x="2084832" y="3419856"/>
            <a:ext cx="1490472" cy="109728"/>
          </a:xfrm>
          <a:prstGeom prst="rect">
            <a:avLst/>
          </a:prstGeom>
          <a:noFill/>
          <a:ln/>
        </p:spPr>
        <p:txBody>
          <a:bodyPr wrap="square" lIns="0" tIns="0" rIns="0" bIns="0" rtlCol="0" anchor="ctr">
            <a:normAutofit/>
          </a:bodyPr>
          <a:lstStyle/>
          <a:p>
            <a:pPr algn="ctr" indent="0" marL="0">
              <a:buNone/>
            </a:pPr>
            <a:r>
              <a:rPr lang="en-US" sz="760" b="1" dirty="0">
                <a:solidFill>
                  <a:srgbClr val="FFFFFF"/>
                </a:solidFill>
              </a:rPr>
              <a:t>Change Enablement</a:t>
            </a:r>
            <a:endParaRPr lang="en-US" sz="760" dirty="0"/>
          </a:p>
        </p:txBody>
      </p:sp>
      <p:sp>
        <p:nvSpPr>
          <p:cNvPr id="11" name="Shape 9"/>
          <p:cNvSpPr/>
          <p:nvPr/>
        </p:nvSpPr>
        <p:spPr>
          <a:xfrm>
            <a:off x="3767328" y="3337560"/>
            <a:ext cx="1600200" cy="320040"/>
          </a:xfrm>
          <a:prstGeom prst="roundRect">
            <a:avLst>
              <a:gd name="adj" fmla="val 22857"/>
            </a:avLst>
          </a:prstGeom>
          <a:solidFill>
            <a:srgbClr val="DDF7EC"/>
          </a:solidFill>
          <a:ln w="12700">
            <a:solidFill>
              <a:srgbClr val="DDF7EC"/>
            </a:solidFill>
            <a:prstDash val="solid"/>
          </a:ln>
        </p:spPr>
      </p:sp>
      <p:sp>
        <p:nvSpPr>
          <p:cNvPr id="12" name="Text 10"/>
          <p:cNvSpPr/>
          <p:nvPr/>
        </p:nvSpPr>
        <p:spPr>
          <a:xfrm>
            <a:off x="3822192" y="3419856"/>
            <a:ext cx="1490472" cy="109728"/>
          </a:xfrm>
          <a:prstGeom prst="rect">
            <a:avLst/>
          </a:prstGeom>
          <a:noFill/>
          <a:ln/>
        </p:spPr>
        <p:txBody>
          <a:bodyPr wrap="square" lIns="0" tIns="0" rIns="0" bIns="0" rtlCol="0" anchor="ctr">
            <a:normAutofit/>
          </a:bodyPr>
          <a:lstStyle/>
          <a:p>
            <a:pPr algn="ctr" indent="0" marL="0">
              <a:buNone/>
            </a:pPr>
            <a:r>
              <a:rPr lang="en-US" sz="760" b="1" dirty="0">
                <a:solidFill>
                  <a:srgbClr val="FFFFFF"/>
                </a:solidFill>
              </a:rPr>
              <a:t>Global Tech Teams</a:t>
            </a:r>
            <a:endParaRPr lang="en-US" sz="760" dirty="0"/>
          </a:p>
        </p:txBody>
      </p:sp>
      <p:sp>
        <p:nvSpPr>
          <p:cNvPr id="13" name="Shape 11"/>
          <p:cNvSpPr/>
          <p:nvPr/>
        </p:nvSpPr>
        <p:spPr>
          <a:xfrm>
            <a:off x="5504688" y="3337560"/>
            <a:ext cx="1691640" cy="320040"/>
          </a:xfrm>
          <a:prstGeom prst="roundRect">
            <a:avLst>
              <a:gd name="adj" fmla="val 22857"/>
            </a:avLst>
          </a:prstGeom>
          <a:solidFill>
            <a:srgbClr val="A69BE8"/>
          </a:solidFill>
          <a:ln w="12700">
            <a:solidFill>
              <a:srgbClr val="A69BE8"/>
            </a:solidFill>
            <a:prstDash val="solid"/>
          </a:ln>
        </p:spPr>
      </p:sp>
      <p:sp>
        <p:nvSpPr>
          <p:cNvPr id="14" name="Text 12"/>
          <p:cNvSpPr/>
          <p:nvPr/>
        </p:nvSpPr>
        <p:spPr>
          <a:xfrm>
            <a:off x="5559552" y="3419856"/>
            <a:ext cx="1581912" cy="109728"/>
          </a:xfrm>
          <a:prstGeom prst="rect">
            <a:avLst/>
          </a:prstGeom>
          <a:noFill/>
          <a:ln/>
        </p:spPr>
        <p:txBody>
          <a:bodyPr wrap="square" lIns="0" tIns="0" rIns="0" bIns="0" rtlCol="0" anchor="ctr">
            <a:normAutofit/>
          </a:bodyPr>
          <a:lstStyle/>
          <a:p>
            <a:pPr algn="ctr" indent="0" marL="0">
              <a:buNone/>
            </a:pPr>
            <a:r>
              <a:rPr lang="en-US" sz="760" b="1" dirty="0">
                <a:solidFill>
                  <a:srgbClr val="FFFFFF"/>
                </a:solidFill>
              </a:rPr>
              <a:t>Manager Enablement</a:t>
            </a:r>
            <a:endParaRPr lang="en-US" sz="760" dirty="0"/>
          </a:p>
        </p:txBody>
      </p:sp>
      <p:sp>
        <p:nvSpPr>
          <p:cNvPr id="15" name="Text 13"/>
          <p:cNvSpPr/>
          <p:nvPr/>
        </p:nvSpPr>
        <p:spPr>
          <a:xfrm>
            <a:off x="749808" y="6236208"/>
            <a:ext cx="7955280" cy="182880"/>
          </a:xfrm>
          <a:prstGeom prst="rect">
            <a:avLst/>
          </a:prstGeom>
          <a:noFill/>
          <a:ln/>
        </p:spPr>
        <p:txBody>
          <a:bodyPr wrap="square" lIns="0" tIns="0" rIns="0" bIns="0" rtlCol="0" anchor="ctr"/>
          <a:lstStyle/>
          <a:p>
            <a:pPr indent="0" marL="0">
              <a:buNone/>
            </a:pPr>
            <a:r>
              <a:rPr lang="en-US" sz="850" dirty="0">
                <a:solidFill>
                  <a:srgbClr val="FFFFFF"/>
                </a:solidFill>
              </a:rPr>
              <a:t>Portfolio Project 3 · Inspired by organizational change analysis of Meta and Autodesk</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B"/>
        </a:solidFill>
      </p:bgPr>
    </p:bg>
    <p:spTree>
      <p:nvGrpSpPr>
        <p:cNvPr id="1" name=""/>
        <p:cNvGrpSpPr/>
        <p:nvPr/>
      </p:nvGrpSpPr>
      <p:grpSpPr>
        <a:xfrm>
          <a:off x="0" y="0"/>
          <a:ext cx="0" cy="0"/>
          <a:chOff x="0" y="0"/>
          <a:chExt cx="0" cy="0"/>
        </a:xfrm>
      </p:grpSpPr>
      <p:sp>
        <p:nvSpPr>
          <p:cNvPr id="2" name="Shape 0"/>
          <p:cNvSpPr/>
          <p:nvPr/>
        </p:nvSpPr>
        <p:spPr>
          <a:xfrm>
            <a:off x="0" y="0"/>
            <a:ext cx="12191695" cy="329184"/>
          </a:xfrm>
          <a:prstGeom prst="rect">
            <a:avLst/>
          </a:prstGeom>
          <a:solidFill>
            <a:srgbClr val="17213F"/>
          </a:solidFill>
          <a:ln w="12700">
            <a:solidFill>
              <a:srgbClr val="17213F"/>
            </a:solidFill>
            <a:prstDash val="solid"/>
          </a:ln>
        </p:spPr>
      </p:sp>
      <p:sp>
        <p:nvSpPr>
          <p:cNvPr id="3" name="Text 1"/>
          <p:cNvSpPr/>
          <p:nvPr/>
        </p:nvSpPr>
        <p:spPr>
          <a:xfrm>
            <a:off x="411480" y="68580"/>
            <a:ext cx="4114800" cy="164592"/>
          </a:xfrm>
          <a:prstGeom prst="rect">
            <a:avLst/>
          </a:prstGeom>
          <a:noFill/>
          <a:ln/>
        </p:spPr>
        <p:txBody>
          <a:bodyPr wrap="square" lIns="0" tIns="0" rIns="0" bIns="0" rtlCol="0" anchor="ctr"/>
          <a:lstStyle/>
          <a:p>
            <a:pPr indent="0" marL="0">
              <a:buNone/>
            </a:pPr>
            <a:r>
              <a:rPr lang="en-US" sz="750" b="1" dirty="0">
                <a:solidFill>
                  <a:srgbClr val="FFFFFF"/>
                </a:solidFill>
                <a:latin typeface="Aptos" pitchFamily="34" charset="0"/>
                <a:ea typeface="Aptos" pitchFamily="34" charset="-122"/>
                <a:cs typeface="Aptos" pitchFamily="34" charset="-120"/>
              </a:rPr>
              <a:t>PROJECT CONTEXT</a:t>
            </a:r>
            <a:endParaRPr lang="en-US" sz="750" dirty="0"/>
          </a:p>
        </p:txBody>
      </p:sp>
      <p:sp>
        <p:nvSpPr>
          <p:cNvPr id="4" name="Text 2"/>
          <p:cNvSpPr/>
          <p:nvPr/>
        </p:nvSpPr>
        <p:spPr>
          <a:xfrm>
            <a:off x="8778240" y="68580"/>
            <a:ext cx="3017520" cy="164592"/>
          </a:xfrm>
          <a:prstGeom prst="rect">
            <a:avLst/>
          </a:prstGeom>
          <a:noFill/>
          <a:ln/>
        </p:spPr>
        <p:txBody>
          <a:bodyPr wrap="square" lIns="0" tIns="0" rIns="0" bIns="0" rtlCol="0" anchor="ctr"/>
          <a:lstStyle/>
          <a:p>
            <a:pPr algn="r" indent="0" marL="0">
              <a:buNone/>
            </a:pPr>
            <a:r>
              <a:rPr lang="en-US" sz="750" dirty="0">
                <a:solidFill>
                  <a:srgbClr val="FFFFFF"/>
                </a:solidFill>
              </a:rPr>
              <a:t>Portfolio Training Deck</a:t>
            </a:r>
            <a:endParaRPr lang="en-US" sz="750" dirty="0"/>
          </a:p>
        </p:txBody>
      </p:sp>
      <p:sp>
        <p:nvSpPr>
          <p:cNvPr id="5" name="Shape 3"/>
          <p:cNvSpPr/>
          <p:nvPr/>
        </p:nvSpPr>
        <p:spPr>
          <a:xfrm>
            <a:off x="411480" y="6510528"/>
            <a:ext cx="11384280" cy="9144"/>
          </a:xfrm>
          <a:prstGeom prst="rect">
            <a:avLst/>
          </a:prstGeom>
          <a:solidFill>
            <a:srgbClr val="E5E7EB"/>
          </a:solidFill>
          <a:ln w="12700">
            <a:solidFill>
              <a:srgbClr val="E5E7EB"/>
            </a:solidFill>
            <a:prstDash val="solid"/>
          </a:ln>
        </p:spPr>
      </p:sp>
      <p:sp>
        <p:nvSpPr>
          <p:cNvPr id="6" name="Text 4"/>
          <p:cNvSpPr/>
          <p:nvPr/>
        </p:nvSpPr>
        <p:spPr>
          <a:xfrm>
            <a:off x="594360" y="566928"/>
            <a:ext cx="10789920" cy="384048"/>
          </a:xfrm>
          <a:prstGeom prst="rect">
            <a:avLst/>
          </a:prstGeom>
          <a:noFill/>
          <a:ln/>
        </p:spPr>
        <p:txBody>
          <a:bodyPr wrap="square" lIns="381" tIns="381" rIns="381" bIns="381" rtlCol="0" anchor="ctr">
            <a:normAutofit/>
          </a:bodyPr>
          <a:lstStyle/>
          <a:p>
            <a:pPr indent="0" marL="0">
              <a:buNone/>
            </a:pPr>
            <a:r>
              <a:rPr lang="en-US" sz="2500" b="1" dirty="0">
                <a:solidFill>
                  <a:srgbClr val="17213F"/>
                </a:solidFill>
                <a:latin typeface="Aptos Display" pitchFamily="34" charset="0"/>
                <a:ea typeface="Aptos Display" pitchFamily="34" charset="-122"/>
                <a:cs typeface="Aptos Display" pitchFamily="34" charset="-120"/>
              </a:rPr>
              <a:t>Project framing</a:t>
            </a:r>
            <a:endParaRPr lang="en-US" sz="2500" dirty="0"/>
          </a:p>
        </p:txBody>
      </p:sp>
      <p:sp>
        <p:nvSpPr>
          <p:cNvPr id="7" name="Text 5"/>
          <p:cNvSpPr/>
          <p:nvPr/>
        </p:nvSpPr>
        <p:spPr>
          <a:xfrm>
            <a:off x="612648" y="996696"/>
            <a:ext cx="10698480" cy="237744"/>
          </a:xfrm>
          <a:prstGeom prst="rect">
            <a:avLst/>
          </a:prstGeom>
          <a:noFill/>
          <a:ln/>
        </p:spPr>
        <p:txBody>
          <a:bodyPr wrap="square" lIns="0" tIns="0" rIns="0" bIns="0" rtlCol="0" anchor="ctr">
            <a:normAutofit/>
          </a:bodyPr>
          <a:lstStyle/>
          <a:p>
            <a:pPr indent="0" marL="0">
              <a:buNone/>
            </a:pPr>
            <a:r>
              <a:rPr lang="en-US" sz="1120" dirty="0">
                <a:solidFill>
                  <a:srgbClr val="6B7280"/>
                </a:solidFill>
              </a:rPr>
              <a:t>From academic analysis to a practical L&amp;D solution</a:t>
            </a:r>
            <a:endParaRPr lang="en-US" sz="1120" dirty="0"/>
          </a:p>
        </p:txBody>
      </p:sp>
      <p:sp>
        <p:nvSpPr>
          <p:cNvPr id="9" name="Shape 6"/>
          <p:cNvSpPr/>
          <p:nvPr/>
        </p:nvSpPr>
        <p:spPr>
          <a:xfrm>
            <a:off x="685800" y="1508760"/>
            <a:ext cx="3429000" cy="1417320"/>
          </a:xfrm>
          <a:prstGeom prst="roundRect">
            <a:avLst>
              <a:gd name="adj" fmla="val 6452"/>
            </a:avLst>
          </a:prstGeom>
          <a:solidFill>
            <a:srgbClr val="F1EEFF"/>
          </a:solidFill>
          <a:ln w="12700">
            <a:solidFill>
              <a:srgbClr val="E5E7EB">
                <a:alpha val="85000"/>
              </a:srgbClr>
            </a:solidFill>
            <a:prstDash val="solid"/>
          </a:ln>
        </p:spPr>
      </p:sp>
      <p:sp>
        <p:nvSpPr>
          <p:cNvPr id="10" name="Text 7"/>
          <p:cNvSpPr/>
          <p:nvPr/>
        </p:nvSpPr>
        <p:spPr>
          <a:xfrm>
            <a:off x="850392" y="1655064"/>
            <a:ext cx="3099816" cy="201168"/>
          </a:xfrm>
          <a:prstGeom prst="rect">
            <a:avLst/>
          </a:prstGeom>
          <a:noFill/>
          <a:ln/>
        </p:spPr>
        <p:txBody>
          <a:bodyPr wrap="square" lIns="0" tIns="0" rIns="0" bIns="0" rtlCol="0" anchor="ctr"/>
          <a:lstStyle/>
          <a:p>
            <a:pPr indent="0" marL="0">
              <a:buNone/>
            </a:pPr>
            <a:r>
              <a:rPr lang="en-US" sz="1030" b="1" dirty="0">
                <a:solidFill>
                  <a:srgbClr val="17213F"/>
                </a:solidFill>
              </a:rPr>
              <a:t>Academic foundation</a:t>
            </a:r>
            <a:endParaRPr lang="en-US" sz="1030" dirty="0"/>
          </a:p>
        </p:txBody>
      </p:sp>
      <p:sp>
        <p:nvSpPr>
          <p:cNvPr id="11" name="Text 8"/>
          <p:cNvSpPr/>
          <p:nvPr/>
        </p:nvSpPr>
        <p:spPr>
          <a:xfrm>
            <a:off x="850392" y="1947672"/>
            <a:ext cx="3099816" cy="85039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The source work analyzed strategic organizational change in Meta and Autodesk: Meta shifted from Facebook toward a Metaverse vision, while Autodesk transitioned from perpetual software licenses to a cloud-based subscription model.</a:t>
            </a:r>
            <a:endParaRPr lang="en-US" sz="850" dirty="0"/>
          </a:p>
        </p:txBody>
      </p:sp>
      <p:sp>
        <p:nvSpPr>
          <p:cNvPr id="12" name="Shape 9"/>
          <p:cNvSpPr/>
          <p:nvPr/>
        </p:nvSpPr>
        <p:spPr>
          <a:xfrm>
            <a:off x="4434840" y="1508760"/>
            <a:ext cx="3429000" cy="1417320"/>
          </a:xfrm>
          <a:prstGeom prst="roundRect">
            <a:avLst>
              <a:gd name="adj" fmla="val 6452"/>
            </a:avLst>
          </a:prstGeom>
          <a:solidFill>
            <a:srgbClr val="DDEBFF"/>
          </a:solidFill>
          <a:ln w="12700">
            <a:solidFill>
              <a:srgbClr val="E5E7EB">
                <a:alpha val="85000"/>
              </a:srgbClr>
            </a:solidFill>
            <a:prstDash val="solid"/>
          </a:ln>
        </p:spPr>
      </p:sp>
      <p:sp>
        <p:nvSpPr>
          <p:cNvPr id="13" name="Text 10"/>
          <p:cNvSpPr/>
          <p:nvPr/>
        </p:nvSpPr>
        <p:spPr>
          <a:xfrm>
            <a:off x="4599432" y="1655064"/>
            <a:ext cx="3099816" cy="201168"/>
          </a:xfrm>
          <a:prstGeom prst="rect">
            <a:avLst/>
          </a:prstGeom>
          <a:noFill/>
          <a:ln/>
        </p:spPr>
        <p:txBody>
          <a:bodyPr wrap="square" lIns="0" tIns="0" rIns="0" bIns="0" rtlCol="0" anchor="ctr"/>
          <a:lstStyle/>
          <a:p>
            <a:pPr indent="0" marL="0">
              <a:buNone/>
            </a:pPr>
            <a:r>
              <a:rPr lang="en-US" sz="1030" b="1" dirty="0">
                <a:solidFill>
                  <a:srgbClr val="17213F"/>
                </a:solidFill>
              </a:rPr>
              <a:t>Portfolio translation</a:t>
            </a:r>
            <a:endParaRPr lang="en-US" sz="1030" dirty="0"/>
          </a:p>
        </p:txBody>
      </p:sp>
      <p:sp>
        <p:nvSpPr>
          <p:cNvPr id="14" name="Text 11"/>
          <p:cNvSpPr/>
          <p:nvPr/>
        </p:nvSpPr>
        <p:spPr>
          <a:xfrm>
            <a:off x="4599432" y="1947672"/>
            <a:ext cx="3099816" cy="85039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The project converts those insights into an L&amp;D program that prepares employees and managers for strategic transformation in a global technology company.</a:t>
            </a:r>
            <a:endParaRPr lang="en-US" sz="850" dirty="0"/>
          </a:p>
        </p:txBody>
      </p:sp>
      <p:sp>
        <p:nvSpPr>
          <p:cNvPr id="15" name="Shape 12"/>
          <p:cNvSpPr/>
          <p:nvPr/>
        </p:nvSpPr>
        <p:spPr>
          <a:xfrm>
            <a:off x="8183880" y="1508760"/>
            <a:ext cx="3063240" cy="1417320"/>
          </a:xfrm>
          <a:prstGeom prst="roundRect">
            <a:avLst>
              <a:gd name="adj" fmla="val 6452"/>
            </a:avLst>
          </a:prstGeom>
          <a:solidFill>
            <a:srgbClr val="DDF7EC"/>
          </a:solidFill>
          <a:ln w="12700">
            <a:solidFill>
              <a:srgbClr val="E5E7EB">
                <a:alpha val="85000"/>
              </a:srgbClr>
            </a:solidFill>
            <a:prstDash val="solid"/>
          </a:ln>
        </p:spPr>
      </p:sp>
      <p:sp>
        <p:nvSpPr>
          <p:cNvPr id="16" name="Text 13"/>
          <p:cNvSpPr/>
          <p:nvPr/>
        </p:nvSpPr>
        <p:spPr>
          <a:xfrm>
            <a:off x="8348472" y="1655064"/>
            <a:ext cx="2734056" cy="201168"/>
          </a:xfrm>
          <a:prstGeom prst="rect">
            <a:avLst/>
          </a:prstGeom>
          <a:noFill/>
          <a:ln/>
        </p:spPr>
        <p:txBody>
          <a:bodyPr wrap="square" lIns="0" tIns="0" rIns="0" bIns="0" rtlCol="0" anchor="ctr"/>
          <a:lstStyle/>
          <a:p>
            <a:pPr indent="0" marL="0">
              <a:buNone/>
            </a:pPr>
            <a:r>
              <a:rPr lang="en-US" sz="1030" b="1" dirty="0">
                <a:solidFill>
                  <a:srgbClr val="17213F"/>
                </a:solidFill>
              </a:rPr>
              <a:t>Learning focus</a:t>
            </a:r>
            <a:endParaRPr lang="en-US" sz="1030" dirty="0"/>
          </a:p>
        </p:txBody>
      </p:sp>
      <p:sp>
        <p:nvSpPr>
          <p:cNvPr id="17" name="Text 14"/>
          <p:cNvSpPr/>
          <p:nvPr/>
        </p:nvSpPr>
        <p:spPr>
          <a:xfrm>
            <a:off x="8348472" y="1947672"/>
            <a:ext cx="2734056" cy="85039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Change readiness, role impact, capability building, manager enablement, adoption measurement, and continuous improvement.</a:t>
            </a:r>
            <a:endParaRPr lang="en-US" sz="850" dirty="0"/>
          </a:p>
        </p:txBody>
      </p:sp>
      <p:sp>
        <p:nvSpPr>
          <p:cNvPr id="18" name="Shape 15"/>
          <p:cNvSpPr/>
          <p:nvPr/>
        </p:nvSpPr>
        <p:spPr>
          <a:xfrm>
            <a:off x="822960" y="3383280"/>
            <a:ext cx="10607040" cy="2057400"/>
          </a:xfrm>
          <a:prstGeom prst="roundRect">
            <a:avLst>
              <a:gd name="adj" fmla="val 5333"/>
            </a:avLst>
          </a:prstGeom>
          <a:solidFill>
            <a:srgbClr val="FFFFFF"/>
          </a:solidFill>
          <a:ln w="12700">
            <a:solidFill>
              <a:srgbClr val="E5E7EB"/>
            </a:solidFill>
            <a:prstDash val="solid"/>
          </a:ln>
        </p:spPr>
      </p:sp>
      <p:sp>
        <p:nvSpPr>
          <p:cNvPr id="19" name="Shape 16"/>
          <p:cNvSpPr/>
          <p:nvPr/>
        </p:nvSpPr>
        <p:spPr>
          <a:xfrm>
            <a:off x="822960" y="3383280"/>
            <a:ext cx="91440" cy="2057400"/>
          </a:xfrm>
          <a:prstGeom prst="rect">
            <a:avLst/>
          </a:prstGeom>
          <a:solidFill>
            <a:srgbClr val="A69BE8"/>
          </a:solidFill>
          <a:ln w="12700">
            <a:solidFill>
              <a:srgbClr val="A69BE8"/>
            </a:solidFill>
            <a:prstDash val="solid"/>
          </a:ln>
        </p:spPr>
      </p:sp>
      <p:sp>
        <p:nvSpPr>
          <p:cNvPr id="20" name="Text 17"/>
          <p:cNvSpPr/>
          <p:nvPr/>
        </p:nvSpPr>
        <p:spPr>
          <a:xfrm>
            <a:off x="1051560" y="3547872"/>
            <a:ext cx="10195560" cy="228600"/>
          </a:xfrm>
          <a:prstGeom prst="rect">
            <a:avLst/>
          </a:prstGeom>
          <a:noFill/>
          <a:ln/>
        </p:spPr>
        <p:txBody>
          <a:bodyPr wrap="square" lIns="0" tIns="0" rIns="0" bIns="0" rtlCol="0" anchor="ctr"/>
          <a:lstStyle/>
          <a:p>
            <a:pPr indent="0" marL="0">
              <a:buNone/>
            </a:pPr>
            <a:r>
              <a:rPr lang="en-US" sz="1100" b="1" dirty="0">
                <a:solidFill>
                  <a:srgbClr val="17213F"/>
                </a:solidFill>
              </a:rPr>
              <a:t>The learning challenge</a:t>
            </a:r>
            <a:endParaRPr lang="en-US" sz="1100" dirty="0"/>
          </a:p>
        </p:txBody>
      </p:sp>
      <p:sp>
        <p:nvSpPr>
          <p:cNvPr id="21" name="Text 18"/>
          <p:cNvSpPr/>
          <p:nvPr/>
        </p:nvSpPr>
        <p:spPr>
          <a:xfrm>
            <a:off x="1078992" y="3895344"/>
            <a:ext cx="10131552" cy="1417320"/>
          </a:xfrm>
          <a:prstGeom prst="rect">
            <a:avLst/>
          </a:prstGeom>
          <a:noFill/>
          <a:ln/>
        </p:spPr>
        <p:txBody>
          <a:bodyPr wrap="square" lIns="254" tIns="254" rIns="254" bIns="254" rtlCol="0" anchor="ctr">
            <a:normAutofit/>
          </a:bodyPr>
          <a:lstStyle/>
          <a:p>
            <a:pPr indent="0" marL="0">
              <a:buNone/>
            </a:pPr>
            <a:r>
              <a:rPr lang="en-US" sz="870" dirty="0">
                <a:solidFill>
                  <a:srgbClr val="1F2937"/>
                </a:solidFill>
              </a:rPr>
              <a:t>A strategic change can be clear at leadership level, but still unclear in daily work. Employees need to understand what changes, why it matters, what skills are required, and how to adopt the new direction.</a:t>
            </a:r>
            <a:endParaRPr lang="en-US" sz="87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B"/>
        </a:solidFill>
      </p:bgPr>
    </p:bg>
    <p:spTree>
      <p:nvGrpSpPr>
        <p:cNvPr id="1" name=""/>
        <p:cNvGrpSpPr/>
        <p:nvPr/>
      </p:nvGrpSpPr>
      <p:grpSpPr>
        <a:xfrm>
          <a:off x="0" y="0"/>
          <a:ext cx="0" cy="0"/>
          <a:chOff x="0" y="0"/>
          <a:chExt cx="0" cy="0"/>
        </a:xfrm>
      </p:grpSpPr>
      <p:sp>
        <p:nvSpPr>
          <p:cNvPr id="2" name="Shape 0"/>
          <p:cNvSpPr/>
          <p:nvPr/>
        </p:nvSpPr>
        <p:spPr>
          <a:xfrm>
            <a:off x="0" y="0"/>
            <a:ext cx="12191695" cy="329184"/>
          </a:xfrm>
          <a:prstGeom prst="rect">
            <a:avLst/>
          </a:prstGeom>
          <a:solidFill>
            <a:srgbClr val="17213F"/>
          </a:solidFill>
          <a:ln w="12700">
            <a:solidFill>
              <a:srgbClr val="17213F"/>
            </a:solidFill>
            <a:prstDash val="solid"/>
          </a:ln>
        </p:spPr>
      </p:sp>
      <p:sp>
        <p:nvSpPr>
          <p:cNvPr id="3" name="Text 1"/>
          <p:cNvSpPr/>
          <p:nvPr/>
        </p:nvSpPr>
        <p:spPr>
          <a:xfrm>
            <a:off x="411480" y="68580"/>
            <a:ext cx="4114800" cy="164592"/>
          </a:xfrm>
          <a:prstGeom prst="rect">
            <a:avLst/>
          </a:prstGeom>
          <a:noFill/>
          <a:ln/>
        </p:spPr>
        <p:txBody>
          <a:bodyPr wrap="square" lIns="0" tIns="0" rIns="0" bIns="0" rtlCol="0" anchor="ctr"/>
          <a:lstStyle/>
          <a:p>
            <a:pPr indent="0" marL="0">
              <a:buNone/>
            </a:pPr>
            <a:r>
              <a:rPr lang="en-US" sz="750" b="1" dirty="0">
                <a:solidFill>
                  <a:srgbClr val="FFFFFF"/>
                </a:solidFill>
                <a:latin typeface="Aptos" pitchFamily="34" charset="0"/>
                <a:ea typeface="Aptos" pitchFamily="34" charset="-122"/>
                <a:cs typeface="Aptos" pitchFamily="34" charset="-120"/>
              </a:rPr>
              <a:t>ORGANIZATIONAL CONTEXT</a:t>
            </a:r>
            <a:endParaRPr lang="en-US" sz="750" dirty="0"/>
          </a:p>
        </p:txBody>
      </p:sp>
      <p:sp>
        <p:nvSpPr>
          <p:cNvPr id="4" name="Text 2"/>
          <p:cNvSpPr/>
          <p:nvPr/>
        </p:nvSpPr>
        <p:spPr>
          <a:xfrm>
            <a:off x="8778240" y="68580"/>
            <a:ext cx="3017520" cy="164592"/>
          </a:xfrm>
          <a:prstGeom prst="rect">
            <a:avLst/>
          </a:prstGeom>
          <a:noFill/>
          <a:ln/>
        </p:spPr>
        <p:txBody>
          <a:bodyPr wrap="square" lIns="0" tIns="0" rIns="0" bIns="0" rtlCol="0" anchor="ctr"/>
          <a:lstStyle/>
          <a:p>
            <a:pPr algn="r" indent="0" marL="0">
              <a:buNone/>
            </a:pPr>
            <a:r>
              <a:rPr lang="en-US" sz="750" dirty="0">
                <a:solidFill>
                  <a:srgbClr val="FFFFFF"/>
                </a:solidFill>
              </a:rPr>
              <a:t>Portfolio Training Deck</a:t>
            </a:r>
            <a:endParaRPr lang="en-US" sz="750" dirty="0"/>
          </a:p>
        </p:txBody>
      </p:sp>
      <p:sp>
        <p:nvSpPr>
          <p:cNvPr id="5" name="Shape 3"/>
          <p:cNvSpPr/>
          <p:nvPr/>
        </p:nvSpPr>
        <p:spPr>
          <a:xfrm>
            <a:off x="411480" y="6510528"/>
            <a:ext cx="11384280" cy="9144"/>
          </a:xfrm>
          <a:prstGeom prst="rect">
            <a:avLst/>
          </a:prstGeom>
          <a:solidFill>
            <a:srgbClr val="E5E7EB"/>
          </a:solidFill>
          <a:ln w="12700">
            <a:solidFill>
              <a:srgbClr val="E5E7EB"/>
            </a:solidFill>
            <a:prstDash val="solid"/>
          </a:ln>
        </p:spPr>
      </p:sp>
      <p:sp>
        <p:nvSpPr>
          <p:cNvPr id="6" name="Text 4"/>
          <p:cNvSpPr/>
          <p:nvPr/>
        </p:nvSpPr>
        <p:spPr>
          <a:xfrm>
            <a:off x="594360" y="566928"/>
            <a:ext cx="10789920" cy="384048"/>
          </a:xfrm>
          <a:prstGeom prst="rect">
            <a:avLst/>
          </a:prstGeom>
          <a:noFill/>
          <a:ln/>
        </p:spPr>
        <p:txBody>
          <a:bodyPr wrap="square" lIns="381" tIns="381" rIns="381" bIns="381" rtlCol="0" anchor="ctr">
            <a:normAutofit/>
          </a:bodyPr>
          <a:lstStyle/>
          <a:p>
            <a:pPr indent="0" marL="0">
              <a:buNone/>
            </a:pPr>
            <a:r>
              <a:rPr lang="en-US" sz="2500" b="1" dirty="0">
                <a:solidFill>
                  <a:srgbClr val="17213F"/>
                </a:solidFill>
                <a:latin typeface="Aptos Display" pitchFamily="34" charset="0"/>
                <a:ea typeface="Aptos Display" pitchFamily="34" charset="-122"/>
                <a:cs typeface="Aptos Display" pitchFamily="34" charset="-120"/>
              </a:rPr>
              <a:t>Organizational context</a:t>
            </a:r>
            <a:endParaRPr lang="en-US" sz="2500" dirty="0"/>
          </a:p>
        </p:txBody>
      </p:sp>
      <p:sp>
        <p:nvSpPr>
          <p:cNvPr id="7" name="Text 5"/>
          <p:cNvSpPr/>
          <p:nvPr/>
        </p:nvSpPr>
        <p:spPr>
          <a:xfrm>
            <a:off x="612648" y="996696"/>
            <a:ext cx="10698480" cy="237744"/>
          </a:xfrm>
          <a:prstGeom prst="rect">
            <a:avLst/>
          </a:prstGeom>
          <a:noFill/>
          <a:ln/>
        </p:spPr>
        <p:txBody>
          <a:bodyPr wrap="square" lIns="0" tIns="0" rIns="0" bIns="0" rtlCol="0" anchor="ctr">
            <a:normAutofit/>
          </a:bodyPr>
          <a:lstStyle/>
          <a:p>
            <a:pPr indent="0" marL="0">
              <a:buNone/>
            </a:pPr>
            <a:r>
              <a:rPr lang="en-US" sz="1120" dirty="0">
                <a:solidFill>
                  <a:srgbClr val="6B7280"/>
                </a:solidFill>
              </a:rPr>
              <a:t>A global technology company is moving through a strategic transformation</a:t>
            </a:r>
            <a:endParaRPr lang="en-US" sz="1120" dirty="0"/>
          </a:p>
        </p:txBody>
      </p:sp>
      <p:sp>
        <p:nvSpPr>
          <p:cNvPr id="9" name="Shape 6"/>
          <p:cNvSpPr/>
          <p:nvPr/>
        </p:nvSpPr>
        <p:spPr>
          <a:xfrm>
            <a:off x="640080" y="1463040"/>
            <a:ext cx="5212080" cy="1828800"/>
          </a:xfrm>
          <a:prstGeom prst="roundRect">
            <a:avLst>
              <a:gd name="adj" fmla="val 6000"/>
            </a:avLst>
          </a:prstGeom>
          <a:solidFill>
            <a:srgbClr val="FFFFFF"/>
          </a:solidFill>
          <a:ln w="12700">
            <a:solidFill>
              <a:srgbClr val="E5E7EB"/>
            </a:solidFill>
            <a:prstDash val="solid"/>
          </a:ln>
        </p:spPr>
      </p:sp>
      <p:sp>
        <p:nvSpPr>
          <p:cNvPr id="10" name="Shape 7"/>
          <p:cNvSpPr/>
          <p:nvPr/>
        </p:nvSpPr>
        <p:spPr>
          <a:xfrm>
            <a:off x="640080" y="1463040"/>
            <a:ext cx="91440" cy="1828800"/>
          </a:xfrm>
          <a:prstGeom prst="rect">
            <a:avLst/>
          </a:prstGeom>
          <a:solidFill>
            <a:srgbClr val="DDEBFF"/>
          </a:solidFill>
          <a:ln w="12700">
            <a:solidFill>
              <a:srgbClr val="DDEBFF"/>
            </a:solidFill>
            <a:prstDash val="solid"/>
          </a:ln>
        </p:spPr>
      </p:sp>
      <p:sp>
        <p:nvSpPr>
          <p:cNvPr id="11" name="Text 8"/>
          <p:cNvSpPr/>
          <p:nvPr/>
        </p:nvSpPr>
        <p:spPr>
          <a:xfrm>
            <a:off x="868680" y="1627632"/>
            <a:ext cx="4800600" cy="228600"/>
          </a:xfrm>
          <a:prstGeom prst="rect">
            <a:avLst/>
          </a:prstGeom>
          <a:noFill/>
          <a:ln/>
        </p:spPr>
        <p:txBody>
          <a:bodyPr wrap="square" lIns="0" tIns="0" rIns="0" bIns="0" rtlCol="0" anchor="ctr"/>
          <a:lstStyle/>
          <a:p>
            <a:pPr indent="0" marL="0">
              <a:buNone/>
            </a:pPr>
            <a:r>
              <a:rPr lang="en-US" sz="1100" b="1" dirty="0">
                <a:solidFill>
                  <a:srgbClr val="17213F"/>
                </a:solidFill>
              </a:rPr>
              <a:t>Strategic shift</a:t>
            </a:r>
            <a:endParaRPr lang="en-US" sz="1100" dirty="0"/>
          </a:p>
        </p:txBody>
      </p:sp>
      <p:sp>
        <p:nvSpPr>
          <p:cNvPr id="12" name="Text 9"/>
          <p:cNvSpPr/>
          <p:nvPr/>
        </p:nvSpPr>
        <p:spPr>
          <a:xfrm>
            <a:off x="896112" y="1975104"/>
            <a:ext cx="4736592" cy="1188720"/>
          </a:xfrm>
          <a:prstGeom prst="rect">
            <a:avLst/>
          </a:prstGeom>
          <a:noFill/>
          <a:ln/>
        </p:spPr>
        <p:txBody>
          <a:bodyPr wrap="square" lIns="254" tIns="254" rIns="254" bIns="254" rtlCol="0" anchor="ctr">
            <a:normAutofit/>
          </a:bodyPr>
          <a:lstStyle/>
          <a:p>
            <a:pPr indent="0" marL="0">
              <a:buNone/>
            </a:pPr>
            <a:r>
              <a:rPr lang="en-US" sz="870" dirty="0">
                <a:solidFill>
                  <a:srgbClr val="1F2937"/>
                </a:solidFill>
              </a:rPr>
              <a:t>The company is moving from an existing product / business model to a new strategic direction that requires new technology, customer experience, internal processes, and skills.</a:t>
            </a:r>
            <a:endParaRPr lang="en-US" sz="870" dirty="0"/>
          </a:p>
        </p:txBody>
      </p:sp>
      <p:sp>
        <p:nvSpPr>
          <p:cNvPr id="13" name="Shape 10"/>
          <p:cNvSpPr/>
          <p:nvPr/>
        </p:nvSpPr>
        <p:spPr>
          <a:xfrm>
            <a:off x="6309360" y="1463040"/>
            <a:ext cx="5212080" cy="1828800"/>
          </a:xfrm>
          <a:prstGeom prst="roundRect">
            <a:avLst>
              <a:gd name="adj" fmla="val 6000"/>
            </a:avLst>
          </a:prstGeom>
          <a:solidFill>
            <a:srgbClr val="FFFFFF"/>
          </a:solidFill>
          <a:ln w="12700">
            <a:solidFill>
              <a:srgbClr val="E5E7EB"/>
            </a:solidFill>
            <a:prstDash val="solid"/>
          </a:ln>
        </p:spPr>
      </p:sp>
      <p:sp>
        <p:nvSpPr>
          <p:cNvPr id="14" name="Shape 11"/>
          <p:cNvSpPr/>
          <p:nvPr/>
        </p:nvSpPr>
        <p:spPr>
          <a:xfrm>
            <a:off x="6309360" y="1463040"/>
            <a:ext cx="91440" cy="1828800"/>
          </a:xfrm>
          <a:prstGeom prst="rect">
            <a:avLst/>
          </a:prstGeom>
          <a:solidFill>
            <a:srgbClr val="F1EEFF"/>
          </a:solidFill>
          <a:ln w="12700">
            <a:solidFill>
              <a:srgbClr val="F1EEFF"/>
            </a:solidFill>
            <a:prstDash val="solid"/>
          </a:ln>
        </p:spPr>
      </p:sp>
      <p:sp>
        <p:nvSpPr>
          <p:cNvPr id="15" name="Text 12"/>
          <p:cNvSpPr/>
          <p:nvPr/>
        </p:nvSpPr>
        <p:spPr>
          <a:xfrm>
            <a:off x="6537960" y="1627632"/>
            <a:ext cx="4800600" cy="228600"/>
          </a:xfrm>
          <a:prstGeom prst="rect">
            <a:avLst/>
          </a:prstGeom>
          <a:noFill/>
          <a:ln/>
        </p:spPr>
        <p:txBody>
          <a:bodyPr wrap="square" lIns="0" tIns="0" rIns="0" bIns="0" rtlCol="0" anchor="ctr"/>
          <a:lstStyle/>
          <a:p>
            <a:pPr indent="0" marL="0">
              <a:buNone/>
            </a:pPr>
            <a:r>
              <a:rPr lang="en-US" sz="1100" b="1" dirty="0">
                <a:solidFill>
                  <a:srgbClr val="17213F"/>
                </a:solidFill>
              </a:rPr>
              <a:t>Examples of similar change</a:t>
            </a:r>
            <a:endParaRPr lang="en-US" sz="1100" dirty="0"/>
          </a:p>
        </p:txBody>
      </p:sp>
      <p:sp>
        <p:nvSpPr>
          <p:cNvPr id="16" name="Text 13"/>
          <p:cNvSpPr/>
          <p:nvPr/>
        </p:nvSpPr>
        <p:spPr>
          <a:xfrm>
            <a:off x="6565392" y="1975104"/>
            <a:ext cx="4736592" cy="1188720"/>
          </a:xfrm>
          <a:prstGeom prst="rect">
            <a:avLst/>
          </a:prstGeom>
          <a:noFill/>
          <a:ln/>
        </p:spPr>
        <p:txBody>
          <a:bodyPr wrap="square" lIns="254" tIns="254" rIns="254" bIns="254" rtlCol="0" anchor="ctr">
            <a:normAutofit/>
          </a:bodyPr>
          <a:lstStyle/>
          <a:p>
            <a:pPr indent="0" marL="0">
              <a:buNone/>
            </a:pPr>
            <a:r>
              <a:rPr lang="en-US" sz="870" dirty="0">
                <a:solidFill>
                  <a:srgbClr val="1F2937"/>
                </a:solidFill>
              </a:rPr>
              <a:t>Rebranding and new digital vision, transition to cloud or subscription model, product innovation, new customer expectations, global competition, and new ways of working.</a:t>
            </a:r>
            <a:endParaRPr lang="en-US" sz="870" dirty="0"/>
          </a:p>
        </p:txBody>
      </p:sp>
      <p:sp>
        <p:nvSpPr>
          <p:cNvPr id="17" name="Shape 14"/>
          <p:cNvSpPr/>
          <p:nvPr/>
        </p:nvSpPr>
        <p:spPr>
          <a:xfrm>
            <a:off x="640080" y="3730752"/>
            <a:ext cx="3429000" cy="1508760"/>
          </a:xfrm>
          <a:prstGeom prst="roundRect">
            <a:avLst>
              <a:gd name="adj" fmla="val 6061"/>
            </a:avLst>
          </a:prstGeom>
          <a:solidFill>
            <a:srgbClr val="FFFFFF"/>
          </a:solidFill>
          <a:ln w="12700">
            <a:solidFill>
              <a:srgbClr val="E5E7EB">
                <a:alpha val="85000"/>
              </a:srgbClr>
            </a:solidFill>
            <a:prstDash val="solid"/>
          </a:ln>
        </p:spPr>
      </p:sp>
      <p:sp>
        <p:nvSpPr>
          <p:cNvPr id="18" name="Text 15"/>
          <p:cNvSpPr/>
          <p:nvPr/>
        </p:nvSpPr>
        <p:spPr>
          <a:xfrm>
            <a:off x="804672" y="3877056"/>
            <a:ext cx="3099816" cy="201168"/>
          </a:xfrm>
          <a:prstGeom prst="rect">
            <a:avLst/>
          </a:prstGeom>
          <a:noFill/>
          <a:ln/>
        </p:spPr>
        <p:txBody>
          <a:bodyPr wrap="square" lIns="0" tIns="0" rIns="0" bIns="0" rtlCol="0" anchor="ctr"/>
          <a:lstStyle/>
          <a:p>
            <a:pPr indent="0" marL="0">
              <a:buNone/>
            </a:pPr>
            <a:r>
              <a:rPr lang="en-US" sz="1030" b="1" dirty="0">
                <a:solidFill>
                  <a:srgbClr val="17213F"/>
                </a:solidFill>
              </a:rPr>
              <a:t>Who is affected?</a:t>
            </a:r>
            <a:endParaRPr lang="en-US" sz="1030" dirty="0"/>
          </a:p>
        </p:txBody>
      </p:sp>
      <p:sp>
        <p:nvSpPr>
          <p:cNvPr id="19" name="Text 16"/>
          <p:cNvSpPr/>
          <p:nvPr/>
        </p:nvSpPr>
        <p:spPr>
          <a:xfrm>
            <a:off x="804672" y="4169664"/>
            <a:ext cx="3099816" cy="94183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Employees, managers, customer-facing teams, product, engineering, sales, support, HR, and regional teams.</a:t>
            </a:r>
            <a:endParaRPr lang="en-US" sz="850" dirty="0"/>
          </a:p>
        </p:txBody>
      </p:sp>
      <p:sp>
        <p:nvSpPr>
          <p:cNvPr id="20" name="Shape 17"/>
          <p:cNvSpPr/>
          <p:nvPr/>
        </p:nvSpPr>
        <p:spPr>
          <a:xfrm>
            <a:off x="4389120" y="3730752"/>
            <a:ext cx="3429000" cy="1508760"/>
          </a:xfrm>
          <a:prstGeom prst="roundRect">
            <a:avLst>
              <a:gd name="adj" fmla="val 6061"/>
            </a:avLst>
          </a:prstGeom>
          <a:solidFill>
            <a:srgbClr val="FFFFFF"/>
          </a:solidFill>
          <a:ln w="12700">
            <a:solidFill>
              <a:srgbClr val="E5E7EB">
                <a:alpha val="85000"/>
              </a:srgbClr>
            </a:solidFill>
            <a:prstDash val="solid"/>
          </a:ln>
        </p:spPr>
      </p:sp>
      <p:sp>
        <p:nvSpPr>
          <p:cNvPr id="21" name="Text 18"/>
          <p:cNvSpPr/>
          <p:nvPr/>
        </p:nvSpPr>
        <p:spPr>
          <a:xfrm>
            <a:off x="4553712" y="3877056"/>
            <a:ext cx="3099816" cy="201168"/>
          </a:xfrm>
          <a:prstGeom prst="rect">
            <a:avLst/>
          </a:prstGeom>
          <a:noFill/>
          <a:ln/>
        </p:spPr>
        <p:txBody>
          <a:bodyPr wrap="square" lIns="0" tIns="0" rIns="0" bIns="0" rtlCol="0" anchor="ctr"/>
          <a:lstStyle/>
          <a:p>
            <a:pPr indent="0" marL="0">
              <a:buNone/>
            </a:pPr>
            <a:r>
              <a:rPr lang="en-US" sz="1030" b="1" dirty="0">
                <a:solidFill>
                  <a:srgbClr val="17213F"/>
                </a:solidFill>
              </a:rPr>
              <a:t>What changes?</a:t>
            </a:r>
            <a:endParaRPr lang="en-US" sz="1030" dirty="0"/>
          </a:p>
        </p:txBody>
      </p:sp>
      <p:sp>
        <p:nvSpPr>
          <p:cNvPr id="22" name="Text 19"/>
          <p:cNvSpPr/>
          <p:nvPr/>
        </p:nvSpPr>
        <p:spPr>
          <a:xfrm>
            <a:off x="4553712" y="4169664"/>
            <a:ext cx="3099816" cy="94183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Workflows, tools, goals, language, customer conversations, capability expectations, and success metrics.</a:t>
            </a:r>
            <a:endParaRPr lang="en-US" sz="850" dirty="0"/>
          </a:p>
        </p:txBody>
      </p:sp>
      <p:sp>
        <p:nvSpPr>
          <p:cNvPr id="23" name="Shape 20"/>
          <p:cNvSpPr/>
          <p:nvPr/>
        </p:nvSpPr>
        <p:spPr>
          <a:xfrm>
            <a:off x="8138160" y="3730752"/>
            <a:ext cx="3429000" cy="1508760"/>
          </a:xfrm>
          <a:prstGeom prst="roundRect">
            <a:avLst>
              <a:gd name="adj" fmla="val 6061"/>
            </a:avLst>
          </a:prstGeom>
          <a:solidFill>
            <a:srgbClr val="FFFFFF"/>
          </a:solidFill>
          <a:ln w="12700">
            <a:solidFill>
              <a:srgbClr val="E5E7EB">
                <a:alpha val="85000"/>
              </a:srgbClr>
            </a:solidFill>
            <a:prstDash val="solid"/>
          </a:ln>
        </p:spPr>
      </p:sp>
      <p:sp>
        <p:nvSpPr>
          <p:cNvPr id="24" name="Text 21"/>
          <p:cNvSpPr/>
          <p:nvPr/>
        </p:nvSpPr>
        <p:spPr>
          <a:xfrm>
            <a:off x="8302752" y="3877056"/>
            <a:ext cx="3099816" cy="201168"/>
          </a:xfrm>
          <a:prstGeom prst="rect">
            <a:avLst/>
          </a:prstGeom>
          <a:noFill/>
          <a:ln/>
        </p:spPr>
        <p:txBody>
          <a:bodyPr wrap="square" lIns="0" tIns="0" rIns="0" bIns="0" rtlCol="0" anchor="ctr"/>
          <a:lstStyle/>
          <a:p>
            <a:pPr indent="0" marL="0">
              <a:buNone/>
            </a:pPr>
            <a:r>
              <a:rPr lang="en-US" sz="1030" b="1" dirty="0">
                <a:solidFill>
                  <a:srgbClr val="17213F"/>
                </a:solidFill>
              </a:rPr>
              <a:t>What is at risk?</a:t>
            </a:r>
            <a:endParaRPr lang="en-US" sz="1030" dirty="0"/>
          </a:p>
        </p:txBody>
      </p:sp>
      <p:sp>
        <p:nvSpPr>
          <p:cNvPr id="25" name="Text 22"/>
          <p:cNvSpPr/>
          <p:nvPr/>
        </p:nvSpPr>
        <p:spPr>
          <a:xfrm>
            <a:off x="8302752" y="4169664"/>
            <a:ext cx="3099816" cy="94183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Confusion, resistance, inconsistent messaging, skill gaps, low adoption, and slow execution.</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7FB"/>
        </a:solidFill>
      </p:bgPr>
    </p:bg>
    <p:spTree>
      <p:nvGrpSpPr>
        <p:cNvPr id="1" name=""/>
        <p:cNvGrpSpPr/>
        <p:nvPr/>
      </p:nvGrpSpPr>
      <p:grpSpPr>
        <a:xfrm>
          <a:off x="0" y="0"/>
          <a:ext cx="0" cy="0"/>
          <a:chOff x="0" y="0"/>
          <a:chExt cx="0" cy="0"/>
        </a:xfrm>
      </p:grpSpPr>
      <p:sp>
        <p:nvSpPr>
          <p:cNvPr id="2" name="Shape 0"/>
          <p:cNvSpPr/>
          <p:nvPr/>
        </p:nvSpPr>
        <p:spPr>
          <a:xfrm>
            <a:off x="0" y="0"/>
            <a:ext cx="12191695" cy="329184"/>
          </a:xfrm>
          <a:prstGeom prst="rect">
            <a:avLst/>
          </a:prstGeom>
          <a:solidFill>
            <a:srgbClr val="17213F"/>
          </a:solidFill>
          <a:ln w="12700">
            <a:solidFill>
              <a:srgbClr val="17213F"/>
            </a:solidFill>
            <a:prstDash val="solid"/>
          </a:ln>
        </p:spPr>
      </p:sp>
      <p:sp>
        <p:nvSpPr>
          <p:cNvPr id="3" name="Text 1"/>
          <p:cNvSpPr/>
          <p:nvPr/>
        </p:nvSpPr>
        <p:spPr>
          <a:xfrm>
            <a:off x="411480" y="68580"/>
            <a:ext cx="4114800" cy="164592"/>
          </a:xfrm>
          <a:prstGeom prst="rect">
            <a:avLst/>
          </a:prstGeom>
          <a:noFill/>
          <a:ln/>
        </p:spPr>
        <p:txBody>
          <a:bodyPr wrap="square" lIns="0" tIns="0" rIns="0" bIns="0" rtlCol="0" anchor="ctr"/>
          <a:lstStyle/>
          <a:p>
            <a:pPr indent="0" marL="0">
              <a:buNone/>
            </a:pPr>
            <a:r>
              <a:rPr lang="en-US" sz="750" b="1" dirty="0">
                <a:solidFill>
                  <a:srgbClr val="FFFFFF"/>
                </a:solidFill>
                <a:latin typeface="Aptos" pitchFamily="34" charset="0"/>
                <a:ea typeface="Aptos" pitchFamily="34" charset="-122"/>
                <a:cs typeface="Aptos" pitchFamily="34" charset="-120"/>
              </a:rPr>
              <a:t>BUSINESS CHALLENGE</a:t>
            </a:r>
            <a:endParaRPr lang="en-US" sz="750" dirty="0"/>
          </a:p>
        </p:txBody>
      </p:sp>
      <p:sp>
        <p:nvSpPr>
          <p:cNvPr id="4" name="Text 2"/>
          <p:cNvSpPr/>
          <p:nvPr/>
        </p:nvSpPr>
        <p:spPr>
          <a:xfrm>
            <a:off x="8778240" y="68580"/>
            <a:ext cx="3017520" cy="164592"/>
          </a:xfrm>
          <a:prstGeom prst="rect">
            <a:avLst/>
          </a:prstGeom>
          <a:noFill/>
          <a:ln/>
        </p:spPr>
        <p:txBody>
          <a:bodyPr wrap="square" lIns="0" tIns="0" rIns="0" bIns="0" rtlCol="0" anchor="ctr"/>
          <a:lstStyle/>
          <a:p>
            <a:pPr algn="r" indent="0" marL="0">
              <a:buNone/>
            </a:pPr>
            <a:r>
              <a:rPr lang="en-US" sz="750" dirty="0">
                <a:solidFill>
                  <a:srgbClr val="FFFFFF"/>
                </a:solidFill>
              </a:rPr>
              <a:t>Portfolio Training Deck</a:t>
            </a:r>
            <a:endParaRPr lang="en-US" sz="750" dirty="0"/>
          </a:p>
        </p:txBody>
      </p:sp>
      <p:sp>
        <p:nvSpPr>
          <p:cNvPr id="5" name="Shape 3"/>
          <p:cNvSpPr/>
          <p:nvPr/>
        </p:nvSpPr>
        <p:spPr>
          <a:xfrm>
            <a:off x="411480" y="6510528"/>
            <a:ext cx="11384280" cy="9144"/>
          </a:xfrm>
          <a:prstGeom prst="rect">
            <a:avLst/>
          </a:prstGeom>
          <a:solidFill>
            <a:srgbClr val="E5E7EB"/>
          </a:solidFill>
          <a:ln w="12700">
            <a:solidFill>
              <a:srgbClr val="E5E7EB"/>
            </a:solidFill>
            <a:prstDash val="solid"/>
          </a:ln>
        </p:spPr>
      </p:sp>
      <p:sp>
        <p:nvSpPr>
          <p:cNvPr id="6" name="Text 4"/>
          <p:cNvSpPr/>
          <p:nvPr/>
        </p:nvSpPr>
        <p:spPr>
          <a:xfrm>
            <a:off x="594360" y="566928"/>
            <a:ext cx="10789920" cy="384048"/>
          </a:xfrm>
          <a:prstGeom prst="rect">
            <a:avLst/>
          </a:prstGeom>
          <a:noFill/>
          <a:ln/>
        </p:spPr>
        <p:txBody>
          <a:bodyPr wrap="square" lIns="381" tIns="381" rIns="381" bIns="381" rtlCol="0" anchor="ctr">
            <a:normAutofit/>
          </a:bodyPr>
          <a:lstStyle/>
          <a:p>
            <a:pPr indent="0" marL="0">
              <a:buNone/>
            </a:pPr>
            <a:r>
              <a:rPr lang="en-US" sz="2500" b="1" dirty="0">
                <a:solidFill>
                  <a:srgbClr val="17213F"/>
                </a:solidFill>
                <a:latin typeface="Aptos Display" pitchFamily="34" charset="0"/>
                <a:ea typeface="Aptos Display" pitchFamily="34" charset="-122"/>
                <a:cs typeface="Aptos Display" pitchFamily="34" charset="-120"/>
              </a:rPr>
              <a:t>Business challenge</a:t>
            </a:r>
            <a:endParaRPr lang="en-US" sz="2500" dirty="0"/>
          </a:p>
        </p:txBody>
      </p:sp>
      <p:sp>
        <p:nvSpPr>
          <p:cNvPr id="7" name="Text 5"/>
          <p:cNvSpPr/>
          <p:nvPr/>
        </p:nvSpPr>
        <p:spPr>
          <a:xfrm>
            <a:off x="612648" y="996696"/>
            <a:ext cx="10698480" cy="237744"/>
          </a:xfrm>
          <a:prstGeom prst="rect">
            <a:avLst/>
          </a:prstGeom>
          <a:noFill/>
          <a:ln/>
        </p:spPr>
        <p:txBody>
          <a:bodyPr wrap="square" lIns="0" tIns="0" rIns="0" bIns="0" rtlCol="0" anchor="ctr">
            <a:normAutofit/>
          </a:bodyPr>
          <a:lstStyle/>
          <a:p>
            <a:pPr indent="0" marL="0">
              <a:buNone/>
            </a:pPr>
            <a:r>
              <a:rPr lang="en-US" sz="1120" dirty="0">
                <a:solidFill>
                  <a:srgbClr val="6B7280"/>
                </a:solidFill>
              </a:rPr>
              <a:t>The organization identified a gap between strategic direction and day-to-day adoption</a:t>
            </a:r>
            <a:endParaRPr lang="en-US" sz="1120" dirty="0"/>
          </a:p>
        </p:txBody>
      </p:sp>
      <p:sp>
        <p:nvSpPr>
          <p:cNvPr id="9" name="Shape 6"/>
          <p:cNvSpPr/>
          <p:nvPr/>
        </p:nvSpPr>
        <p:spPr>
          <a:xfrm>
            <a:off x="640080" y="1371600"/>
            <a:ext cx="10972800" cy="822960"/>
          </a:xfrm>
          <a:prstGeom prst="roundRect">
            <a:avLst>
              <a:gd name="adj" fmla="val 11111"/>
            </a:avLst>
          </a:prstGeom>
          <a:solidFill>
            <a:srgbClr val="FDECC8"/>
          </a:solidFill>
          <a:ln w="12700">
            <a:solidFill>
              <a:srgbClr val="E5E7EB">
                <a:alpha val="85000"/>
              </a:srgbClr>
            </a:solidFill>
            <a:prstDash val="solid"/>
          </a:ln>
        </p:spPr>
      </p:sp>
      <p:sp>
        <p:nvSpPr>
          <p:cNvPr id="10" name="Text 7"/>
          <p:cNvSpPr/>
          <p:nvPr/>
        </p:nvSpPr>
        <p:spPr>
          <a:xfrm>
            <a:off x="804672" y="1517904"/>
            <a:ext cx="10643616" cy="201168"/>
          </a:xfrm>
          <a:prstGeom prst="rect">
            <a:avLst/>
          </a:prstGeom>
          <a:noFill/>
          <a:ln/>
        </p:spPr>
        <p:txBody>
          <a:bodyPr wrap="square" lIns="0" tIns="0" rIns="0" bIns="0" rtlCol="0" anchor="ctr"/>
          <a:lstStyle/>
          <a:p>
            <a:pPr indent="0" marL="0">
              <a:buNone/>
            </a:pPr>
            <a:r>
              <a:rPr lang="en-US" sz="1030" b="1" dirty="0">
                <a:solidFill>
                  <a:srgbClr val="17213F"/>
                </a:solidFill>
              </a:rPr>
              <a:t>Core issue</a:t>
            </a:r>
            <a:endParaRPr lang="en-US" sz="1030" dirty="0"/>
          </a:p>
        </p:txBody>
      </p:sp>
      <p:sp>
        <p:nvSpPr>
          <p:cNvPr id="11" name="Text 8"/>
          <p:cNvSpPr/>
          <p:nvPr/>
        </p:nvSpPr>
        <p:spPr>
          <a:xfrm>
            <a:off x="804672" y="1810512"/>
            <a:ext cx="10643616" cy="25603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The transformation was communicated at leadership level, but employees and middle managers did not consistently understand what the change meant for their roles, decisions, customer interactions, and priorities.</a:t>
            </a:r>
            <a:endParaRPr lang="en-US" sz="850" dirty="0"/>
          </a:p>
        </p:txBody>
      </p:sp>
      <p:sp>
        <p:nvSpPr>
          <p:cNvPr id="12" name="Shape 9"/>
          <p:cNvSpPr/>
          <p:nvPr/>
        </p:nvSpPr>
        <p:spPr>
          <a:xfrm>
            <a:off x="640080" y="2514600"/>
            <a:ext cx="5212080" cy="2926080"/>
          </a:xfrm>
          <a:prstGeom prst="roundRect">
            <a:avLst>
              <a:gd name="adj" fmla="val 3750"/>
            </a:avLst>
          </a:prstGeom>
          <a:solidFill>
            <a:srgbClr val="FFFFFF"/>
          </a:solidFill>
          <a:ln w="12700">
            <a:solidFill>
              <a:srgbClr val="E5E7EB"/>
            </a:solidFill>
            <a:prstDash val="solid"/>
          </a:ln>
        </p:spPr>
      </p:sp>
      <p:sp>
        <p:nvSpPr>
          <p:cNvPr id="13" name="Shape 10"/>
          <p:cNvSpPr/>
          <p:nvPr/>
        </p:nvSpPr>
        <p:spPr>
          <a:xfrm>
            <a:off x="640080" y="2514600"/>
            <a:ext cx="91440" cy="2926080"/>
          </a:xfrm>
          <a:prstGeom prst="rect">
            <a:avLst/>
          </a:prstGeom>
          <a:solidFill>
            <a:srgbClr val="A69BE8"/>
          </a:solidFill>
          <a:ln w="12700">
            <a:solidFill>
              <a:srgbClr val="A69BE8"/>
            </a:solidFill>
            <a:prstDash val="solid"/>
          </a:ln>
        </p:spPr>
      </p:sp>
      <p:sp>
        <p:nvSpPr>
          <p:cNvPr id="14" name="Text 11"/>
          <p:cNvSpPr/>
          <p:nvPr/>
        </p:nvSpPr>
        <p:spPr>
          <a:xfrm>
            <a:off x="868680" y="2679192"/>
            <a:ext cx="4800600" cy="228600"/>
          </a:xfrm>
          <a:prstGeom prst="rect">
            <a:avLst/>
          </a:prstGeom>
          <a:noFill/>
          <a:ln/>
        </p:spPr>
        <p:txBody>
          <a:bodyPr wrap="square" lIns="0" tIns="0" rIns="0" bIns="0" rtlCol="0" anchor="ctr"/>
          <a:lstStyle/>
          <a:p>
            <a:pPr indent="0" marL="0">
              <a:buNone/>
            </a:pPr>
            <a:r>
              <a:rPr lang="en-US" sz="1100" b="1" dirty="0">
                <a:solidFill>
                  <a:srgbClr val="17213F"/>
                </a:solidFill>
              </a:rPr>
              <a:t>What was happening</a:t>
            </a:r>
            <a:endParaRPr lang="en-US" sz="1100" dirty="0"/>
          </a:p>
        </p:txBody>
      </p:sp>
      <p:sp>
        <p:nvSpPr>
          <p:cNvPr id="15" name="Text 12"/>
          <p:cNvSpPr/>
          <p:nvPr/>
        </p:nvSpPr>
        <p:spPr>
          <a:xfrm>
            <a:off x="896112" y="3026664"/>
            <a:ext cx="4736592" cy="2286000"/>
          </a:xfrm>
          <a:prstGeom prst="rect">
            <a:avLst/>
          </a:prstGeom>
          <a:noFill/>
          <a:ln/>
        </p:spPr>
        <p:txBody>
          <a:bodyPr wrap="square" lIns="254" tIns="254" rIns="254" bIns="254" rtlCol="0" anchor="ctr">
            <a:normAutofit/>
          </a:bodyPr>
          <a:lstStyle/>
          <a:p>
            <a:pPr indent="0" marL="0">
              <a:buNone/>
            </a:pPr>
            <a:r>
              <a:rPr lang="en-US" sz="870" dirty="0">
                <a:solidFill>
                  <a:srgbClr val="1F2937"/>
                </a:solidFill>
              </a:rPr>
              <a:t>• Employees heard the strategy but could not always translate it into daily work</a:t>
            </a:r>
            <a:endParaRPr lang="en-US" sz="870" dirty="0"/>
          </a:p>
          <a:p>
            <a:pPr indent="0" marL="0">
              <a:buNone/>
            </a:pPr>
            <a:r>
              <a:rPr lang="en-US" sz="870" dirty="0">
                <a:solidFill>
                  <a:srgbClr val="1F2937"/>
                </a:solidFill>
              </a:rPr>
              <a:t>• Managers gave different explanations to their teams</a:t>
            </a:r>
            <a:endParaRPr lang="en-US" sz="870" dirty="0"/>
          </a:p>
          <a:p>
            <a:pPr indent="0" marL="0">
              <a:buNone/>
            </a:pPr>
            <a:r>
              <a:rPr lang="en-US" sz="870" dirty="0">
                <a:solidFill>
                  <a:srgbClr val="1F2937"/>
                </a:solidFill>
              </a:rPr>
              <a:t>• Teams had uneven readiness for new tools and processes</a:t>
            </a:r>
            <a:endParaRPr lang="en-US" sz="870" dirty="0"/>
          </a:p>
          <a:p>
            <a:pPr indent="0" marL="0">
              <a:buNone/>
            </a:pPr>
            <a:r>
              <a:rPr lang="en-US" sz="870" dirty="0">
                <a:solidFill>
                  <a:srgbClr val="1F2937"/>
                </a:solidFill>
              </a:rPr>
              <a:t>• Customer-facing teams struggled to explain the change consistently</a:t>
            </a:r>
            <a:endParaRPr lang="en-US" sz="870" dirty="0"/>
          </a:p>
          <a:p>
            <a:pPr indent="0" marL="0">
              <a:buNone/>
            </a:pPr>
            <a:r>
              <a:rPr lang="en-US" sz="870" dirty="0">
                <a:solidFill>
                  <a:srgbClr val="1F2937"/>
                </a:solidFill>
              </a:rPr>
              <a:t>• Learning needs were not measured in one structured way</a:t>
            </a:r>
            <a:endParaRPr lang="en-US" sz="870" dirty="0"/>
          </a:p>
        </p:txBody>
      </p:sp>
      <p:sp>
        <p:nvSpPr>
          <p:cNvPr id="16" name="Shape 13"/>
          <p:cNvSpPr/>
          <p:nvPr/>
        </p:nvSpPr>
        <p:spPr>
          <a:xfrm>
            <a:off x="6309360" y="2514600"/>
            <a:ext cx="5212080" cy="2926080"/>
          </a:xfrm>
          <a:prstGeom prst="roundRect">
            <a:avLst>
              <a:gd name="adj" fmla="val 3750"/>
            </a:avLst>
          </a:prstGeom>
          <a:solidFill>
            <a:srgbClr val="FFFFFF"/>
          </a:solidFill>
          <a:ln w="12700">
            <a:solidFill>
              <a:srgbClr val="E5E7EB"/>
            </a:solidFill>
            <a:prstDash val="solid"/>
          </a:ln>
        </p:spPr>
      </p:sp>
      <p:sp>
        <p:nvSpPr>
          <p:cNvPr id="17" name="Shape 14"/>
          <p:cNvSpPr/>
          <p:nvPr/>
        </p:nvSpPr>
        <p:spPr>
          <a:xfrm>
            <a:off x="6309360" y="2514600"/>
            <a:ext cx="91440" cy="2926080"/>
          </a:xfrm>
          <a:prstGeom prst="rect">
            <a:avLst/>
          </a:prstGeom>
          <a:solidFill>
            <a:srgbClr val="DDEBFF"/>
          </a:solidFill>
          <a:ln w="12700">
            <a:solidFill>
              <a:srgbClr val="DDEBFF"/>
            </a:solidFill>
            <a:prstDash val="solid"/>
          </a:ln>
        </p:spPr>
      </p:sp>
      <p:sp>
        <p:nvSpPr>
          <p:cNvPr id="18" name="Text 15"/>
          <p:cNvSpPr/>
          <p:nvPr/>
        </p:nvSpPr>
        <p:spPr>
          <a:xfrm>
            <a:off x="6537960" y="2679192"/>
            <a:ext cx="4800600" cy="228600"/>
          </a:xfrm>
          <a:prstGeom prst="rect">
            <a:avLst/>
          </a:prstGeom>
          <a:noFill/>
          <a:ln/>
        </p:spPr>
        <p:txBody>
          <a:bodyPr wrap="square" lIns="0" tIns="0" rIns="0" bIns="0" rtlCol="0" anchor="ctr"/>
          <a:lstStyle/>
          <a:p>
            <a:pPr indent="0" marL="0">
              <a:buNone/>
            </a:pPr>
            <a:r>
              <a:rPr lang="en-US" sz="1100" b="1" dirty="0">
                <a:solidFill>
                  <a:srgbClr val="17213F"/>
                </a:solidFill>
              </a:rPr>
              <a:t>Why it matters</a:t>
            </a:r>
            <a:endParaRPr lang="en-US" sz="1100" dirty="0"/>
          </a:p>
        </p:txBody>
      </p:sp>
      <p:sp>
        <p:nvSpPr>
          <p:cNvPr id="19" name="Text 16"/>
          <p:cNvSpPr/>
          <p:nvPr/>
        </p:nvSpPr>
        <p:spPr>
          <a:xfrm>
            <a:off x="6565392" y="3026664"/>
            <a:ext cx="4736592" cy="2286000"/>
          </a:xfrm>
          <a:prstGeom prst="rect">
            <a:avLst/>
          </a:prstGeom>
          <a:noFill/>
          <a:ln/>
        </p:spPr>
        <p:txBody>
          <a:bodyPr wrap="square" lIns="254" tIns="254" rIns="254" bIns="254" rtlCol="0" anchor="ctr">
            <a:normAutofit/>
          </a:bodyPr>
          <a:lstStyle/>
          <a:p>
            <a:pPr indent="0" marL="0">
              <a:buNone/>
            </a:pPr>
            <a:r>
              <a:rPr lang="en-US" sz="870" dirty="0">
                <a:solidFill>
                  <a:srgbClr val="1F2937"/>
                </a:solidFill>
              </a:rPr>
              <a:t>• Strategic change can slow down without role clarity</a:t>
            </a:r>
            <a:endParaRPr lang="en-US" sz="870" dirty="0"/>
          </a:p>
          <a:p>
            <a:pPr indent="0" marL="0">
              <a:buNone/>
            </a:pPr>
            <a:r>
              <a:rPr lang="en-US" sz="870" dirty="0">
                <a:solidFill>
                  <a:srgbClr val="1F2937"/>
                </a:solidFill>
              </a:rPr>
              <a:t>• Managers become the main translators of uncertainty</a:t>
            </a:r>
            <a:endParaRPr lang="en-US" sz="870" dirty="0"/>
          </a:p>
          <a:p>
            <a:pPr indent="0" marL="0">
              <a:buNone/>
            </a:pPr>
            <a:r>
              <a:rPr lang="en-US" sz="870" dirty="0">
                <a:solidFill>
                  <a:srgbClr val="1F2937"/>
                </a:solidFill>
              </a:rPr>
              <a:t>• Skill gaps can create inconsistent customer experience</a:t>
            </a:r>
            <a:endParaRPr lang="en-US" sz="870" dirty="0"/>
          </a:p>
          <a:p>
            <a:pPr indent="0" marL="0">
              <a:buNone/>
            </a:pPr>
            <a:r>
              <a:rPr lang="en-US" sz="870" dirty="0">
                <a:solidFill>
                  <a:srgbClr val="1F2937"/>
                </a:solidFill>
              </a:rPr>
              <a:t>• Resistance increases when people do not understand the “why”</a:t>
            </a:r>
            <a:endParaRPr lang="en-US" sz="870" dirty="0"/>
          </a:p>
          <a:p>
            <a:pPr indent="0" marL="0">
              <a:buNone/>
            </a:pPr>
            <a:r>
              <a:rPr lang="en-US" sz="870" dirty="0">
                <a:solidFill>
                  <a:srgbClr val="1F2937"/>
                </a:solidFill>
              </a:rPr>
              <a:t>• Adoption must be tracked beyond attendance</a:t>
            </a:r>
            <a:endParaRPr lang="en-US" sz="87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7FB"/>
        </a:solidFill>
      </p:bgPr>
    </p:bg>
    <p:spTree>
      <p:nvGrpSpPr>
        <p:cNvPr id="1" name=""/>
        <p:cNvGrpSpPr/>
        <p:nvPr/>
      </p:nvGrpSpPr>
      <p:grpSpPr>
        <a:xfrm>
          <a:off x="0" y="0"/>
          <a:ext cx="0" cy="0"/>
          <a:chOff x="0" y="0"/>
          <a:chExt cx="0" cy="0"/>
        </a:xfrm>
      </p:grpSpPr>
      <p:sp>
        <p:nvSpPr>
          <p:cNvPr id="2" name="Shape 0"/>
          <p:cNvSpPr/>
          <p:nvPr/>
        </p:nvSpPr>
        <p:spPr>
          <a:xfrm>
            <a:off x="0" y="0"/>
            <a:ext cx="12191695" cy="329184"/>
          </a:xfrm>
          <a:prstGeom prst="rect">
            <a:avLst/>
          </a:prstGeom>
          <a:solidFill>
            <a:srgbClr val="17213F"/>
          </a:solidFill>
          <a:ln w="12700">
            <a:solidFill>
              <a:srgbClr val="17213F"/>
            </a:solidFill>
            <a:prstDash val="solid"/>
          </a:ln>
        </p:spPr>
      </p:sp>
      <p:sp>
        <p:nvSpPr>
          <p:cNvPr id="3" name="Text 1"/>
          <p:cNvSpPr/>
          <p:nvPr/>
        </p:nvSpPr>
        <p:spPr>
          <a:xfrm>
            <a:off x="411480" y="68580"/>
            <a:ext cx="4114800" cy="164592"/>
          </a:xfrm>
          <a:prstGeom prst="rect">
            <a:avLst/>
          </a:prstGeom>
          <a:noFill/>
          <a:ln/>
        </p:spPr>
        <p:txBody>
          <a:bodyPr wrap="square" lIns="0" tIns="0" rIns="0" bIns="0" rtlCol="0" anchor="ctr"/>
          <a:lstStyle/>
          <a:p>
            <a:pPr indent="0" marL="0">
              <a:buNone/>
            </a:pPr>
            <a:r>
              <a:rPr lang="en-US" sz="750" b="1" dirty="0">
                <a:solidFill>
                  <a:srgbClr val="FFFFFF"/>
                </a:solidFill>
                <a:latin typeface="Aptos" pitchFamily="34" charset="0"/>
                <a:ea typeface="Aptos" pitchFamily="34" charset="-122"/>
                <a:cs typeface="Aptos" pitchFamily="34" charset="-120"/>
              </a:rPr>
              <a:t>TRAINING PURPOSE</a:t>
            </a:r>
            <a:endParaRPr lang="en-US" sz="750" dirty="0"/>
          </a:p>
        </p:txBody>
      </p:sp>
      <p:sp>
        <p:nvSpPr>
          <p:cNvPr id="4" name="Text 2"/>
          <p:cNvSpPr/>
          <p:nvPr/>
        </p:nvSpPr>
        <p:spPr>
          <a:xfrm>
            <a:off x="8778240" y="68580"/>
            <a:ext cx="3017520" cy="164592"/>
          </a:xfrm>
          <a:prstGeom prst="rect">
            <a:avLst/>
          </a:prstGeom>
          <a:noFill/>
          <a:ln/>
        </p:spPr>
        <p:txBody>
          <a:bodyPr wrap="square" lIns="0" tIns="0" rIns="0" bIns="0" rtlCol="0" anchor="ctr"/>
          <a:lstStyle/>
          <a:p>
            <a:pPr algn="r" indent="0" marL="0">
              <a:buNone/>
            </a:pPr>
            <a:r>
              <a:rPr lang="en-US" sz="750" dirty="0">
                <a:solidFill>
                  <a:srgbClr val="FFFFFF"/>
                </a:solidFill>
              </a:rPr>
              <a:t>Portfolio Training Deck</a:t>
            </a:r>
            <a:endParaRPr lang="en-US" sz="750" dirty="0"/>
          </a:p>
        </p:txBody>
      </p:sp>
      <p:sp>
        <p:nvSpPr>
          <p:cNvPr id="5" name="Shape 3"/>
          <p:cNvSpPr/>
          <p:nvPr/>
        </p:nvSpPr>
        <p:spPr>
          <a:xfrm>
            <a:off x="411480" y="6510528"/>
            <a:ext cx="11384280" cy="9144"/>
          </a:xfrm>
          <a:prstGeom prst="rect">
            <a:avLst/>
          </a:prstGeom>
          <a:solidFill>
            <a:srgbClr val="E5E7EB"/>
          </a:solidFill>
          <a:ln w="12700">
            <a:solidFill>
              <a:srgbClr val="E5E7EB"/>
            </a:solidFill>
            <a:prstDash val="solid"/>
          </a:ln>
        </p:spPr>
      </p:sp>
      <p:sp>
        <p:nvSpPr>
          <p:cNvPr id="6" name="Text 4"/>
          <p:cNvSpPr/>
          <p:nvPr/>
        </p:nvSpPr>
        <p:spPr>
          <a:xfrm>
            <a:off x="594360" y="566928"/>
            <a:ext cx="10789920" cy="384048"/>
          </a:xfrm>
          <a:prstGeom prst="rect">
            <a:avLst/>
          </a:prstGeom>
          <a:noFill/>
          <a:ln/>
        </p:spPr>
        <p:txBody>
          <a:bodyPr wrap="square" lIns="381" tIns="381" rIns="381" bIns="381" rtlCol="0" anchor="ctr">
            <a:normAutofit/>
          </a:bodyPr>
          <a:lstStyle/>
          <a:p>
            <a:pPr indent="0" marL="0">
              <a:buNone/>
            </a:pPr>
            <a:r>
              <a:rPr lang="en-US" sz="2500" b="1" dirty="0">
                <a:solidFill>
                  <a:srgbClr val="17213F"/>
                </a:solidFill>
                <a:latin typeface="Aptos Display" pitchFamily="34" charset="0"/>
                <a:ea typeface="Aptos Display" pitchFamily="34" charset="-122"/>
                <a:cs typeface="Aptos Display" pitchFamily="34" charset="-120"/>
              </a:rPr>
              <a:t>Training purpose</a:t>
            </a:r>
            <a:endParaRPr lang="en-US" sz="2500" dirty="0"/>
          </a:p>
        </p:txBody>
      </p:sp>
      <p:sp>
        <p:nvSpPr>
          <p:cNvPr id="7" name="Text 5"/>
          <p:cNvSpPr/>
          <p:nvPr/>
        </p:nvSpPr>
        <p:spPr>
          <a:xfrm>
            <a:off x="612648" y="996696"/>
            <a:ext cx="10698480" cy="237744"/>
          </a:xfrm>
          <a:prstGeom prst="rect">
            <a:avLst/>
          </a:prstGeom>
          <a:noFill/>
          <a:ln/>
        </p:spPr>
        <p:txBody>
          <a:bodyPr wrap="square" lIns="0" tIns="0" rIns="0" bIns="0" rtlCol="0" anchor="ctr">
            <a:normAutofit/>
          </a:bodyPr>
          <a:lstStyle/>
          <a:p>
            <a:pPr indent="0" marL="0">
              <a:buNone/>
            </a:pPr>
            <a:r>
              <a:rPr lang="en-US" sz="1120" dirty="0">
                <a:solidFill>
                  <a:srgbClr val="6B7280"/>
                </a:solidFill>
              </a:rPr>
              <a:t>Helping teams move from awareness to adoption</a:t>
            </a:r>
            <a:endParaRPr lang="en-US" sz="1120" dirty="0"/>
          </a:p>
        </p:txBody>
      </p:sp>
      <p:sp>
        <p:nvSpPr>
          <p:cNvPr id="9" name="Shape 6"/>
          <p:cNvSpPr/>
          <p:nvPr/>
        </p:nvSpPr>
        <p:spPr>
          <a:xfrm>
            <a:off x="685800" y="1417320"/>
            <a:ext cx="3291840" cy="1828800"/>
          </a:xfrm>
          <a:prstGeom prst="roundRect">
            <a:avLst>
              <a:gd name="adj" fmla="val 5000"/>
            </a:avLst>
          </a:prstGeom>
          <a:solidFill>
            <a:srgbClr val="FFFFFF"/>
          </a:solidFill>
          <a:ln w="12700">
            <a:solidFill>
              <a:srgbClr val="E5E7EB">
                <a:alpha val="85000"/>
              </a:srgbClr>
            </a:solidFill>
            <a:prstDash val="solid"/>
          </a:ln>
        </p:spPr>
      </p:sp>
      <p:sp>
        <p:nvSpPr>
          <p:cNvPr id="10" name="Text 7"/>
          <p:cNvSpPr/>
          <p:nvPr/>
        </p:nvSpPr>
        <p:spPr>
          <a:xfrm>
            <a:off x="850392" y="1563624"/>
            <a:ext cx="2962656" cy="201168"/>
          </a:xfrm>
          <a:prstGeom prst="rect">
            <a:avLst/>
          </a:prstGeom>
          <a:noFill/>
          <a:ln/>
        </p:spPr>
        <p:txBody>
          <a:bodyPr wrap="square" lIns="0" tIns="0" rIns="0" bIns="0" rtlCol="0" anchor="ctr"/>
          <a:lstStyle/>
          <a:p>
            <a:pPr indent="0" marL="0">
              <a:buNone/>
            </a:pPr>
            <a:r>
              <a:rPr lang="en-US" sz="1030" b="1" dirty="0">
                <a:solidFill>
                  <a:srgbClr val="17213F"/>
                </a:solidFill>
              </a:rPr>
              <a:t>Understand</a:t>
            </a:r>
            <a:endParaRPr lang="en-US" sz="1030" dirty="0"/>
          </a:p>
        </p:txBody>
      </p:sp>
      <p:sp>
        <p:nvSpPr>
          <p:cNvPr id="11" name="Text 8"/>
          <p:cNvSpPr/>
          <p:nvPr/>
        </p:nvSpPr>
        <p:spPr>
          <a:xfrm>
            <a:off x="850392" y="1856232"/>
            <a:ext cx="2962656" cy="126187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Employees understand why the change is happening and what external pressures or opportunities created the need.</a:t>
            </a:r>
            <a:endParaRPr lang="en-US" sz="850" dirty="0"/>
          </a:p>
        </p:txBody>
      </p:sp>
      <p:sp>
        <p:nvSpPr>
          <p:cNvPr id="12" name="Shape 9"/>
          <p:cNvSpPr/>
          <p:nvPr/>
        </p:nvSpPr>
        <p:spPr>
          <a:xfrm>
            <a:off x="4434840" y="1417320"/>
            <a:ext cx="3291840" cy="1828800"/>
          </a:xfrm>
          <a:prstGeom prst="roundRect">
            <a:avLst>
              <a:gd name="adj" fmla="val 5000"/>
            </a:avLst>
          </a:prstGeom>
          <a:solidFill>
            <a:srgbClr val="FFFFFF"/>
          </a:solidFill>
          <a:ln w="12700">
            <a:solidFill>
              <a:srgbClr val="E5E7EB">
                <a:alpha val="85000"/>
              </a:srgbClr>
            </a:solidFill>
            <a:prstDash val="solid"/>
          </a:ln>
        </p:spPr>
      </p:sp>
      <p:sp>
        <p:nvSpPr>
          <p:cNvPr id="13" name="Text 10"/>
          <p:cNvSpPr/>
          <p:nvPr/>
        </p:nvSpPr>
        <p:spPr>
          <a:xfrm>
            <a:off x="4599432" y="1563624"/>
            <a:ext cx="2962656" cy="201168"/>
          </a:xfrm>
          <a:prstGeom prst="rect">
            <a:avLst/>
          </a:prstGeom>
          <a:noFill/>
          <a:ln/>
        </p:spPr>
        <p:txBody>
          <a:bodyPr wrap="square" lIns="0" tIns="0" rIns="0" bIns="0" rtlCol="0" anchor="ctr"/>
          <a:lstStyle/>
          <a:p>
            <a:pPr indent="0" marL="0">
              <a:buNone/>
            </a:pPr>
            <a:r>
              <a:rPr lang="en-US" sz="1030" b="1" dirty="0">
                <a:solidFill>
                  <a:srgbClr val="17213F"/>
                </a:solidFill>
              </a:rPr>
              <a:t>Translate</a:t>
            </a:r>
            <a:endParaRPr lang="en-US" sz="1030" dirty="0"/>
          </a:p>
        </p:txBody>
      </p:sp>
      <p:sp>
        <p:nvSpPr>
          <p:cNvPr id="14" name="Text 11"/>
          <p:cNvSpPr/>
          <p:nvPr/>
        </p:nvSpPr>
        <p:spPr>
          <a:xfrm>
            <a:off x="4599432" y="1856232"/>
            <a:ext cx="2962656" cy="126187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Teams translate the strategic change into role-level impact: what changes in tasks, tools, decisions, and success criteria.</a:t>
            </a:r>
            <a:endParaRPr lang="en-US" sz="850" dirty="0"/>
          </a:p>
        </p:txBody>
      </p:sp>
      <p:sp>
        <p:nvSpPr>
          <p:cNvPr id="15" name="Shape 12"/>
          <p:cNvSpPr/>
          <p:nvPr/>
        </p:nvSpPr>
        <p:spPr>
          <a:xfrm>
            <a:off x="8183880" y="1417320"/>
            <a:ext cx="3291840" cy="1828800"/>
          </a:xfrm>
          <a:prstGeom prst="roundRect">
            <a:avLst>
              <a:gd name="adj" fmla="val 5000"/>
            </a:avLst>
          </a:prstGeom>
          <a:solidFill>
            <a:srgbClr val="FFFFFF"/>
          </a:solidFill>
          <a:ln w="12700">
            <a:solidFill>
              <a:srgbClr val="E5E7EB">
                <a:alpha val="85000"/>
              </a:srgbClr>
            </a:solidFill>
            <a:prstDash val="solid"/>
          </a:ln>
        </p:spPr>
      </p:sp>
      <p:sp>
        <p:nvSpPr>
          <p:cNvPr id="16" name="Text 13"/>
          <p:cNvSpPr/>
          <p:nvPr/>
        </p:nvSpPr>
        <p:spPr>
          <a:xfrm>
            <a:off x="8348472" y="1563624"/>
            <a:ext cx="2962656" cy="201168"/>
          </a:xfrm>
          <a:prstGeom prst="rect">
            <a:avLst/>
          </a:prstGeom>
          <a:noFill/>
          <a:ln/>
        </p:spPr>
        <p:txBody>
          <a:bodyPr wrap="square" lIns="0" tIns="0" rIns="0" bIns="0" rtlCol="0" anchor="ctr"/>
          <a:lstStyle/>
          <a:p>
            <a:pPr indent="0" marL="0">
              <a:buNone/>
            </a:pPr>
            <a:r>
              <a:rPr lang="en-US" sz="1030" b="1" dirty="0">
                <a:solidFill>
                  <a:srgbClr val="17213F"/>
                </a:solidFill>
              </a:rPr>
              <a:t>Adopt</a:t>
            </a:r>
            <a:endParaRPr lang="en-US" sz="1030" dirty="0"/>
          </a:p>
        </p:txBody>
      </p:sp>
      <p:sp>
        <p:nvSpPr>
          <p:cNvPr id="17" name="Text 14"/>
          <p:cNvSpPr/>
          <p:nvPr/>
        </p:nvSpPr>
        <p:spPr>
          <a:xfrm>
            <a:off x="8348472" y="1856232"/>
            <a:ext cx="2962656" cy="126187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Managers and employees build new habits, capabilities, communication routines, and feedback loops.</a:t>
            </a:r>
            <a:endParaRPr lang="en-US" sz="850" dirty="0"/>
          </a:p>
        </p:txBody>
      </p:sp>
      <p:sp>
        <p:nvSpPr>
          <p:cNvPr id="18" name="Shape 15"/>
          <p:cNvSpPr/>
          <p:nvPr/>
        </p:nvSpPr>
        <p:spPr>
          <a:xfrm>
            <a:off x="1280160" y="3703320"/>
            <a:ext cx="9601200" cy="1554480"/>
          </a:xfrm>
          <a:prstGeom prst="roundRect">
            <a:avLst>
              <a:gd name="adj" fmla="val 7059"/>
            </a:avLst>
          </a:prstGeom>
          <a:solidFill>
            <a:srgbClr val="FFFFFF"/>
          </a:solidFill>
          <a:ln w="12700">
            <a:solidFill>
              <a:srgbClr val="E5E7EB"/>
            </a:solidFill>
            <a:prstDash val="solid"/>
          </a:ln>
        </p:spPr>
      </p:sp>
      <p:sp>
        <p:nvSpPr>
          <p:cNvPr id="19" name="Shape 16"/>
          <p:cNvSpPr/>
          <p:nvPr/>
        </p:nvSpPr>
        <p:spPr>
          <a:xfrm>
            <a:off x="1280160" y="3703320"/>
            <a:ext cx="91440" cy="1554480"/>
          </a:xfrm>
          <a:prstGeom prst="rect">
            <a:avLst/>
          </a:prstGeom>
          <a:solidFill>
            <a:srgbClr val="DDF7EC"/>
          </a:solidFill>
          <a:ln w="12700">
            <a:solidFill>
              <a:srgbClr val="DDF7EC"/>
            </a:solidFill>
            <a:prstDash val="solid"/>
          </a:ln>
        </p:spPr>
      </p:sp>
      <p:sp>
        <p:nvSpPr>
          <p:cNvPr id="20" name="Text 17"/>
          <p:cNvSpPr/>
          <p:nvPr/>
        </p:nvSpPr>
        <p:spPr>
          <a:xfrm>
            <a:off x="1508760" y="3867912"/>
            <a:ext cx="9189720" cy="228600"/>
          </a:xfrm>
          <a:prstGeom prst="rect">
            <a:avLst/>
          </a:prstGeom>
          <a:noFill/>
          <a:ln/>
        </p:spPr>
        <p:txBody>
          <a:bodyPr wrap="square" lIns="0" tIns="0" rIns="0" bIns="0" rtlCol="0" anchor="ctr"/>
          <a:lstStyle/>
          <a:p>
            <a:pPr indent="0" marL="0">
              <a:buNone/>
            </a:pPr>
            <a:r>
              <a:rPr lang="en-US" sz="1100" b="1" dirty="0">
                <a:solidFill>
                  <a:srgbClr val="17213F"/>
                </a:solidFill>
              </a:rPr>
              <a:t>Program goal</a:t>
            </a:r>
            <a:endParaRPr lang="en-US" sz="1100" dirty="0"/>
          </a:p>
        </p:txBody>
      </p:sp>
      <p:sp>
        <p:nvSpPr>
          <p:cNvPr id="21" name="Text 18"/>
          <p:cNvSpPr/>
          <p:nvPr/>
        </p:nvSpPr>
        <p:spPr>
          <a:xfrm>
            <a:off x="1536192" y="4215384"/>
            <a:ext cx="9125712" cy="914400"/>
          </a:xfrm>
          <a:prstGeom prst="rect">
            <a:avLst/>
          </a:prstGeom>
          <a:noFill/>
          <a:ln/>
        </p:spPr>
        <p:txBody>
          <a:bodyPr wrap="square" lIns="254" tIns="254" rIns="254" bIns="254" rtlCol="0" anchor="ctr">
            <a:normAutofit/>
          </a:bodyPr>
          <a:lstStyle/>
          <a:p>
            <a:pPr indent="0" marL="0">
              <a:buNone/>
            </a:pPr>
            <a:r>
              <a:rPr lang="en-US" sz="870" dirty="0">
                <a:solidFill>
                  <a:srgbClr val="1F2937"/>
                </a:solidFill>
              </a:rPr>
              <a:t>Design a structured learning and change enablement program that prepares employees and managers to understand, adopt, and sustain a strategic transformation in a global technology organization.</a:t>
            </a:r>
            <a:endParaRPr lang="en-US" sz="87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7FB"/>
        </a:solidFill>
      </p:bgPr>
    </p:bg>
    <p:spTree>
      <p:nvGrpSpPr>
        <p:cNvPr id="1" name=""/>
        <p:cNvGrpSpPr/>
        <p:nvPr/>
      </p:nvGrpSpPr>
      <p:grpSpPr>
        <a:xfrm>
          <a:off x="0" y="0"/>
          <a:ext cx="0" cy="0"/>
          <a:chOff x="0" y="0"/>
          <a:chExt cx="0" cy="0"/>
        </a:xfrm>
      </p:grpSpPr>
      <p:sp>
        <p:nvSpPr>
          <p:cNvPr id="2" name="Shape 0"/>
          <p:cNvSpPr/>
          <p:nvPr/>
        </p:nvSpPr>
        <p:spPr>
          <a:xfrm>
            <a:off x="0" y="0"/>
            <a:ext cx="12191695" cy="329184"/>
          </a:xfrm>
          <a:prstGeom prst="rect">
            <a:avLst/>
          </a:prstGeom>
          <a:solidFill>
            <a:srgbClr val="17213F"/>
          </a:solidFill>
          <a:ln w="12700">
            <a:solidFill>
              <a:srgbClr val="17213F"/>
            </a:solidFill>
            <a:prstDash val="solid"/>
          </a:ln>
        </p:spPr>
      </p:sp>
      <p:sp>
        <p:nvSpPr>
          <p:cNvPr id="3" name="Text 1"/>
          <p:cNvSpPr/>
          <p:nvPr/>
        </p:nvSpPr>
        <p:spPr>
          <a:xfrm>
            <a:off x="411480" y="68580"/>
            <a:ext cx="4114800" cy="164592"/>
          </a:xfrm>
          <a:prstGeom prst="rect">
            <a:avLst/>
          </a:prstGeom>
          <a:noFill/>
          <a:ln/>
        </p:spPr>
        <p:txBody>
          <a:bodyPr wrap="square" lIns="0" tIns="0" rIns="0" bIns="0" rtlCol="0" anchor="ctr"/>
          <a:lstStyle/>
          <a:p>
            <a:pPr indent="0" marL="0">
              <a:buNone/>
            </a:pPr>
            <a:r>
              <a:rPr lang="en-US" sz="750" b="1" dirty="0">
                <a:solidFill>
                  <a:srgbClr val="FFFFFF"/>
                </a:solidFill>
                <a:latin typeface="Aptos" pitchFamily="34" charset="0"/>
                <a:ea typeface="Aptos" pitchFamily="34" charset="-122"/>
                <a:cs typeface="Aptos" pitchFamily="34" charset="-120"/>
              </a:rPr>
              <a:t>AUDIENCE</a:t>
            </a:r>
            <a:endParaRPr lang="en-US" sz="750" dirty="0"/>
          </a:p>
        </p:txBody>
      </p:sp>
      <p:sp>
        <p:nvSpPr>
          <p:cNvPr id="4" name="Text 2"/>
          <p:cNvSpPr/>
          <p:nvPr/>
        </p:nvSpPr>
        <p:spPr>
          <a:xfrm>
            <a:off x="8778240" y="68580"/>
            <a:ext cx="3017520" cy="164592"/>
          </a:xfrm>
          <a:prstGeom prst="rect">
            <a:avLst/>
          </a:prstGeom>
          <a:noFill/>
          <a:ln/>
        </p:spPr>
        <p:txBody>
          <a:bodyPr wrap="square" lIns="0" tIns="0" rIns="0" bIns="0" rtlCol="0" anchor="ctr"/>
          <a:lstStyle/>
          <a:p>
            <a:pPr algn="r" indent="0" marL="0">
              <a:buNone/>
            </a:pPr>
            <a:r>
              <a:rPr lang="en-US" sz="750" dirty="0">
                <a:solidFill>
                  <a:srgbClr val="FFFFFF"/>
                </a:solidFill>
              </a:rPr>
              <a:t>Portfolio Training Deck</a:t>
            </a:r>
            <a:endParaRPr lang="en-US" sz="750" dirty="0"/>
          </a:p>
        </p:txBody>
      </p:sp>
      <p:sp>
        <p:nvSpPr>
          <p:cNvPr id="5" name="Shape 3"/>
          <p:cNvSpPr/>
          <p:nvPr/>
        </p:nvSpPr>
        <p:spPr>
          <a:xfrm>
            <a:off x="411480" y="6510528"/>
            <a:ext cx="11384280" cy="9144"/>
          </a:xfrm>
          <a:prstGeom prst="rect">
            <a:avLst/>
          </a:prstGeom>
          <a:solidFill>
            <a:srgbClr val="E5E7EB"/>
          </a:solidFill>
          <a:ln w="12700">
            <a:solidFill>
              <a:srgbClr val="E5E7EB"/>
            </a:solidFill>
            <a:prstDash val="solid"/>
          </a:ln>
        </p:spPr>
      </p:sp>
      <p:sp>
        <p:nvSpPr>
          <p:cNvPr id="6" name="Text 4"/>
          <p:cNvSpPr/>
          <p:nvPr/>
        </p:nvSpPr>
        <p:spPr>
          <a:xfrm>
            <a:off x="594360" y="566928"/>
            <a:ext cx="10789920" cy="384048"/>
          </a:xfrm>
          <a:prstGeom prst="rect">
            <a:avLst/>
          </a:prstGeom>
          <a:noFill/>
          <a:ln/>
        </p:spPr>
        <p:txBody>
          <a:bodyPr wrap="square" lIns="381" tIns="381" rIns="381" bIns="381" rtlCol="0" anchor="ctr">
            <a:normAutofit/>
          </a:bodyPr>
          <a:lstStyle/>
          <a:p>
            <a:pPr indent="0" marL="0">
              <a:buNone/>
            </a:pPr>
            <a:r>
              <a:rPr lang="en-US" sz="2500" b="1" dirty="0">
                <a:solidFill>
                  <a:srgbClr val="17213F"/>
                </a:solidFill>
                <a:latin typeface="Aptos Display" pitchFamily="34" charset="0"/>
                <a:ea typeface="Aptos Display" pitchFamily="34" charset="-122"/>
                <a:cs typeface="Aptos Display" pitchFamily="34" charset="-120"/>
              </a:rPr>
              <a:t>Target audience</a:t>
            </a:r>
            <a:endParaRPr lang="en-US" sz="2500" dirty="0"/>
          </a:p>
        </p:txBody>
      </p:sp>
      <p:sp>
        <p:nvSpPr>
          <p:cNvPr id="7" name="Text 5"/>
          <p:cNvSpPr/>
          <p:nvPr/>
        </p:nvSpPr>
        <p:spPr>
          <a:xfrm>
            <a:off x="612648" y="996696"/>
            <a:ext cx="10698480" cy="237744"/>
          </a:xfrm>
          <a:prstGeom prst="rect">
            <a:avLst/>
          </a:prstGeom>
          <a:noFill/>
          <a:ln/>
        </p:spPr>
        <p:txBody>
          <a:bodyPr wrap="square" lIns="0" tIns="0" rIns="0" bIns="0" rtlCol="0" anchor="ctr">
            <a:normAutofit/>
          </a:bodyPr>
          <a:lstStyle/>
          <a:p>
            <a:pPr indent="0" marL="0">
              <a:buNone/>
            </a:pPr>
            <a:r>
              <a:rPr lang="en-US" sz="1120" dirty="0">
                <a:solidFill>
                  <a:srgbClr val="6B7280"/>
                </a:solidFill>
              </a:rPr>
              <a:t>Different groups need different enablement</a:t>
            </a:r>
            <a:endParaRPr lang="en-US" sz="1120" dirty="0"/>
          </a:p>
        </p:txBody>
      </p:sp>
      <p:sp>
        <p:nvSpPr>
          <p:cNvPr id="9" name="Shape 6"/>
          <p:cNvSpPr/>
          <p:nvPr/>
        </p:nvSpPr>
        <p:spPr>
          <a:xfrm>
            <a:off x="685800" y="1417320"/>
            <a:ext cx="2606040" cy="1508760"/>
          </a:xfrm>
          <a:prstGeom prst="roundRect">
            <a:avLst>
              <a:gd name="adj" fmla="val 6061"/>
            </a:avLst>
          </a:prstGeom>
          <a:solidFill>
            <a:srgbClr val="FFFFFF"/>
          </a:solidFill>
          <a:ln w="12700">
            <a:solidFill>
              <a:srgbClr val="E5E7EB">
                <a:alpha val="85000"/>
              </a:srgbClr>
            </a:solidFill>
            <a:prstDash val="solid"/>
          </a:ln>
        </p:spPr>
      </p:sp>
      <p:sp>
        <p:nvSpPr>
          <p:cNvPr id="10" name="Text 7"/>
          <p:cNvSpPr/>
          <p:nvPr/>
        </p:nvSpPr>
        <p:spPr>
          <a:xfrm>
            <a:off x="850392" y="1563624"/>
            <a:ext cx="2276856" cy="201168"/>
          </a:xfrm>
          <a:prstGeom prst="rect">
            <a:avLst/>
          </a:prstGeom>
          <a:noFill/>
          <a:ln/>
        </p:spPr>
        <p:txBody>
          <a:bodyPr wrap="square" lIns="0" tIns="0" rIns="0" bIns="0" rtlCol="0" anchor="ctr"/>
          <a:lstStyle/>
          <a:p>
            <a:pPr indent="0" marL="0">
              <a:buNone/>
            </a:pPr>
            <a:r>
              <a:rPr lang="en-US" sz="1030" b="1" dirty="0">
                <a:solidFill>
                  <a:srgbClr val="17213F"/>
                </a:solidFill>
              </a:rPr>
              <a:t>Employees</a:t>
            </a:r>
            <a:endParaRPr lang="en-US" sz="1030" dirty="0"/>
          </a:p>
        </p:txBody>
      </p:sp>
      <p:sp>
        <p:nvSpPr>
          <p:cNvPr id="11" name="Text 8"/>
          <p:cNvSpPr/>
          <p:nvPr/>
        </p:nvSpPr>
        <p:spPr>
          <a:xfrm>
            <a:off x="850392" y="1856232"/>
            <a:ext cx="2276856" cy="94183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Understand the change, what it means for daily work, and what new skills are expected.</a:t>
            </a:r>
            <a:endParaRPr lang="en-US" sz="850" dirty="0"/>
          </a:p>
        </p:txBody>
      </p:sp>
      <p:sp>
        <p:nvSpPr>
          <p:cNvPr id="12" name="Shape 9"/>
          <p:cNvSpPr/>
          <p:nvPr/>
        </p:nvSpPr>
        <p:spPr>
          <a:xfrm>
            <a:off x="3611880" y="1417320"/>
            <a:ext cx="2606040" cy="1508760"/>
          </a:xfrm>
          <a:prstGeom prst="roundRect">
            <a:avLst>
              <a:gd name="adj" fmla="val 6061"/>
            </a:avLst>
          </a:prstGeom>
          <a:solidFill>
            <a:srgbClr val="FFFFFF"/>
          </a:solidFill>
          <a:ln w="12700">
            <a:solidFill>
              <a:srgbClr val="E5E7EB">
                <a:alpha val="85000"/>
              </a:srgbClr>
            </a:solidFill>
            <a:prstDash val="solid"/>
          </a:ln>
        </p:spPr>
      </p:sp>
      <p:sp>
        <p:nvSpPr>
          <p:cNvPr id="13" name="Text 10"/>
          <p:cNvSpPr/>
          <p:nvPr/>
        </p:nvSpPr>
        <p:spPr>
          <a:xfrm>
            <a:off x="3776472" y="1563624"/>
            <a:ext cx="2276856" cy="201168"/>
          </a:xfrm>
          <a:prstGeom prst="rect">
            <a:avLst/>
          </a:prstGeom>
          <a:noFill/>
          <a:ln/>
        </p:spPr>
        <p:txBody>
          <a:bodyPr wrap="square" lIns="0" tIns="0" rIns="0" bIns="0" rtlCol="0" anchor="ctr"/>
          <a:lstStyle/>
          <a:p>
            <a:pPr indent="0" marL="0">
              <a:buNone/>
            </a:pPr>
            <a:r>
              <a:rPr lang="en-US" sz="1030" b="1" dirty="0">
                <a:solidFill>
                  <a:srgbClr val="17213F"/>
                </a:solidFill>
              </a:rPr>
              <a:t>Managers</a:t>
            </a:r>
            <a:endParaRPr lang="en-US" sz="1030" dirty="0"/>
          </a:p>
        </p:txBody>
      </p:sp>
      <p:sp>
        <p:nvSpPr>
          <p:cNvPr id="14" name="Text 11"/>
          <p:cNvSpPr/>
          <p:nvPr/>
        </p:nvSpPr>
        <p:spPr>
          <a:xfrm>
            <a:off x="3776472" y="1856232"/>
            <a:ext cx="2276856" cy="94183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Communicate the change, answer resistance, identify team gaps, and reinforce adoption.</a:t>
            </a:r>
            <a:endParaRPr lang="en-US" sz="850" dirty="0"/>
          </a:p>
        </p:txBody>
      </p:sp>
      <p:sp>
        <p:nvSpPr>
          <p:cNvPr id="15" name="Shape 12"/>
          <p:cNvSpPr/>
          <p:nvPr/>
        </p:nvSpPr>
        <p:spPr>
          <a:xfrm>
            <a:off x="6537960" y="1417320"/>
            <a:ext cx="2606040" cy="1508760"/>
          </a:xfrm>
          <a:prstGeom prst="roundRect">
            <a:avLst>
              <a:gd name="adj" fmla="val 6061"/>
            </a:avLst>
          </a:prstGeom>
          <a:solidFill>
            <a:srgbClr val="FFFFFF"/>
          </a:solidFill>
          <a:ln w="12700">
            <a:solidFill>
              <a:srgbClr val="E5E7EB">
                <a:alpha val="85000"/>
              </a:srgbClr>
            </a:solidFill>
            <a:prstDash val="solid"/>
          </a:ln>
        </p:spPr>
      </p:sp>
      <p:sp>
        <p:nvSpPr>
          <p:cNvPr id="16" name="Text 13"/>
          <p:cNvSpPr/>
          <p:nvPr/>
        </p:nvSpPr>
        <p:spPr>
          <a:xfrm>
            <a:off x="6702552" y="1563624"/>
            <a:ext cx="2276856" cy="201168"/>
          </a:xfrm>
          <a:prstGeom prst="rect">
            <a:avLst/>
          </a:prstGeom>
          <a:noFill/>
          <a:ln/>
        </p:spPr>
        <p:txBody>
          <a:bodyPr wrap="square" lIns="0" tIns="0" rIns="0" bIns="0" rtlCol="0" anchor="ctr"/>
          <a:lstStyle/>
          <a:p>
            <a:pPr indent="0" marL="0">
              <a:buNone/>
            </a:pPr>
            <a:r>
              <a:rPr lang="en-US" sz="1030" b="1" dirty="0">
                <a:solidFill>
                  <a:srgbClr val="17213F"/>
                </a:solidFill>
              </a:rPr>
              <a:t>Customer-facing teams</a:t>
            </a:r>
            <a:endParaRPr lang="en-US" sz="1030" dirty="0"/>
          </a:p>
        </p:txBody>
      </p:sp>
      <p:sp>
        <p:nvSpPr>
          <p:cNvPr id="17" name="Text 14"/>
          <p:cNvSpPr/>
          <p:nvPr/>
        </p:nvSpPr>
        <p:spPr>
          <a:xfrm>
            <a:off x="6702552" y="1856232"/>
            <a:ext cx="2276856" cy="94183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Explain the change to customers and adapt conversations, processes, and support.</a:t>
            </a:r>
            <a:endParaRPr lang="en-US" sz="850" dirty="0"/>
          </a:p>
        </p:txBody>
      </p:sp>
      <p:sp>
        <p:nvSpPr>
          <p:cNvPr id="18" name="Shape 15"/>
          <p:cNvSpPr/>
          <p:nvPr/>
        </p:nvSpPr>
        <p:spPr>
          <a:xfrm>
            <a:off x="9464040" y="1417320"/>
            <a:ext cx="2011680" cy="1508760"/>
          </a:xfrm>
          <a:prstGeom prst="roundRect">
            <a:avLst>
              <a:gd name="adj" fmla="val 6061"/>
            </a:avLst>
          </a:prstGeom>
          <a:solidFill>
            <a:srgbClr val="FFFFFF"/>
          </a:solidFill>
          <a:ln w="12700">
            <a:solidFill>
              <a:srgbClr val="E5E7EB">
                <a:alpha val="85000"/>
              </a:srgbClr>
            </a:solidFill>
            <a:prstDash val="solid"/>
          </a:ln>
        </p:spPr>
      </p:sp>
      <p:sp>
        <p:nvSpPr>
          <p:cNvPr id="19" name="Text 16"/>
          <p:cNvSpPr/>
          <p:nvPr/>
        </p:nvSpPr>
        <p:spPr>
          <a:xfrm>
            <a:off x="9628632" y="1563624"/>
            <a:ext cx="1682496" cy="201168"/>
          </a:xfrm>
          <a:prstGeom prst="rect">
            <a:avLst/>
          </a:prstGeom>
          <a:noFill/>
          <a:ln/>
        </p:spPr>
        <p:txBody>
          <a:bodyPr wrap="square" lIns="0" tIns="0" rIns="0" bIns="0" rtlCol="0" anchor="ctr"/>
          <a:lstStyle/>
          <a:p>
            <a:pPr indent="0" marL="0">
              <a:buNone/>
            </a:pPr>
            <a:r>
              <a:rPr lang="en-US" sz="1030" b="1" dirty="0">
                <a:solidFill>
                  <a:srgbClr val="17213F"/>
                </a:solidFill>
              </a:rPr>
              <a:t>HR / L&amp;D</a:t>
            </a:r>
            <a:endParaRPr lang="en-US" sz="1030" dirty="0"/>
          </a:p>
        </p:txBody>
      </p:sp>
      <p:sp>
        <p:nvSpPr>
          <p:cNvPr id="20" name="Text 17"/>
          <p:cNvSpPr/>
          <p:nvPr/>
        </p:nvSpPr>
        <p:spPr>
          <a:xfrm>
            <a:off x="9628632" y="1856232"/>
            <a:ext cx="1682496" cy="94183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Measure readiness, build learning assets, and improve adoption.</a:t>
            </a:r>
            <a:endParaRPr lang="en-US" sz="850" dirty="0"/>
          </a:p>
        </p:txBody>
      </p:sp>
      <p:sp>
        <p:nvSpPr>
          <p:cNvPr id="21" name="Shape 18"/>
          <p:cNvSpPr/>
          <p:nvPr/>
        </p:nvSpPr>
        <p:spPr>
          <a:xfrm>
            <a:off x="777240" y="3566160"/>
            <a:ext cx="10469880" cy="1508760"/>
          </a:xfrm>
          <a:prstGeom prst="roundRect">
            <a:avLst>
              <a:gd name="adj" fmla="val 7273"/>
            </a:avLst>
          </a:prstGeom>
          <a:solidFill>
            <a:srgbClr val="FFFFFF"/>
          </a:solidFill>
          <a:ln w="12700">
            <a:solidFill>
              <a:srgbClr val="E5E7EB"/>
            </a:solidFill>
            <a:prstDash val="solid"/>
          </a:ln>
        </p:spPr>
      </p:sp>
      <p:sp>
        <p:nvSpPr>
          <p:cNvPr id="22" name="Shape 19"/>
          <p:cNvSpPr/>
          <p:nvPr/>
        </p:nvSpPr>
        <p:spPr>
          <a:xfrm>
            <a:off x="777240" y="3566160"/>
            <a:ext cx="91440" cy="1508760"/>
          </a:xfrm>
          <a:prstGeom prst="rect">
            <a:avLst/>
          </a:prstGeom>
          <a:solidFill>
            <a:srgbClr val="DDEBFF"/>
          </a:solidFill>
          <a:ln w="12700">
            <a:solidFill>
              <a:srgbClr val="DDEBFF"/>
            </a:solidFill>
            <a:prstDash val="solid"/>
          </a:ln>
        </p:spPr>
      </p:sp>
      <p:sp>
        <p:nvSpPr>
          <p:cNvPr id="23" name="Text 20"/>
          <p:cNvSpPr/>
          <p:nvPr/>
        </p:nvSpPr>
        <p:spPr>
          <a:xfrm>
            <a:off x="1005840" y="3730752"/>
            <a:ext cx="10058400" cy="228600"/>
          </a:xfrm>
          <a:prstGeom prst="rect">
            <a:avLst/>
          </a:prstGeom>
          <a:noFill/>
          <a:ln/>
        </p:spPr>
        <p:txBody>
          <a:bodyPr wrap="square" lIns="0" tIns="0" rIns="0" bIns="0" rtlCol="0" anchor="ctr"/>
          <a:lstStyle/>
          <a:p>
            <a:pPr indent="0" marL="0">
              <a:buNone/>
            </a:pPr>
            <a:r>
              <a:rPr lang="en-US" sz="1100" b="1" dirty="0">
                <a:solidFill>
                  <a:srgbClr val="17213F"/>
                </a:solidFill>
              </a:rPr>
              <a:t>Stakeholders involved</a:t>
            </a:r>
            <a:endParaRPr lang="en-US" sz="1100" dirty="0"/>
          </a:p>
        </p:txBody>
      </p:sp>
      <p:sp>
        <p:nvSpPr>
          <p:cNvPr id="24" name="Text 21"/>
          <p:cNvSpPr/>
          <p:nvPr/>
        </p:nvSpPr>
        <p:spPr>
          <a:xfrm>
            <a:off x="1033272" y="4078224"/>
            <a:ext cx="9994392" cy="868680"/>
          </a:xfrm>
          <a:prstGeom prst="rect">
            <a:avLst/>
          </a:prstGeom>
          <a:noFill/>
          <a:ln/>
        </p:spPr>
        <p:txBody>
          <a:bodyPr wrap="square" lIns="254" tIns="254" rIns="254" bIns="254" rtlCol="0" anchor="ctr">
            <a:normAutofit/>
          </a:bodyPr>
          <a:lstStyle/>
          <a:p>
            <a:pPr indent="0" marL="0">
              <a:buNone/>
            </a:pPr>
            <a:r>
              <a:rPr lang="en-US" sz="870" dirty="0">
                <a:solidFill>
                  <a:srgbClr val="1F2937"/>
                </a:solidFill>
              </a:rPr>
              <a:t>• Executive sponsors</a:t>
            </a:r>
            <a:endParaRPr lang="en-US" sz="870" dirty="0"/>
          </a:p>
          <a:p>
            <a:pPr indent="0" marL="0">
              <a:buNone/>
            </a:pPr>
            <a:r>
              <a:rPr lang="en-US" sz="870" dirty="0">
                <a:solidFill>
                  <a:srgbClr val="1F2937"/>
                </a:solidFill>
              </a:rPr>
              <a:t>• Regional leaders</a:t>
            </a:r>
            <a:endParaRPr lang="en-US" sz="870" dirty="0"/>
          </a:p>
          <a:p>
            <a:pPr indent="0" marL="0">
              <a:buNone/>
            </a:pPr>
            <a:r>
              <a:rPr lang="en-US" sz="870" dirty="0">
                <a:solidFill>
                  <a:srgbClr val="1F2937"/>
                </a:solidFill>
              </a:rPr>
              <a:t>• HRBPs</a:t>
            </a:r>
            <a:endParaRPr lang="en-US" sz="870" dirty="0"/>
          </a:p>
          <a:p>
            <a:pPr indent="0" marL="0">
              <a:buNone/>
            </a:pPr>
            <a:r>
              <a:rPr lang="en-US" sz="870" dirty="0">
                <a:solidFill>
                  <a:srgbClr val="1F2937"/>
                </a:solidFill>
              </a:rPr>
              <a:t>• L&amp;D team</a:t>
            </a:r>
            <a:endParaRPr lang="en-US" sz="870" dirty="0"/>
          </a:p>
          <a:p>
            <a:pPr indent="0" marL="0">
              <a:buNone/>
            </a:pPr>
            <a:r>
              <a:rPr lang="en-US" sz="870" dirty="0">
                <a:solidFill>
                  <a:srgbClr val="1F2937"/>
                </a:solidFill>
              </a:rPr>
              <a:t>• Product / Technology leads</a:t>
            </a:r>
            <a:endParaRPr lang="en-US" sz="870" dirty="0"/>
          </a:p>
          <a:p>
            <a:pPr indent="0" marL="0">
              <a:buNone/>
            </a:pPr>
            <a:r>
              <a:rPr lang="en-US" sz="870" dirty="0">
                <a:solidFill>
                  <a:srgbClr val="1F2937"/>
                </a:solidFill>
              </a:rPr>
              <a:t>• Customer success and sales leaders</a:t>
            </a:r>
            <a:endParaRPr lang="en-US" sz="870" dirty="0"/>
          </a:p>
          <a:p>
            <a:pPr indent="0" marL="0">
              <a:buNone/>
            </a:pPr>
            <a:r>
              <a:rPr lang="en-US" sz="870" dirty="0">
                <a:solidFill>
                  <a:srgbClr val="1F2937"/>
                </a:solidFill>
              </a:rPr>
              <a:t>• Internal communications</a:t>
            </a:r>
            <a:endParaRPr lang="en-US" sz="87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7FB"/>
        </a:solidFill>
      </p:bgPr>
    </p:bg>
    <p:spTree>
      <p:nvGrpSpPr>
        <p:cNvPr id="1" name=""/>
        <p:cNvGrpSpPr/>
        <p:nvPr/>
      </p:nvGrpSpPr>
      <p:grpSpPr>
        <a:xfrm>
          <a:off x="0" y="0"/>
          <a:ext cx="0" cy="0"/>
          <a:chOff x="0" y="0"/>
          <a:chExt cx="0" cy="0"/>
        </a:xfrm>
      </p:grpSpPr>
      <p:sp>
        <p:nvSpPr>
          <p:cNvPr id="2" name="Shape 0"/>
          <p:cNvSpPr/>
          <p:nvPr/>
        </p:nvSpPr>
        <p:spPr>
          <a:xfrm>
            <a:off x="0" y="0"/>
            <a:ext cx="12191695" cy="329184"/>
          </a:xfrm>
          <a:prstGeom prst="rect">
            <a:avLst/>
          </a:prstGeom>
          <a:solidFill>
            <a:srgbClr val="17213F"/>
          </a:solidFill>
          <a:ln w="12700">
            <a:solidFill>
              <a:srgbClr val="17213F"/>
            </a:solidFill>
            <a:prstDash val="solid"/>
          </a:ln>
        </p:spPr>
      </p:sp>
      <p:sp>
        <p:nvSpPr>
          <p:cNvPr id="3" name="Text 1"/>
          <p:cNvSpPr/>
          <p:nvPr/>
        </p:nvSpPr>
        <p:spPr>
          <a:xfrm>
            <a:off x="411480" y="68580"/>
            <a:ext cx="4114800" cy="164592"/>
          </a:xfrm>
          <a:prstGeom prst="rect">
            <a:avLst/>
          </a:prstGeom>
          <a:noFill/>
          <a:ln/>
        </p:spPr>
        <p:txBody>
          <a:bodyPr wrap="square" lIns="0" tIns="0" rIns="0" bIns="0" rtlCol="0" anchor="ctr"/>
          <a:lstStyle/>
          <a:p>
            <a:pPr indent="0" marL="0">
              <a:buNone/>
            </a:pPr>
            <a:r>
              <a:rPr lang="en-US" sz="750" b="1" dirty="0">
                <a:solidFill>
                  <a:srgbClr val="FFFFFF"/>
                </a:solidFill>
                <a:latin typeface="Aptos" pitchFamily="34" charset="0"/>
                <a:ea typeface="Aptos" pitchFamily="34" charset="-122"/>
                <a:cs typeface="Aptos" pitchFamily="34" charset="-120"/>
              </a:rPr>
              <a:t>LEARNING OUTCOMES</a:t>
            </a:r>
            <a:endParaRPr lang="en-US" sz="750" dirty="0"/>
          </a:p>
        </p:txBody>
      </p:sp>
      <p:sp>
        <p:nvSpPr>
          <p:cNvPr id="4" name="Text 2"/>
          <p:cNvSpPr/>
          <p:nvPr/>
        </p:nvSpPr>
        <p:spPr>
          <a:xfrm>
            <a:off x="8778240" y="68580"/>
            <a:ext cx="3017520" cy="164592"/>
          </a:xfrm>
          <a:prstGeom prst="rect">
            <a:avLst/>
          </a:prstGeom>
          <a:noFill/>
          <a:ln/>
        </p:spPr>
        <p:txBody>
          <a:bodyPr wrap="square" lIns="0" tIns="0" rIns="0" bIns="0" rtlCol="0" anchor="ctr"/>
          <a:lstStyle/>
          <a:p>
            <a:pPr algn="r" indent="0" marL="0">
              <a:buNone/>
            </a:pPr>
            <a:r>
              <a:rPr lang="en-US" sz="750" dirty="0">
                <a:solidFill>
                  <a:srgbClr val="FFFFFF"/>
                </a:solidFill>
              </a:rPr>
              <a:t>Portfolio Training Deck</a:t>
            </a:r>
            <a:endParaRPr lang="en-US" sz="750" dirty="0"/>
          </a:p>
        </p:txBody>
      </p:sp>
      <p:sp>
        <p:nvSpPr>
          <p:cNvPr id="5" name="Shape 3"/>
          <p:cNvSpPr/>
          <p:nvPr/>
        </p:nvSpPr>
        <p:spPr>
          <a:xfrm>
            <a:off x="411480" y="6510528"/>
            <a:ext cx="11384280" cy="9144"/>
          </a:xfrm>
          <a:prstGeom prst="rect">
            <a:avLst/>
          </a:prstGeom>
          <a:solidFill>
            <a:srgbClr val="E5E7EB"/>
          </a:solidFill>
          <a:ln w="12700">
            <a:solidFill>
              <a:srgbClr val="E5E7EB"/>
            </a:solidFill>
            <a:prstDash val="solid"/>
          </a:ln>
        </p:spPr>
      </p:sp>
      <p:sp>
        <p:nvSpPr>
          <p:cNvPr id="6" name="Text 4"/>
          <p:cNvSpPr/>
          <p:nvPr/>
        </p:nvSpPr>
        <p:spPr>
          <a:xfrm>
            <a:off x="594360" y="566928"/>
            <a:ext cx="10789920" cy="384048"/>
          </a:xfrm>
          <a:prstGeom prst="rect">
            <a:avLst/>
          </a:prstGeom>
          <a:noFill/>
          <a:ln/>
        </p:spPr>
        <p:txBody>
          <a:bodyPr wrap="square" lIns="381" tIns="381" rIns="381" bIns="381" rtlCol="0" anchor="ctr">
            <a:normAutofit/>
          </a:bodyPr>
          <a:lstStyle/>
          <a:p>
            <a:pPr indent="0" marL="0">
              <a:buNone/>
            </a:pPr>
            <a:r>
              <a:rPr lang="en-US" sz="2500" b="1" dirty="0">
                <a:solidFill>
                  <a:srgbClr val="17213F"/>
                </a:solidFill>
                <a:latin typeface="Aptos Display" pitchFamily="34" charset="0"/>
                <a:ea typeface="Aptos Display" pitchFamily="34" charset="-122"/>
                <a:cs typeface="Aptos Display" pitchFamily="34" charset="-120"/>
              </a:rPr>
              <a:t>Learning outcomes</a:t>
            </a:r>
            <a:endParaRPr lang="en-US" sz="2500" dirty="0"/>
          </a:p>
        </p:txBody>
      </p:sp>
      <p:sp>
        <p:nvSpPr>
          <p:cNvPr id="7" name="Text 5"/>
          <p:cNvSpPr/>
          <p:nvPr/>
        </p:nvSpPr>
        <p:spPr>
          <a:xfrm>
            <a:off x="612648" y="996696"/>
            <a:ext cx="10698480" cy="237744"/>
          </a:xfrm>
          <a:prstGeom prst="rect">
            <a:avLst/>
          </a:prstGeom>
          <a:noFill/>
          <a:ln/>
        </p:spPr>
        <p:txBody>
          <a:bodyPr wrap="square" lIns="0" tIns="0" rIns="0" bIns="0" rtlCol="0" anchor="ctr">
            <a:normAutofit/>
          </a:bodyPr>
          <a:lstStyle/>
          <a:p>
            <a:pPr indent="0" marL="0">
              <a:buNone/>
            </a:pPr>
            <a:r>
              <a:rPr lang="en-US" sz="1120" dirty="0">
                <a:solidFill>
                  <a:srgbClr val="6B7280"/>
                </a:solidFill>
              </a:rPr>
              <a:t>What participants should be able to do after the program</a:t>
            </a:r>
            <a:endParaRPr lang="en-US" sz="1120" dirty="0"/>
          </a:p>
        </p:txBody>
      </p:sp>
      <p:sp>
        <p:nvSpPr>
          <p:cNvPr id="9" name="Shape 6"/>
          <p:cNvSpPr/>
          <p:nvPr/>
        </p:nvSpPr>
        <p:spPr>
          <a:xfrm>
            <a:off x="731520" y="1325880"/>
            <a:ext cx="5120640" cy="685800"/>
          </a:xfrm>
          <a:prstGeom prst="roundRect">
            <a:avLst>
              <a:gd name="adj" fmla="val 13333"/>
            </a:avLst>
          </a:prstGeom>
          <a:solidFill>
            <a:srgbClr val="FFFFFF"/>
          </a:solidFill>
          <a:ln w="12700">
            <a:solidFill>
              <a:srgbClr val="E5E7EB">
                <a:alpha val="85000"/>
              </a:srgbClr>
            </a:solidFill>
            <a:prstDash val="solid"/>
          </a:ln>
        </p:spPr>
      </p:sp>
      <p:sp>
        <p:nvSpPr>
          <p:cNvPr id="10" name="Text 7"/>
          <p:cNvSpPr/>
          <p:nvPr/>
        </p:nvSpPr>
        <p:spPr>
          <a:xfrm>
            <a:off x="896112" y="1472184"/>
            <a:ext cx="4791456" cy="201168"/>
          </a:xfrm>
          <a:prstGeom prst="rect">
            <a:avLst/>
          </a:prstGeom>
          <a:noFill/>
          <a:ln/>
        </p:spPr>
        <p:txBody>
          <a:bodyPr wrap="square" lIns="0" tIns="0" rIns="0" bIns="0" rtlCol="0" anchor="ctr"/>
          <a:lstStyle/>
          <a:p>
            <a:pPr indent="0" marL="0">
              <a:buNone/>
            </a:pPr>
            <a:r>
              <a:rPr lang="en-US" sz="1030" b="1" dirty="0">
                <a:solidFill>
                  <a:srgbClr val="17213F"/>
                </a:solidFill>
              </a:rPr>
              <a:t>1. Explain why the strategic change is happening</a:t>
            </a:r>
            <a:endParaRPr lang="en-US" sz="1030" dirty="0"/>
          </a:p>
        </p:txBody>
      </p:sp>
      <p:sp>
        <p:nvSpPr>
          <p:cNvPr id="11" name="Text 8"/>
          <p:cNvSpPr/>
          <p:nvPr/>
        </p:nvSpPr>
        <p:spPr>
          <a:xfrm>
            <a:off x="896112" y="1764792"/>
            <a:ext cx="4791456" cy="118872"/>
          </a:xfrm>
          <a:prstGeom prst="rect">
            <a:avLst/>
          </a:prstGeom>
          <a:noFill/>
          <a:ln/>
        </p:spPr>
        <p:txBody>
          <a:bodyPr wrap="square" lIns="254" tIns="254" rIns="254" bIns="254" rtlCol="0" anchor="t">
            <a:normAutofit/>
          </a:bodyPr>
          <a:lstStyle/>
          <a:p>
            <a:pPr indent="0" marL="0">
              <a:buNone/>
            </a:pPr>
            <a:endParaRPr lang="en-US" sz="850" dirty="0"/>
          </a:p>
        </p:txBody>
      </p:sp>
      <p:sp>
        <p:nvSpPr>
          <p:cNvPr id="12" name="Shape 9"/>
          <p:cNvSpPr/>
          <p:nvPr/>
        </p:nvSpPr>
        <p:spPr>
          <a:xfrm>
            <a:off x="6309360" y="1325880"/>
            <a:ext cx="5120640" cy="685800"/>
          </a:xfrm>
          <a:prstGeom prst="roundRect">
            <a:avLst>
              <a:gd name="adj" fmla="val 13333"/>
            </a:avLst>
          </a:prstGeom>
          <a:solidFill>
            <a:srgbClr val="F1EEFF"/>
          </a:solidFill>
          <a:ln w="12700">
            <a:solidFill>
              <a:srgbClr val="E5E7EB">
                <a:alpha val="85000"/>
              </a:srgbClr>
            </a:solidFill>
            <a:prstDash val="solid"/>
          </a:ln>
        </p:spPr>
      </p:sp>
      <p:sp>
        <p:nvSpPr>
          <p:cNvPr id="13" name="Text 10"/>
          <p:cNvSpPr/>
          <p:nvPr/>
        </p:nvSpPr>
        <p:spPr>
          <a:xfrm>
            <a:off x="6473952" y="1472184"/>
            <a:ext cx="4791456" cy="201168"/>
          </a:xfrm>
          <a:prstGeom prst="rect">
            <a:avLst/>
          </a:prstGeom>
          <a:noFill/>
          <a:ln/>
        </p:spPr>
        <p:txBody>
          <a:bodyPr wrap="square" lIns="0" tIns="0" rIns="0" bIns="0" rtlCol="0" anchor="ctr"/>
          <a:lstStyle/>
          <a:p>
            <a:pPr indent="0" marL="0">
              <a:buNone/>
            </a:pPr>
            <a:r>
              <a:rPr lang="en-US" sz="1030" b="1" dirty="0">
                <a:solidFill>
                  <a:srgbClr val="17213F"/>
                </a:solidFill>
              </a:rPr>
              <a:t>2. Describe what changes in their role or team workflow</a:t>
            </a:r>
            <a:endParaRPr lang="en-US" sz="1030" dirty="0"/>
          </a:p>
        </p:txBody>
      </p:sp>
      <p:sp>
        <p:nvSpPr>
          <p:cNvPr id="14" name="Text 11"/>
          <p:cNvSpPr/>
          <p:nvPr/>
        </p:nvSpPr>
        <p:spPr>
          <a:xfrm>
            <a:off x="6473952" y="1764792"/>
            <a:ext cx="4791456" cy="118872"/>
          </a:xfrm>
          <a:prstGeom prst="rect">
            <a:avLst/>
          </a:prstGeom>
          <a:noFill/>
          <a:ln/>
        </p:spPr>
        <p:txBody>
          <a:bodyPr wrap="square" lIns="254" tIns="254" rIns="254" bIns="254" rtlCol="0" anchor="t">
            <a:normAutofit/>
          </a:bodyPr>
          <a:lstStyle/>
          <a:p>
            <a:pPr indent="0" marL="0">
              <a:buNone/>
            </a:pPr>
            <a:endParaRPr lang="en-US" sz="850" dirty="0"/>
          </a:p>
        </p:txBody>
      </p:sp>
      <p:sp>
        <p:nvSpPr>
          <p:cNvPr id="15" name="Shape 12"/>
          <p:cNvSpPr/>
          <p:nvPr/>
        </p:nvSpPr>
        <p:spPr>
          <a:xfrm>
            <a:off x="731520" y="2286000"/>
            <a:ext cx="5120640" cy="685800"/>
          </a:xfrm>
          <a:prstGeom prst="roundRect">
            <a:avLst>
              <a:gd name="adj" fmla="val 13333"/>
            </a:avLst>
          </a:prstGeom>
          <a:solidFill>
            <a:srgbClr val="FFFFFF"/>
          </a:solidFill>
          <a:ln w="12700">
            <a:solidFill>
              <a:srgbClr val="E5E7EB">
                <a:alpha val="85000"/>
              </a:srgbClr>
            </a:solidFill>
            <a:prstDash val="solid"/>
          </a:ln>
        </p:spPr>
      </p:sp>
      <p:sp>
        <p:nvSpPr>
          <p:cNvPr id="16" name="Text 13"/>
          <p:cNvSpPr/>
          <p:nvPr/>
        </p:nvSpPr>
        <p:spPr>
          <a:xfrm>
            <a:off x="896112" y="2432304"/>
            <a:ext cx="4791456" cy="201168"/>
          </a:xfrm>
          <a:prstGeom prst="rect">
            <a:avLst/>
          </a:prstGeom>
          <a:noFill/>
          <a:ln/>
        </p:spPr>
        <p:txBody>
          <a:bodyPr wrap="square" lIns="0" tIns="0" rIns="0" bIns="0" rtlCol="0" anchor="ctr"/>
          <a:lstStyle/>
          <a:p>
            <a:pPr indent="0" marL="0">
              <a:buNone/>
            </a:pPr>
            <a:r>
              <a:rPr lang="en-US" sz="1030" b="1" dirty="0">
                <a:solidFill>
                  <a:srgbClr val="17213F"/>
                </a:solidFill>
              </a:rPr>
              <a:t>3. Identify new capabilities required for success</a:t>
            </a:r>
            <a:endParaRPr lang="en-US" sz="1030" dirty="0"/>
          </a:p>
        </p:txBody>
      </p:sp>
      <p:sp>
        <p:nvSpPr>
          <p:cNvPr id="17" name="Text 14"/>
          <p:cNvSpPr/>
          <p:nvPr/>
        </p:nvSpPr>
        <p:spPr>
          <a:xfrm>
            <a:off x="896112" y="2724912"/>
            <a:ext cx="4791456" cy="118872"/>
          </a:xfrm>
          <a:prstGeom prst="rect">
            <a:avLst/>
          </a:prstGeom>
          <a:noFill/>
          <a:ln/>
        </p:spPr>
        <p:txBody>
          <a:bodyPr wrap="square" lIns="254" tIns="254" rIns="254" bIns="254" rtlCol="0" anchor="t">
            <a:normAutofit/>
          </a:bodyPr>
          <a:lstStyle/>
          <a:p>
            <a:pPr indent="0" marL="0">
              <a:buNone/>
            </a:pPr>
            <a:endParaRPr lang="en-US" sz="850" dirty="0"/>
          </a:p>
        </p:txBody>
      </p:sp>
      <p:sp>
        <p:nvSpPr>
          <p:cNvPr id="18" name="Shape 15"/>
          <p:cNvSpPr/>
          <p:nvPr/>
        </p:nvSpPr>
        <p:spPr>
          <a:xfrm>
            <a:off x="6309360" y="2286000"/>
            <a:ext cx="5120640" cy="685800"/>
          </a:xfrm>
          <a:prstGeom prst="roundRect">
            <a:avLst>
              <a:gd name="adj" fmla="val 13333"/>
            </a:avLst>
          </a:prstGeom>
          <a:solidFill>
            <a:srgbClr val="F1EEFF"/>
          </a:solidFill>
          <a:ln w="12700">
            <a:solidFill>
              <a:srgbClr val="E5E7EB">
                <a:alpha val="85000"/>
              </a:srgbClr>
            </a:solidFill>
            <a:prstDash val="solid"/>
          </a:ln>
        </p:spPr>
      </p:sp>
      <p:sp>
        <p:nvSpPr>
          <p:cNvPr id="19" name="Text 16"/>
          <p:cNvSpPr/>
          <p:nvPr/>
        </p:nvSpPr>
        <p:spPr>
          <a:xfrm>
            <a:off x="6473952" y="2432304"/>
            <a:ext cx="4791456" cy="201168"/>
          </a:xfrm>
          <a:prstGeom prst="rect">
            <a:avLst/>
          </a:prstGeom>
          <a:noFill/>
          <a:ln/>
        </p:spPr>
        <p:txBody>
          <a:bodyPr wrap="square" lIns="0" tIns="0" rIns="0" bIns="0" rtlCol="0" anchor="ctr"/>
          <a:lstStyle/>
          <a:p>
            <a:pPr indent="0" marL="0">
              <a:buNone/>
            </a:pPr>
            <a:r>
              <a:rPr lang="en-US" sz="1030" b="1" dirty="0">
                <a:solidFill>
                  <a:srgbClr val="17213F"/>
                </a:solidFill>
              </a:rPr>
              <a:t>4. Use a role impact map to clarify priorities</a:t>
            </a:r>
            <a:endParaRPr lang="en-US" sz="1030" dirty="0"/>
          </a:p>
        </p:txBody>
      </p:sp>
      <p:sp>
        <p:nvSpPr>
          <p:cNvPr id="20" name="Text 17"/>
          <p:cNvSpPr/>
          <p:nvPr/>
        </p:nvSpPr>
        <p:spPr>
          <a:xfrm>
            <a:off x="6473952" y="2724912"/>
            <a:ext cx="4791456" cy="118872"/>
          </a:xfrm>
          <a:prstGeom prst="rect">
            <a:avLst/>
          </a:prstGeom>
          <a:noFill/>
          <a:ln/>
        </p:spPr>
        <p:txBody>
          <a:bodyPr wrap="square" lIns="254" tIns="254" rIns="254" bIns="254" rtlCol="0" anchor="t">
            <a:normAutofit/>
          </a:bodyPr>
          <a:lstStyle/>
          <a:p>
            <a:pPr indent="0" marL="0">
              <a:buNone/>
            </a:pPr>
            <a:endParaRPr lang="en-US" sz="850" dirty="0"/>
          </a:p>
        </p:txBody>
      </p:sp>
      <p:sp>
        <p:nvSpPr>
          <p:cNvPr id="21" name="Shape 18"/>
          <p:cNvSpPr/>
          <p:nvPr/>
        </p:nvSpPr>
        <p:spPr>
          <a:xfrm>
            <a:off x="731520" y="3246120"/>
            <a:ext cx="5120640" cy="685800"/>
          </a:xfrm>
          <a:prstGeom prst="roundRect">
            <a:avLst>
              <a:gd name="adj" fmla="val 13333"/>
            </a:avLst>
          </a:prstGeom>
          <a:solidFill>
            <a:srgbClr val="FFFFFF"/>
          </a:solidFill>
          <a:ln w="12700">
            <a:solidFill>
              <a:srgbClr val="E5E7EB">
                <a:alpha val="85000"/>
              </a:srgbClr>
            </a:solidFill>
            <a:prstDash val="solid"/>
          </a:ln>
        </p:spPr>
      </p:sp>
      <p:sp>
        <p:nvSpPr>
          <p:cNvPr id="22" name="Text 19"/>
          <p:cNvSpPr/>
          <p:nvPr/>
        </p:nvSpPr>
        <p:spPr>
          <a:xfrm>
            <a:off x="896112" y="3392424"/>
            <a:ext cx="4791456" cy="201168"/>
          </a:xfrm>
          <a:prstGeom prst="rect">
            <a:avLst/>
          </a:prstGeom>
          <a:noFill/>
          <a:ln/>
        </p:spPr>
        <p:txBody>
          <a:bodyPr wrap="square" lIns="0" tIns="0" rIns="0" bIns="0" rtlCol="0" anchor="ctr"/>
          <a:lstStyle/>
          <a:p>
            <a:pPr indent="0" marL="0">
              <a:buNone/>
            </a:pPr>
            <a:r>
              <a:rPr lang="en-US" sz="1030" b="1" dirty="0">
                <a:solidFill>
                  <a:srgbClr val="17213F"/>
                </a:solidFill>
              </a:rPr>
              <a:t>5. Communicate the change clearly to team members or customers</a:t>
            </a:r>
            <a:endParaRPr lang="en-US" sz="1030" dirty="0"/>
          </a:p>
        </p:txBody>
      </p:sp>
      <p:sp>
        <p:nvSpPr>
          <p:cNvPr id="23" name="Text 20"/>
          <p:cNvSpPr/>
          <p:nvPr/>
        </p:nvSpPr>
        <p:spPr>
          <a:xfrm>
            <a:off x="896112" y="3685032"/>
            <a:ext cx="4791456" cy="118872"/>
          </a:xfrm>
          <a:prstGeom prst="rect">
            <a:avLst/>
          </a:prstGeom>
          <a:noFill/>
          <a:ln/>
        </p:spPr>
        <p:txBody>
          <a:bodyPr wrap="square" lIns="254" tIns="254" rIns="254" bIns="254" rtlCol="0" anchor="t">
            <a:normAutofit/>
          </a:bodyPr>
          <a:lstStyle/>
          <a:p>
            <a:pPr indent="0" marL="0">
              <a:buNone/>
            </a:pPr>
            <a:endParaRPr lang="en-US" sz="850" dirty="0"/>
          </a:p>
        </p:txBody>
      </p:sp>
      <p:sp>
        <p:nvSpPr>
          <p:cNvPr id="24" name="Shape 21"/>
          <p:cNvSpPr/>
          <p:nvPr/>
        </p:nvSpPr>
        <p:spPr>
          <a:xfrm>
            <a:off x="6309360" y="3246120"/>
            <a:ext cx="5120640" cy="685800"/>
          </a:xfrm>
          <a:prstGeom prst="roundRect">
            <a:avLst>
              <a:gd name="adj" fmla="val 13333"/>
            </a:avLst>
          </a:prstGeom>
          <a:solidFill>
            <a:srgbClr val="F1EEFF"/>
          </a:solidFill>
          <a:ln w="12700">
            <a:solidFill>
              <a:srgbClr val="E5E7EB">
                <a:alpha val="85000"/>
              </a:srgbClr>
            </a:solidFill>
            <a:prstDash val="solid"/>
          </a:ln>
        </p:spPr>
      </p:sp>
      <p:sp>
        <p:nvSpPr>
          <p:cNvPr id="25" name="Text 22"/>
          <p:cNvSpPr/>
          <p:nvPr/>
        </p:nvSpPr>
        <p:spPr>
          <a:xfrm>
            <a:off x="6473952" y="3392424"/>
            <a:ext cx="4791456" cy="201168"/>
          </a:xfrm>
          <a:prstGeom prst="rect">
            <a:avLst/>
          </a:prstGeom>
          <a:noFill/>
          <a:ln/>
        </p:spPr>
        <p:txBody>
          <a:bodyPr wrap="square" lIns="0" tIns="0" rIns="0" bIns="0" rtlCol="0" anchor="ctr"/>
          <a:lstStyle/>
          <a:p>
            <a:pPr indent="0" marL="0">
              <a:buNone/>
            </a:pPr>
            <a:r>
              <a:rPr lang="en-US" sz="1030" b="1" dirty="0">
                <a:solidFill>
                  <a:srgbClr val="17213F"/>
                </a:solidFill>
              </a:rPr>
              <a:t>6. Recognize common resistance patterns</a:t>
            </a:r>
            <a:endParaRPr lang="en-US" sz="1030" dirty="0"/>
          </a:p>
        </p:txBody>
      </p:sp>
      <p:sp>
        <p:nvSpPr>
          <p:cNvPr id="26" name="Text 23"/>
          <p:cNvSpPr/>
          <p:nvPr/>
        </p:nvSpPr>
        <p:spPr>
          <a:xfrm>
            <a:off x="6473952" y="3685032"/>
            <a:ext cx="4791456" cy="118872"/>
          </a:xfrm>
          <a:prstGeom prst="rect">
            <a:avLst/>
          </a:prstGeom>
          <a:noFill/>
          <a:ln/>
        </p:spPr>
        <p:txBody>
          <a:bodyPr wrap="square" lIns="254" tIns="254" rIns="254" bIns="254" rtlCol="0" anchor="t">
            <a:normAutofit/>
          </a:bodyPr>
          <a:lstStyle/>
          <a:p>
            <a:pPr indent="0" marL="0">
              <a:buNone/>
            </a:pPr>
            <a:endParaRPr lang="en-US" sz="850" dirty="0"/>
          </a:p>
        </p:txBody>
      </p:sp>
      <p:sp>
        <p:nvSpPr>
          <p:cNvPr id="27" name="Shape 24"/>
          <p:cNvSpPr/>
          <p:nvPr/>
        </p:nvSpPr>
        <p:spPr>
          <a:xfrm>
            <a:off x="731520" y="4206240"/>
            <a:ext cx="5120640" cy="685800"/>
          </a:xfrm>
          <a:prstGeom prst="roundRect">
            <a:avLst>
              <a:gd name="adj" fmla="val 13333"/>
            </a:avLst>
          </a:prstGeom>
          <a:solidFill>
            <a:srgbClr val="FFFFFF"/>
          </a:solidFill>
          <a:ln w="12700">
            <a:solidFill>
              <a:srgbClr val="E5E7EB">
                <a:alpha val="85000"/>
              </a:srgbClr>
            </a:solidFill>
            <a:prstDash val="solid"/>
          </a:ln>
        </p:spPr>
      </p:sp>
      <p:sp>
        <p:nvSpPr>
          <p:cNvPr id="28" name="Text 25"/>
          <p:cNvSpPr/>
          <p:nvPr/>
        </p:nvSpPr>
        <p:spPr>
          <a:xfrm>
            <a:off x="896112" y="4352544"/>
            <a:ext cx="4791456" cy="201168"/>
          </a:xfrm>
          <a:prstGeom prst="rect">
            <a:avLst/>
          </a:prstGeom>
          <a:noFill/>
          <a:ln/>
        </p:spPr>
        <p:txBody>
          <a:bodyPr wrap="square" lIns="0" tIns="0" rIns="0" bIns="0" rtlCol="0" anchor="ctr"/>
          <a:lstStyle/>
          <a:p>
            <a:pPr indent="0" marL="0">
              <a:buNone/>
            </a:pPr>
            <a:r>
              <a:rPr lang="en-US" sz="1030" b="1" dirty="0">
                <a:solidFill>
                  <a:srgbClr val="17213F"/>
                </a:solidFill>
              </a:rPr>
              <a:t>7. Use feedback and metrics to support adoption</a:t>
            </a:r>
            <a:endParaRPr lang="en-US" sz="1030" dirty="0"/>
          </a:p>
        </p:txBody>
      </p:sp>
      <p:sp>
        <p:nvSpPr>
          <p:cNvPr id="29" name="Text 26"/>
          <p:cNvSpPr/>
          <p:nvPr/>
        </p:nvSpPr>
        <p:spPr>
          <a:xfrm>
            <a:off x="896112" y="4645152"/>
            <a:ext cx="4791456" cy="118872"/>
          </a:xfrm>
          <a:prstGeom prst="rect">
            <a:avLst/>
          </a:prstGeom>
          <a:noFill/>
          <a:ln/>
        </p:spPr>
        <p:txBody>
          <a:bodyPr wrap="square" lIns="254" tIns="254" rIns="254" bIns="254" rtlCol="0" anchor="t">
            <a:normAutofit/>
          </a:bodyPr>
          <a:lstStyle/>
          <a:p>
            <a:pPr indent="0" marL="0">
              <a:buNone/>
            </a:pPr>
            <a:endParaRPr lang="en-US" sz="850" dirty="0"/>
          </a:p>
        </p:txBody>
      </p:sp>
      <p:sp>
        <p:nvSpPr>
          <p:cNvPr id="30" name="Shape 27"/>
          <p:cNvSpPr/>
          <p:nvPr/>
        </p:nvSpPr>
        <p:spPr>
          <a:xfrm>
            <a:off x="6309360" y="4206240"/>
            <a:ext cx="5120640" cy="685800"/>
          </a:xfrm>
          <a:prstGeom prst="roundRect">
            <a:avLst>
              <a:gd name="adj" fmla="val 13333"/>
            </a:avLst>
          </a:prstGeom>
          <a:solidFill>
            <a:srgbClr val="F1EEFF"/>
          </a:solidFill>
          <a:ln w="12700">
            <a:solidFill>
              <a:srgbClr val="E5E7EB">
                <a:alpha val="85000"/>
              </a:srgbClr>
            </a:solidFill>
            <a:prstDash val="solid"/>
          </a:ln>
        </p:spPr>
      </p:sp>
      <p:sp>
        <p:nvSpPr>
          <p:cNvPr id="31" name="Text 28"/>
          <p:cNvSpPr/>
          <p:nvPr/>
        </p:nvSpPr>
        <p:spPr>
          <a:xfrm>
            <a:off x="6473952" y="4352544"/>
            <a:ext cx="4791456" cy="201168"/>
          </a:xfrm>
          <a:prstGeom prst="rect">
            <a:avLst/>
          </a:prstGeom>
          <a:noFill/>
          <a:ln/>
        </p:spPr>
        <p:txBody>
          <a:bodyPr wrap="square" lIns="0" tIns="0" rIns="0" bIns="0" rtlCol="0" anchor="ctr"/>
          <a:lstStyle/>
          <a:p>
            <a:pPr indent="0" marL="0">
              <a:buNone/>
            </a:pPr>
            <a:r>
              <a:rPr lang="en-US" sz="1030" b="1" dirty="0">
                <a:solidFill>
                  <a:srgbClr val="17213F"/>
                </a:solidFill>
              </a:rPr>
              <a:t>8. Define one team-level action plan for sustaining the change</a:t>
            </a:r>
            <a:endParaRPr lang="en-US" sz="1030" dirty="0"/>
          </a:p>
        </p:txBody>
      </p:sp>
      <p:sp>
        <p:nvSpPr>
          <p:cNvPr id="32" name="Text 29"/>
          <p:cNvSpPr/>
          <p:nvPr/>
        </p:nvSpPr>
        <p:spPr>
          <a:xfrm>
            <a:off x="6473952" y="4645152"/>
            <a:ext cx="4791456" cy="118872"/>
          </a:xfrm>
          <a:prstGeom prst="rect">
            <a:avLst/>
          </a:prstGeom>
          <a:noFill/>
          <a:ln/>
        </p:spPr>
        <p:txBody>
          <a:bodyPr wrap="square" lIns="254" tIns="254" rIns="254" bIns="254" rtlCol="0" anchor="t">
            <a:normAutofit/>
          </a:bodyPr>
          <a:lstStyle/>
          <a:p>
            <a:pPr indent="0" marL="0">
              <a:buNone/>
            </a:pP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7FB"/>
        </a:solidFill>
      </p:bgPr>
    </p:bg>
    <p:spTree>
      <p:nvGrpSpPr>
        <p:cNvPr id="1" name=""/>
        <p:cNvGrpSpPr/>
        <p:nvPr/>
      </p:nvGrpSpPr>
      <p:grpSpPr>
        <a:xfrm>
          <a:off x="0" y="0"/>
          <a:ext cx="0" cy="0"/>
          <a:chOff x="0" y="0"/>
          <a:chExt cx="0" cy="0"/>
        </a:xfrm>
      </p:grpSpPr>
      <p:sp>
        <p:nvSpPr>
          <p:cNvPr id="2" name="Shape 0"/>
          <p:cNvSpPr/>
          <p:nvPr/>
        </p:nvSpPr>
        <p:spPr>
          <a:xfrm>
            <a:off x="0" y="0"/>
            <a:ext cx="12191695" cy="329184"/>
          </a:xfrm>
          <a:prstGeom prst="rect">
            <a:avLst/>
          </a:prstGeom>
          <a:solidFill>
            <a:srgbClr val="17213F"/>
          </a:solidFill>
          <a:ln w="12700">
            <a:solidFill>
              <a:srgbClr val="17213F"/>
            </a:solidFill>
            <a:prstDash val="solid"/>
          </a:ln>
        </p:spPr>
      </p:sp>
      <p:sp>
        <p:nvSpPr>
          <p:cNvPr id="3" name="Text 1"/>
          <p:cNvSpPr/>
          <p:nvPr/>
        </p:nvSpPr>
        <p:spPr>
          <a:xfrm>
            <a:off x="411480" y="68580"/>
            <a:ext cx="4114800" cy="164592"/>
          </a:xfrm>
          <a:prstGeom prst="rect">
            <a:avLst/>
          </a:prstGeom>
          <a:noFill/>
          <a:ln/>
        </p:spPr>
        <p:txBody>
          <a:bodyPr wrap="square" lIns="0" tIns="0" rIns="0" bIns="0" rtlCol="0" anchor="ctr"/>
          <a:lstStyle/>
          <a:p>
            <a:pPr indent="0" marL="0">
              <a:buNone/>
            </a:pPr>
            <a:r>
              <a:rPr lang="en-US" sz="750" b="1" dirty="0">
                <a:solidFill>
                  <a:srgbClr val="FFFFFF"/>
                </a:solidFill>
                <a:latin typeface="Aptos" pitchFamily="34" charset="0"/>
                <a:ea typeface="Aptos" pitchFamily="34" charset="-122"/>
                <a:cs typeface="Aptos" pitchFamily="34" charset="-120"/>
              </a:rPr>
              <a:t>PROGRAM STRUCTURE</a:t>
            </a:r>
            <a:endParaRPr lang="en-US" sz="750" dirty="0"/>
          </a:p>
        </p:txBody>
      </p:sp>
      <p:sp>
        <p:nvSpPr>
          <p:cNvPr id="4" name="Text 2"/>
          <p:cNvSpPr/>
          <p:nvPr/>
        </p:nvSpPr>
        <p:spPr>
          <a:xfrm>
            <a:off x="8778240" y="68580"/>
            <a:ext cx="3017520" cy="164592"/>
          </a:xfrm>
          <a:prstGeom prst="rect">
            <a:avLst/>
          </a:prstGeom>
          <a:noFill/>
          <a:ln/>
        </p:spPr>
        <p:txBody>
          <a:bodyPr wrap="square" lIns="0" tIns="0" rIns="0" bIns="0" rtlCol="0" anchor="ctr"/>
          <a:lstStyle/>
          <a:p>
            <a:pPr algn="r" indent="0" marL="0">
              <a:buNone/>
            </a:pPr>
            <a:r>
              <a:rPr lang="en-US" sz="750" dirty="0">
                <a:solidFill>
                  <a:srgbClr val="FFFFFF"/>
                </a:solidFill>
              </a:rPr>
              <a:t>Portfolio Training Deck</a:t>
            </a:r>
            <a:endParaRPr lang="en-US" sz="750" dirty="0"/>
          </a:p>
        </p:txBody>
      </p:sp>
      <p:sp>
        <p:nvSpPr>
          <p:cNvPr id="5" name="Shape 3"/>
          <p:cNvSpPr/>
          <p:nvPr/>
        </p:nvSpPr>
        <p:spPr>
          <a:xfrm>
            <a:off x="411480" y="6510528"/>
            <a:ext cx="11384280" cy="9144"/>
          </a:xfrm>
          <a:prstGeom prst="rect">
            <a:avLst/>
          </a:prstGeom>
          <a:solidFill>
            <a:srgbClr val="E5E7EB"/>
          </a:solidFill>
          <a:ln w="12700">
            <a:solidFill>
              <a:srgbClr val="E5E7EB"/>
            </a:solidFill>
            <a:prstDash val="solid"/>
          </a:ln>
        </p:spPr>
      </p:sp>
      <p:sp>
        <p:nvSpPr>
          <p:cNvPr id="6" name="Text 4"/>
          <p:cNvSpPr/>
          <p:nvPr/>
        </p:nvSpPr>
        <p:spPr>
          <a:xfrm>
            <a:off x="594360" y="566928"/>
            <a:ext cx="10789920" cy="384048"/>
          </a:xfrm>
          <a:prstGeom prst="rect">
            <a:avLst/>
          </a:prstGeom>
          <a:noFill/>
          <a:ln/>
        </p:spPr>
        <p:txBody>
          <a:bodyPr wrap="square" lIns="381" tIns="381" rIns="381" bIns="381" rtlCol="0" anchor="ctr">
            <a:normAutofit/>
          </a:bodyPr>
          <a:lstStyle/>
          <a:p>
            <a:pPr indent="0" marL="0">
              <a:buNone/>
            </a:pPr>
            <a:r>
              <a:rPr lang="en-US" sz="2500" b="1" dirty="0">
                <a:solidFill>
                  <a:srgbClr val="17213F"/>
                </a:solidFill>
                <a:latin typeface="Aptos Display" pitchFamily="34" charset="0"/>
                <a:ea typeface="Aptos Display" pitchFamily="34" charset="-122"/>
                <a:cs typeface="Aptos Display" pitchFamily="34" charset="-120"/>
              </a:rPr>
              <a:t>5-week learning journey</a:t>
            </a:r>
            <a:endParaRPr lang="en-US" sz="2500" dirty="0"/>
          </a:p>
        </p:txBody>
      </p:sp>
      <p:sp>
        <p:nvSpPr>
          <p:cNvPr id="7" name="Text 5"/>
          <p:cNvSpPr/>
          <p:nvPr/>
        </p:nvSpPr>
        <p:spPr>
          <a:xfrm>
            <a:off x="612648" y="996696"/>
            <a:ext cx="10698480" cy="237744"/>
          </a:xfrm>
          <a:prstGeom prst="rect">
            <a:avLst/>
          </a:prstGeom>
          <a:noFill/>
          <a:ln/>
        </p:spPr>
        <p:txBody>
          <a:bodyPr wrap="square" lIns="0" tIns="0" rIns="0" bIns="0" rtlCol="0" anchor="ctr">
            <a:normAutofit/>
          </a:bodyPr>
          <a:lstStyle/>
          <a:p>
            <a:pPr indent="0" marL="0">
              <a:buNone/>
            </a:pPr>
            <a:r>
              <a:rPr lang="en-US" sz="1120" dirty="0">
                <a:solidFill>
                  <a:srgbClr val="6B7280"/>
                </a:solidFill>
              </a:rPr>
              <a:t>A structured path from understanding to adoption</a:t>
            </a:r>
            <a:endParaRPr lang="en-US" sz="1120" dirty="0"/>
          </a:p>
        </p:txBody>
      </p:sp>
      <p:sp>
        <p:nvSpPr>
          <p:cNvPr id="9" name="Shape 6"/>
          <p:cNvSpPr/>
          <p:nvPr/>
        </p:nvSpPr>
        <p:spPr>
          <a:xfrm>
            <a:off x="685800" y="1874520"/>
            <a:ext cx="384048" cy="384048"/>
          </a:xfrm>
          <a:prstGeom prst="ellipse">
            <a:avLst/>
          </a:prstGeom>
          <a:solidFill>
            <a:srgbClr val="DDEBFF"/>
          </a:solidFill>
          <a:ln w="12700">
            <a:solidFill>
              <a:srgbClr val="DDEBFF"/>
            </a:solidFill>
            <a:prstDash val="solid"/>
          </a:ln>
        </p:spPr>
      </p:sp>
      <p:sp>
        <p:nvSpPr>
          <p:cNvPr id="10" name="Text 7"/>
          <p:cNvSpPr/>
          <p:nvPr/>
        </p:nvSpPr>
        <p:spPr>
          <a:xfrm>
            <a:off x="685800" y="1975104"/>
            <a:ext cx="384048" cy="109728"/>
          </a:xfrm>
          <a:prstGeom prst="rect">
            <a:avLst/>
          </a:prstGeom>
          <a:noFill/>
          <a:ln/>
        </p:spPr>
        <p:txBody>
          <a:bodyPr wrap="square" lIns="0" tIns="0" rIns="0" bIns="0" rtlCol="0" anchor="ctr"/>
          <a:lstStyle/>
          <a:p>
            <a:pPr algn="ctr" indent="0" marL="0">
              <a:buNone/>
            </a:pPr>
            <a:r>
              <a:rPr lang="en-US" sz="850" b="1" dirty="0">
                <a:solidFill>
                  <a:srgbClr val="FFFFFF"/>
                </a:solidFill>
              </a:rPr>
              <a:t>1</a:t>
            </a:r>
            <a:endParaRPr lang="en-US" sz="850" dirty="0"/>
          </a:p>
        </p:txBody>
      </p:sp>
      <p:sp>
        <p:nvSpPr>
          <p:cNvPr id="11" name="Shape 8"/>
          <p:cNvSpPr/>
          <p:nvPr/>
        </p:nvSpPr>
        <p:spPr>
          <a:xfrm>
            <a:off x="502920" y="2423160"/>
            <a:ext cx="2057400" cy="1874520"/>
          </a:xfrm>
          <a:prstGeom prst="roundRect">
            <a:avLst>
              <a:gd name="adj" fmla="val 4878"/>
            </a:avLst>
          </a:prstGeom>
          <a:solidFill>
            <a:srgbClr val="FFFFFF"/>
          </a:solidFill>
          <a:ln w="12700">
            <a:solidFill>
              <a:srgbClr val="E5E7EB">
                <a:alpha val="85000"/>
              </a:srgbClr>
            </a:solidFill>
            <a:prstDash val="solid"/>
          </a:ln>
        </p:spPr>
      </p:sp>
      <p:sp>
        <p:nvSpPr>
          <p:cNvPr id="12" name="Text 9"/>
          <p:cNvSpPr/>
          <p:nvPr/>
        </p:nvSpPr>
        <p:spPr>
          <a:xfrm>
            <a:off x="667512" y="2569464"/>
            <a:ext cx="1728216" cy="201168"/>
          </a:xfrm>
          <a:prstGeom prst="rect">
            <a:avLst/>
          </a:prstGeom>
          <a:noFill/>
          <a:ln/>
        </p:spPr>
        <p:txBody>
          <a:bodyPr wrap="square" lIns="0" tIns="0" rIns="0" bIns="0" rtlCol="0" anchor="ctr"/>
          <a:lstStyle/>
          <a:p>
            <a:pPr indent="0" marL="0">
              <a:buNone/>
            </a:pPr>
            <a:r>
              <a:rPr lang="en-US" sz="1030" b="1" dirty="0">
                <a:solidFill>
                  <a:srgbClr val="17213F"/>
                </a:solidFill>
              </a:rPr>
              <a:t>Understanding the Change</a:t>
            </a:r>
            <a:endParaRPr lang="en-US" sz="1030" dirty="0"/>
          </a:p>
        </p:txBody>
      </p:sp>
      <p:sp>
        <p:nvSpPr>
          <p:cNvPr id="13" name="Text 10"/>
          <p:cNvSpPr/>
          <p:nvPr/>
        </p:nvSpPr>
        <p:spPr>
          <a:xfrm>
            <a:off x="667512" y="2862072"/>
            <a:ext cx="1728216" cy="130759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Output: Change Narrative Map</a:t>
            </a:r>
            <a:endParaRPr lang="en-US" sz="850" dirty="0"/>
          </a:p>
        </p:txBody>
      </p:sp>
      <p:sp>
        <p:nvSpPr>
          <p:cNvPr id="14" name="Shape 11"/>
          <p:cNvSpPr/>
          <p:nvPr/>
        </p:nvSpPr>
        <p:spPr>
          <a:xfrm>
            <a:off x="2971800" y="1874520"/>
            <a:ext cx="384048" cy="384048"/>
          </a:xfrm>
          <a:prstGeom prst="ellipse">
            <a:avLst/>
          </a:prstGeom>
          <a:solidFill>
            <a:srgbClr val="A69BE8"/>
          </a:solidFill>
          <a:ln w="12700">
            <a:solidFill>
              <a:srgbClr val="A69BE8"/>
            </a:solidFill>
            <a:prstDash val="solid"/>
          </a:ln>
        </p:spPr>
      </p:sp>
      <p:sp>
        <p:nvSpPr>
          <p:cNvPr id="15" name="Text 12"/>
          <p:cNvSpPr/>
          <p:nvPr/>
        </p:nvSpPr>
        <p:spPr>
          <a:xfrm>
            <a:off x="2971800" y="1975104"/>
            <a:ext cx="384048" cy="109728"/>
          </a:xfrm>
          <a:prstGeom prst="rect">
            <a:avLst/>
          </a:prstGeom>
          <a:noFill/>
          <a:ln/>
        </p:spPr>
        <p:txBody>
          <a:bodyPr wrap="square" lIns="0" tIns="0" rIns="0" bIns="0" rtlCol="0" anchor="ctr"/>
          <a:lstStyle/>
          <a:p>
            <a:pPr algn="ctr" indent="0" marL="0">
              <a:buNone/>
            </a:pPr>
            <a:r>
              <a:rPr lang="en-US" sz="850" b="1" dirty="0">
                <a:solidFill>
                  <a:srgbClr val="FFFFFF"/>
                </a:solidFill>
              </a:rPr>
              <a:t>2</a:t>
            </a:r>
            <a:endParaRPr lang="en-US" sz="850" dirty="0"/>
          </a:p>
        </p:txBody>
      </p:sp>
      <p:sp>
        <p:nvSpPr>
          <p:cNvPr id="16" name="Shape 13"/>
          <p:cNvSpPr/>
          <p:nvPr/>
        </p:nvSpPr>
        <p:spPr>
          <a:xfrm>
            <a:off x="2788920" y="2423160"/>
            <a:ext cx="2057400" cy="1874520"/>
          </a:xfrm>
          <a:prstGeom prst="roundRect">
            <a:avLst>
              <a:gd name="adj" fmla="val 4878"/>
            </a:avLst>
          </a:prstGeom>
          <a:solidFill>
            <a:srgbClr val="FFFFFF"/>
          </a:solidFill>
          <a:ln w="12700">
            <a:solidFill>
              <a:srgbClr val="E5E7EB">
                <a:alpha val="85000"/>
              </a:srgbClr>
            </a:solidFill>
            <a:prstDash val="solid"/>
          </a:ln>
        </p:spPr>
      </p:sp>
      <p:sp>
        <p:nvSpPr>
          <p:cNvPr id="17" name="Text 14"/>
          <p:cNvSpPr/>
          <p:nvPr/>
        </p:nvSpPr>
        <p:spPr>
          <a:xfrm>
            <a:off x="2953512" y="2569464"/>
            <a:ext cx="1728216" cy="201168"/>
          </a:xfrm>
          <a:prstGeom prst="rect">
            <a:avLst/>
          </a:prstGeom>
          <a:noFill/>
          <a:ln/>
        </p:spPr>
        <p:txBody>
          <a:bodyPr wrap="square" lIns="0" tIns="0" rIns="0" bIns="0" rtlCol="0" anchor="ctr"/>
          <a:lstStyle/>
          <a:p>
            <a:pPr indent="0" marL="0">
              <a:buNone/>
            </a:pPr>
            <a:r>
              <a:rPr lang="en-US" sz="1030" b="1" dirty="0">
                <a:solidFill>
                  <a:srgbClr val="17213F"/>
                </a:solidFill>
              </a:rPr>
              <a:t>What Changes in Daily Work</a:t>
            </a:r>
            <a:endParaRPr lang="en-US" sz="1030" dirty="0"/>
          </a:p>
        </p:txBody>
      </p:sp>
      <p:sp>
        <p:nvSpPr>
          <p:cNvPr id="18" name="Text 15"/>
          <p:cNvSpPr/>
          <p:nvPr/>
        </p:nvSpPr>
        <p:spPr>
          <a:xfrm>
            <a:off x="2953512" y="2862072"/>
            <a:ext cx="1728216" cy="130759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Output: Role Impact Map</a:t>
            </a:r>
            <a:endParaRPr lang="en-US" sz="850" dirty="0"/>
          </a:p>
        </p:txBody>
      </p:sp>
      <p:sp>
        <p:nvSpPr>
          <p:cNvPr id="19" name="Shape 16"/>
          <p:cNvSpPr/>
          <p:nvPr/>
        </p:nvSpPr>
        <p:spPr>
          <a:xfrm>
            <a:off x="5257800" y="1874520"/>
            <a:ext cx="384048" cy="384048"/>
          </a:xfrm>
          <a:prstGeom prst="ellipse">
            <a:avLst/>
          </a:prstGeom>
          <a:solidFill>
            <a:srgbClr val="DDEBFF"/>
          </a:solidFill>
          <a:ln w="12700">
            <a:solidFill>
              <a:srgbClr val="DDEBFF"/>
            </a:solidFill>
            <a:prstDash val="solid"/>
          </a:ln>
        </p:spPr>
      </p:sp>
      <p:sp>
        <p:nvSpPr>
          <p:cNvPr id="20" name="Text 17"/>
          <p:cNvSpPr/>
          <p:nvPr/>
        </p:nvSpPr>
        <p:spPr>
          <a:xfrm>
            <a:off x="5257800" y="1975104"/>
            <a:ext cx="384048" cy="109728"/>
          </a:xfrm>
          <a:prstGeom prst="rect">
            <a:avLst/>
          </a:prstGeom>
          <a:noFill/>
          <a:ln/>
        </p:spPr>
        <p:txBody>
          <a:bodyPr wrap="square" lIns="0" tIns="0" rIns="0" bIns="0" rtlCol="0" anchor="ctr"/>
          <a:lstStyle/>
          <a:p>
            <a:pPr algn="ctr" indent="0" marL="0">
              <a:buNone/>
            </a:pPr>
            <a:r>
              <a:rPr lang="en-US" sz="850" b="1" dirty="0">
                <a:solidFill>
                  <a:srgbClr val="FFFFFF"/>
                </a:solidFill>
              </a:rPr>
              <a:t>3</a:t>
            </a:r>
            <a:endParaRPr lang="en-US" sz="850" dirty="0"/>
          </a:p>
        </p:txBody>
      </p:sp>
      <p:sp>
        <p:nvSpPr>
          <p:cNvPr id="21" name="Shape 18"/>
          <p:cNvSpPr/>
          <p:nvPr/>
        </p:nvSpPr>
        <p:spPr>
          <a:xfrm>
            <a:off x="5074920" y="2423160"/>
            <a:ext cx="2057400" cy="1874520"/>
          </a:xfrm>
          <a:prstGeom prst="roundRect">
            <a:avLst>
              <a:gd name="adj" fmla="val 4878"/>
            </a:avLst>
          </a:prstGeom>
          <a:solidFill>
            <a:srgbClr val="FFFFFF"/>
          </a:solidFill>
          <a:ln w="12700">
            <a:solidFill>
              <a:srgbClr val="E5E7EB">
                <a:alpha val="85000"/>
              </a:srgbClr>
            </a:solidFill>
            <a:prstDash val="solid"/>
          </a:ln>
        </p:spPr>
      </p:sp>
      <p:sp>
        <p:nvSpPr>
          <p:cNvPr id="22" name="Text 19"/>
          <p:cNvSpPr/>
          <p:nvPr/>
        </p:nvSpPr>
        <p:spPr>
          <a:xfrm>
            <a:off x="5239512" y="2569464"/>
            <a:ext cx="1728216" cy="201168"/>
          </a:xfrm>
          <a:prstGeom prst="rect">
            <a:avLst/>
          </a:prstGeom>
          <a:noFill/>
          <a:ln/>
        </p:spPr>
        <p:txBody>
          <a:bodyPr wrap="square" lIns="0" tIns="0" rIns="0" bIns="0" rtlCol="0" anchor="ctr"/>
          <a:lstStyle/>
          <a:p>
            <a:pPr indent="0" marL="0">
              <a:buNone/>
            </a:pPr>
            <a:r>
              <a:rPr lang="en-US" sz="1030" b="1" dirty="0">
                <a:solidFill>
                  <a:srgbClr val="17213F"/>
                </a:solidFill>
              </a:rPr>
              <a:t>Building New Capabilities</a:t>
            </a:r>
            <a:endParaRPr lang="en-US" sz="1030" dirty="0"/>
          </a:p>
        </p:txBody>
      </p:sp>
      <p:sp>
        <p:nvSpPr>
          <p:cNvPr id="23" name="Text 20"/>
          <p:cNvSpPr/>
          <p:nvPr/>
        </p:nvSpPr>
        <p:spPr>
          <a:xfrm>
            <a:off x="5239512" y="2862072"/>
            <a:ext cx="1728216" cy="130759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Output: Skills Gap Sprint</a:t>
            </a:r>
            <a:endParaRPr lang="en-US" sz="850" dirty="0"/>
          </a:p>
        </p:txBody>
      </p:sp>
      <p:sp>
        <p:nvSpPr>
          <p:cNvPr id="24" name="Shape 21"/>
          <p:cNvSpPr/>
          <p:nvPr/>
        </p:nvSpPr>
        <p:spPr>
          <a:xfrm>
            <a:off x="7543800" y="1874520"/>
            <a:ext cx="384048" cy="384048"/>
          </a:xfrm>
          <a:prstGeom prst="ellipse">
            <a:avLst/>
          </a:prstGeom>
          <a:solidFill>
            <a:srgbClr val="A69BE8"/>
          </a:solidFill>
          <a:ln w="12700">
            <a:solidFill>
              <a:srgbClr val="A69BE8"/>
            </a:solidFill>
            <a:prstDash val="solid"/>
          </a:ln>
        </p:spPr>
      </p:sp>
      <p:sp>
        <p:nvSpPr>
          <p:cNvPr id="25" name="Text 22"/>
          <p:cNvSpPr/>
          <p:nvPr/>
        </p:nvSpPr>
        <p:spPr>
          <a:xfrm>
            <a:off x="7543800" y="1975104"/>
            <a:ext cx="384048" cy="109728"/>
          </a:xfrm>
          <a:prstGeom prst="rect">
            <a:avLst/>
          </a:prstGeom>
          <a:noFill/>
          <a:ln/>
        </p:spPr>
        <p:txBody>
          <a:bodyPr wrap="square" lIns="0" tIns="0" rIns="0" bIns="0" rtlCol="0" anchor="ctr"/>
          <a:lstStyle/>
          <a:p>
            <a:pPr algn="ctr" indent="0" marL="0">
              <a:buNone/>
            </a:pPr>
            <a:r>
              <a:rPr lang="en-US" sz="850" b="1" dirty="0">
                <a:solidFill>
                  <a:srgbClr val="FFFFFF"/>
                </a:solidFill>
              </a:rPr>
              <a:t>4</a:t>
            </a:r>
            <a:endParaRPr lang="en-US" sz="850" dirty="0"/>
          </a:p>
        </p:txBody>
      </p:sp>
      <p:sp>
        <p:nvSpPr>
          <p:cNvPr id="26" name="Shape 23"/>
          <p:cNvSpPr/>
          <p:nvPr/>
        </p:nvSpPr>
        <p:spPr>
          <a:xfrm>
            <a:off x="7360920" y="2423160"/>
            <a:ext cx="2057400" cy="1874520"/>
          </a:xfrm>
          <a:prstGeom prst="roundRect">
            <a:avLst>
              <a:gd name="adj" fmla="val 4878"/>
            </a:avLst>
          </a:prstGeom>
          <a:solidFill>
            <a:srgbClr val="FFFFFF"/>
          </a:solidFill>
          <a:ln w="12700">
            <a:solidFill>
              <a:srgbClr val="E5E7EB">
                <a:alpha val="85000"/>
              </a:srgbClr>
            </a:solidFill>
            <a:prstDash val="solid"/>
          </a:ln>
        </p:spPr>
      </p:sp>
      <p:sp>
        <p:nvSpPr>
          <p:cNvPr id="27" name="Text 24"/>
          <p:cNvSpPr/>
          <p:nvPr/>
        </p:nvSpPr>
        <p:spPr>
          <a:xfrm>
            <a:off x="7525512" y="2569464"/>
            <a:ext cx="1728216" cy="201168"/>
          </a:xfrm>
          <a:prstGeom prst="rect">
            <a:avLst/>
          </a:prstGeom>
          <a:noFill/>
          <a:ln/>
        </p:spPr>
        <p:txBody>
          <a:bodyPr wrap="square" lIns="0" tIns="0" rIns="0" bIns="0" rtlCol="0" anchor="ctr"/>
          <a:lstStyle/>
          <a:p>
            <a:pPr indent="0" marL="0">
              <a:buNone/>
            </a:pPr>
            <a:r>
              <a:rPr lang="en-US" sz="1030" b="1" dirty="0">
                <a:solidFill>
                  <a:srgbClr val="17213F"/>
                </a:solidFill>
              </a:rPr>
              <a:t>Manager Enablement</a:t>
            </a:r>
            <a:endParaRPr lang="en-US" sz="1030" dirty="0"/>
          </a:p>
        </p:txBody>
      </p:sp>
      <p:sp>
        <p:nvSpPr>
          <p:cNvPr id="28" name="Text 25"/>
          <p:cNvSpPr/>
          <p:nvPr/>
        </p:nvSpPr>
        <p:spPr>
          <a:xfrm>
            <a:off x="7525512" y="2862072"/>
            <a:ext cx="1728216" cy="130759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Output: Manager Change Conversation Guide</a:t>
            </a:r>
            <a:endParaRPr lang="en-US" sz="850" dirty="0"/>
          </a:p>
        </p:txBody>
      </p:sp>
      <p:sp>
        <p:nvSpPr>
          <p:cNvPr id="29" name="Shape 26"/>
          <p:cNvSpPr/>
          <p:nvPr/>
        </p:nvSpPr>
        <p:spPr>
          <a:xfrm>
            <a:off x="9829800" y="1874520"/>
            <a:ext cx="384048" cy="384048"/>
          </a:xfrm>
          <a:prstGeom prst="ellipse">
            <a:avLst/>
          </a:prstGeom>
          <a:solidFill>
            <a:srgbClr val="DDEBFF"/>
          </a:solidFill>
          <a:ln w="12700">
            <a:solidFill>
              <a:srgbClr val="DDEBFF"/>
            </a:solidFill>
            <a:prstDash val="solid"/>
          </a:ln>
        </p:spPr>
      </p:sp>
      <p:sp>
        <p:nvSpPr>
          <p:cNvPr id="30" name="Text 27"/>
          <p:cNvSpPr/>
          <p:nvPr/>
        </p:nvSpPr>
        <p:spPr>
          <a:xfrm>
            <a:off x="9829800" y="1975104"/>
            <a:ext cx="384048" cy="109728"/>
          </a:xfrm>
          <a:prstGeom prst="rect">
            <a:avLst/>
          </a:prstGeom>
          <a:noFill/>
          <a:ln/>
        </p:spPr>
        <p:txBody>
          <a:bodyPr wrap="square" lIns="0" tIns="0" rIns="0" bIns="0" rtlCol="0" anchor="ctr"/>
          <a:lstStyle/>
          <a:p>
            <a:pPr algn="ctr" indent="0" marL="0">
              <a:buNone/>
            </a:pPr>
            <a:r>
              <a:rPr lang="en-US" sz="850" b="1" dirty="0">
                <a:solidFill>
                  <a:srgbClr val="FFFFFF"/>
                </a:solidFill>
              </a:rPr>
              <a:t>5</a:t>
            </a:r>
            <a:endParaRPr lang="en-US" sz="850" dirty="0"/>
          </a:p>
        </p:txBody>
      </p:sp>
      <p:sp>
        <p:nvSpPr>
          <p:cNvPr id="31" name="Shape 28"/>
          <p:cNvSpPr/>
          <p:nvPr/>
        </p:nvSpPr>
        <p:spPr>
          <a:xfrm>
            <a:off x="9646920" y="2423160"/>
            <a:ext cx="2057400" cy="1874520"/>
          </a:xfrm>
          <a:prstGeom prst="roundRect">
            <a:avLst>
              <a:gd name="adj" fmla="val 4878"/>
            </a:avLst>
          </a:prstGeom>
          <a:solidFill>
            <a:srgbClr val="FFFFFF"/>
          </a:solidFill>
          <a:ln w="12700">
            <a:solidFill>
              <a:srgbClr val="E5E7EB">
                <a:alpha val="85000"/>
              </a:srgbClr>
            </a:solidFill>
            <a:prstDash val="solid"/>
          </a:ln>
        </p:spPr>
      </p:sp>
      <p:sp>
        <p:nvSpPr>
          <p:cNvPr id="32" name="Text 29"/>
          <p:cNvSpPr/>
          <p:nvPr/>
        </p:nvSpPr>
        <p:spPr>
          <a:xfrm>
            <a:off x="9811512" y="2569464"/>
            <a:ext cx="1728216" cy="201168"/>
          </a:xfrm>
          <a:prstGeom prst="rect">
            <a:avLst/>
          </a:prstGeom>
          <a:noFill/>
          <a:ln/>
        </p:spPr>
        <p:txBody>
          <a:bodyPr wrap="square" lIns="0" tIns="0" rIns="0" bIns="0" rtlCol="0" anchor="ctr"/>
          <a:lstStyle/>
          <a:p>
            <a:pPr indent="0" marL="0">
              <a:buNone/>
            </a:pPr>
            <a:r>
              <a:rPr lang="en-US" sz="1030" b="1" dirty="0">
                <a:solidFill>
                  <a:srgbClr val="17213F"/>
                </a:solidFill>
              </a:rPr>
              <a:t>Adoption &amp; Continuous Improvement</a:t>
            </a:r>
            <a:endParaRPr lang="en-US" sz="1030" dirty="0"/>
          </a:p>
        </p:txBody>
      </p:sp>
      <p:sp>
        <p:nvSpPr>
          <p:cNvPr id="33" name="Text 30"/>
          <p:cNvSpPr/>
          <p:nvPr/>
        </p:nvSpPr>
        <p:spPr>
          <a:xfrm>
            <a:off x="9811512" y="2862072"/>
            <a:ext cx="1728216" cy="130759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Output: Team Adoption Plan</a:t>
            </a:r>
            <a:endParaRPr lang="en-US" sz="850" dirty="0"/>
          </a:p>
        </p:txBody>
      </p:sp>
      <p:sp>
        <p:nvSpPr>
          <p:cNvPr id="34" name="Text 31"/>
          <p:cNvSpPr/>
          <p:nvPr/>
        </p:nvSpPr>
        <p:spPr>
          <a:xfrm>
            <a:off x="1097280" y="5074920"/>
            <a:ext cx="10058400" cy="320040"/>
          </a:xfrm>
          <a:prstGeom prst="rect">
            <a:avLst/>
          </a:prstGeom>
          <a:noFill/>
          <a:ln/>
        </p:spPr>
        <p:txBody>
          <a:bodyPr wrap="square" lIns="0" tIns="0" rIns="0" bIns="0" rtlCol="0" anchor="ctr"/>
          <a:lstStyle/>
          <a:p>
            <a:pPr algn="ctr" indent="0" marL="0">
              <a:buNone/>
            </a:pPr>
            <a:r>
              <a:rPr lang="en-US" sz="1400" b="1" dirty="0">
                <a:solidFill>
                  <a:srgbClr val="17213F"/>
                </a:solidFill>
              </a:rPr>
              <a:t>Program principle: Every session ends with a practical tool, not only a discussion.</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7FB"/>
        </a:solidFill>
      </p:bgPr>
    </p:bg>
    <p:spTree>
      <p:nvGrpSpPr>
        <p:cNvPr id="1" name=""/>
        <p:cNvGrpSpPr/>
        <p:nvPr/>
      </p:nvGrpSpPr>
      <p:grpSpPr>
        <a:xfrm>
          <a:off x="0" y="0"/>
          <a:ext cx="0" cy="0"/>
          <a:chOff x="0" y="0"/>
          <a:chExt cx="0" cy="0"/>
        </a:xfrm>
      </p:grpSpPr>
      <p:sp>
        <p:nvSpPr>
          <p:cNvPr id="2" name="Shape 0"/>
          <p:cNvSpPr/>
          <p:nvPr/>
        </p:nvSpPr>
        <p:spPr>
          <a:xfrm>
            <a:off x="0" y="0"/>
            <a:ext cx="12191695" cy="329184"/>
          </a:xfrm>
          <a:prstGeom prst="rect">
            <a:avLst/>
          </a:prstGeom>
          <a:solidFill>
            <a:srgbClr val="17213F"/>
          </a:solidFill>
          <a:ln w="12700">
            <a:solidFill>
              <a:srgbClr val="17213F"/>
            </a:solidFill>
            <a:prstDash val="solid"/>
          </a:ln>
        </p:spPr>
      </p:sp>
      <p:sp>
        <p:nvSpPr>
          <p:cNvPr id="3" name="Text 1"/>
          <p:cNvSpPr/>
          <p:nvPr/>
        </p:nvSpPr>
        <p:spPr>
          <a:xfrm>
            <a:off x="411480" y="68580"/>
            <a:ext cx="4114800" cy="164592"/>
          </a:xfrm>
          <a:prstGeom prst="rect">
            <a:avLst/>
          </a:prstGeom>
          <a:noFill/>
          <a:ln/>
        </p:spPr>
        <p:txBody>
          <a:bodyPr wrap="square" lIns="0" tIns="0" rIns="0" bIns="0" rtlCol="0" anchor="ctr"/>
          <a:lstStyle/>
          <a:p>
            <a:pPr indent="0" marL="0">
              <a:buNone/>
            </a:pPr>
            <a:r>
              <a:rPr lang="en-US" sz="750" b="1" dirty="0">
                <a:solidFill>
                  <a:srgbClr val="FFFFFF"/>
                </a:solidFill>
                <a:latin typeface="Aptos" pitchFamily="34" charset="0"/>
                <a:ea typeface="Aptos" pitchFamily="34" charset="-122"/>
                <a:cs typeface="Aptos" pitchFamily="34" charset="-120"/>
              </a:rPr>
              <a:t>ENABLEMENT MODEL</a:t>
            </a:r>
            <a:endParaRPr lang="en-US" sz="750" dirty="0"/>
          </a:p>
        </p:txBody>
      </p:sp>
      <p:sp>
        <p:nvSpPr>
          <p:cNvPr id="4" name="Text 2"/>
          <p:cNvSpPr/>
          <p:nvPr/>
        </p:nvSpPr>
        <p:spPr>
          <a:xfrm>
            <a:off x="8778240" y="68580"/>
            <a:ext cx="3017520" cy="164592"/>
          </a:xfrm>
          <a:prstGeom prst="rect">
            <a:avLst/>
          </a:prstGeom>
          <a:noFill/>
          <a:ln/>
        </p:spPr>
        <p:txBody>
          <a:bodyPr wrap="square" lIns="0" tIns="0" rIns="0" bIns="0" rtlCol="0" anchor="ctr"/>
          <a:lstStyle/>
          <a:p>
            <a:pPr algn="r" indent="0" marL="0">
              <a:buNone/>
            </a:pPr>
            <a:r>
              <a:rPr lang="en-US" sz="750" dirty="0">
                <a:solidFill>
                  <a:srgbClr val="FFFFFF"/>
                </a:solidFill>
              </a:rPr>
              <a:t>Portfolio Training Deck</a:t>
            </a:r>
            <a:endParaRPr lang="en-US" sz="750" dirty="0"/>
          </a:p>
        </p:txBody>
      </p:sp>
      <p:sp>
        <p:nvSpPr>
          <p:cNvPr id="5" name="Shape 3"/>
          <p:cNvSpPr/>
          <p:nvPr/>
        </p:nvSpPr>
        <p:spPr>
          <a:xfrm>
            <a:off x="411480" y="6510528"/>
            <a:ext cx="11384280" cy="9144"/>
          </a:xfrm>
          <a:prstGeom prst="rect">
            <a:avLst/>
          </a:prstGeom>
          <a:solidFill>
            <a:srgbClr val="E5E7EB"/>
          </a:solidFill>
          <a:ln w="12700">
            <a:solidFill>
              <a:srgbClr val="E5E7EB"/>
            </a:solidFill>
            <a:prstDash val="solid"/>
          </a:ln>
        </p:spPr>
      </p:sp>
      <p:sp>
        <p:nvSpPr>
          <p:cNvPr id="6" name="Text 4"/>
          <p:cNvSpPr/>
          <p:nvPr/>
        </p:nvSpPr>
        <p:spPr>
          <a:xfrm>
            <a:off x="594360" y="566928"/>
            <a:ext cx="10789920" cy="384048"/>
          </a:xfrm>
          <a:prstGeom prst="rect">
            <a:avLst/>
          </a:prstGeom>
          <a:noFill/>
          <a:ln/>
        </p:spPr>
        <p:txBody>
          <a:bodyPr wrap="square" lIns="381" tIns="381" rIns="381" bIns="381" rtlCol="0" anchor="ctr">
            <a:normAutofit/>
          </a:bodyPr>
          <a:lstStyle/>
          <a:p>
            <a:pPr indent="0" marL="0">
              <a:buNone/>
            </a:pPr>
            <a:r>
              <a:rPr lang="en-US" sz="2500" b="1" dirty="0">
                <a:solidFill>
                  <a:srgbClr val="17213F"/>
                </a:solidFill>
                <a:latin typeface="Aptos Display" pitchFamily="34" charset="0"/>
                <a:ea typeface="Aptos Display" pitchFamily="34" charset="-122"/>
                <a:cs typeface="Aptos Display" pitchFamily="34" charset="-120"/>
              </a:rPr>
              <a:t>Change enablement model</a:t>
            </a:r>
            <a:endParaRPr lang="en-US" sz="2500" dirty="0"/>
          </a:p>
        </p:txBody>
      </p:sp>
      <p:sp>
        <p:nvSpPr>
          <p:cNvPr id="7" name="Text 5"/>
          <p:cNvSpPr/>
          <p:nvPr/>
        </p:nvSpPr>
        <p:spPr>
          <a:xfrm>
            <a:off x="612648" y="996696"/>
            <a:ext cx="10698480" cy="237744"/>
          </a:xfrm>
          <a:prstGeom prst="rect">
            <a:avLst/>
          </a:prstGeom>
          <a:noFill/>
          <a:ln/>
        </p:spPr>
        <p:txBody>
          <a:bodyPr wrap="square" lIns="0" tIns="0" rIns="0" bIns="0" rtlCol="0" anchor="ctr">
            <a:normAutofit/>
          </a:bodyPr>
          <a:lstStyle/>
          <a:p>
            <a:pPr indent="0" marL="0">
              <a:buNone/>
            </a:pPr>
            <a:r>
              <a:rPr lang="en-US" sz="1120" dirty="0">
                <a:solidFill>
                  <a:srgbClr val="6B7280"/>
                </a:solidFill>
              </a:rPr>
              <a:t>Understand → Translate → Build → Lead → Measure</a:t>
            </a:r>
            <a:endParaRPr lang="en-US" sz="1120" dirty="0"/>
          </a:p>
        </p:txBody>
      </p:sp>
      <p:sp>
        <p:nvSpPr>
          <p:cNvPr id="9" name="Shape 6"/>
          <p:cNvSpPr/>
          <p:nvPr/>
        </p:nvSpPr>
        <p:spPr>
          <a:xfrm>
            <a:off x="777240" y="1965960"/>
            <a:ext cx="1874520" cy="1417320"/>
          </a:xfrm>
          <a:prstGeom prst="roundRect">
            <a:avLst>
              <a:gd name="adj" fmla="val 7742"/>
            </a:avLst>
          </a:prstGeom>
          <a:solidFill>
            <a:srgbClr val="FFFFFF"/>
          </a:solidFill>
          <a:ln w="12700">
            <a:solidFill>
              <a:srgbClr val="E5E7EB"/>
            </a:solidFill>
            <a:prstDash val="solid"/>
          </a:ln>
        </p:spPr>
      </p:sp>
      <p:sp>
        <p:nvSpPr>
          <p:cNvPr id="10" name="Text 7"/>
          <p:cNvSpPr/>
          <p:nvPr/>
        </p:nvSpPr>
        <p:spPr>
          <a:xfrm>
            <a:off x="886968" y="2194560"/>
            <a:ext cx="1645920" cy="228600"/>
          </a:xfrm>
          <a:prstGeom prst="rect">
            <a:avLst/>
          </a:prstGeom>
          <a:noFill/>
          <a:ln/>
        </p:spPr>
        <p:txBody>
          <a:bodyPr wrap="square" lIns="0" tIns="0" rIns="0" bIns="0" rtlCol="0" anchor="ctr"/>
          <a:lstStyle/>
          <a:p>
            <a:pPr algn="ctr" indent="0" marL="0">
              <a:buNone/>
            </a:pPr>
            <a:r>
              <a:rPr lang="en-US" sz="1200" b="1" dirty="0">
                <a:solidFill>
                  <a:srgbClr val="17213F"/>
                </a:solidFill>
              </a:rPr>
              <a:t>Understand</a:t>
            </a:r>
            <a:endParaRPr lang="en-US" sz="1200" dirty="0"/>
          </a:p>
        </p:txBody>
      </p:sp>
      <p:sp>
        <p:nvSpPr>
          <p:cNvPr id="11" name="Text 8"/>
          <p:cNvSpPr/>
          <p:nvPr/>
        </p:nvSpPr>
        <p:spPr>
          <a:xfrm>
            <a:off x="941832" y="2606040"/>
            <a:ext cx="1554480" cy="411480"/>
          </a:xfrm>
          <a:prstGeom prst="rect">
            <a:avLst/>
          </a:prstGeom>
          <a:noFill/>
          <a:ln/>
        </p:spPr>
        <p:txBody>
          <a:bodyPr wrap="square" lIns="254" tIns="254" rIns="254" bIns="254" rtlCol="0" anchor="ctr">
            <a:normAutofit/>
          </a:bodyPr>
          <a:lstStyle/>
          <a:p>
            <a:pPr algn="ctr" indent="0" marL="0">
              <a:buNone/>
            </a:pPr>
            <a:r>
              <a:rPr lang="en-US" sz="820" dirty="0">
                <a:solidFill>
                  <a:srgbClr val="1F2937"/>
                </a:solidFill>
              </a:rPr>
              <a:t>Why is the change happening?</a:t>
            </a:r>
            <a:endParaRPr lang="en-US" sz="820" dirty="0"/>
          </a:p>
        </p:txBody>
      </p:sp>
      <p:sp>
        <p:nvSpPr>
          <p:cNvPr id="12" name="Shape 9"/>
          <p:cNvSpPr/>
          <p:nvPr/>
        </p:nvSpPr>
        <p:spPr>
          <a:xfrm>
            <a:off x="2670048" y="2395728"/>
            <a:ext cx="237744" cy="502920"/>
          </a:xfrm>
          <a:prstGeom prst="chevron">
            <a:avLst/>
          </a:prstGeom>
          <a:solidFill>
            <a:srgbClr val="A69BE8"/>
          </a:solidFill>
          <a:ln w="12700">
            <a:solidFill>
              <a:srgbClr val="A69BE8"/>
            </a:solidFill>
            <a:prstDash val="solid"/>
          </a:ln>
        </p:spPr>
      </p:sp>
      <p:sp>
        <p:nvSpPr>
          <p:cNvPr id="13" name="Shape 10"/>
          <p:cNvSpPr/>
          <p:nvPr/>
        </p:nvSpPr>
        <p:spPr>
          <a:xfrm>
            <a:off x="3017520" y="1965960"/>
            <a:ext cx="1874520" cy="1417320"/>
          </a:xfrm>
          <a:prstGeom prst="roundRect">
            <a:avLst>
              <a:gd name="adj" fmla="val 7742"/>
            </a:avLst>
          </a:prstGeom>
          <a:solidFill>
            <a:srgbClr val="F1EEFF"/>
          </a:solidFill>
          <a:ln w="12700">
            <a:solidFill>
              <a:srgbClr val="E5E7EB"/>
            </a:solidFill>
            <a:prstDash val="solid"/>
          </a:ln>
        </p:spPr>
      </p:sp>
      <p:sp>
        <p:nvSpPr>
          <p:cNvPr id="14" name="Text 11"/>
          <p:cNvSpPr/>
          <p:nvPr/>
        </p:nvSpPr>
        <p:spPr>
          <a:xfrm>
            <a:off x="3127248" y="2194560"/>
            <a:ext cx="1645920" cy="228600"/>
          </a:xfrm>
          <a:prstGeom prst="rect">
            <a:avLst/>
          </a:prstGeom>
          <a:noFill/>
          <a:ln/>
        </p:spPr>
        <p:txBody>
          <a:bodyPr wrap="square" lIns="0" tIns="0" rIns="0" bIns="0" rtlCol="0" anchor="ctr"/>
          <a:lstStyle/>
          <a:p>
            <a:pPr algn="ctr" indent="0" marL="0">
              <a:buNone/>
            </a:pPr>
            <a:r>
              <a:rPr lang="en-US" sz="1200" b="1" dirty="0">
                <a:solidFill>
                  <a:srgbClr val="17213F"/>
                </a:solidFill>
              </a:rPr>
              <a:t>Translate</a:t>
            </a:r>
            <a:endParaRPr lang="en-US" sz="1200" dirty="0"/>
          </a:p>
        </p:txBody>
      </p:sp>
      <p:sp>
        <p:nvSpPr>
          <p:cNvPr id="15" name="Text 12"/>
          <p:cNvSpPr/>
          <p:nvPr/>
        </p:nvSpPr>
        <p:spPr>
          <a:xfrm>
            <a:off x="3182112" y="2606040"/>
            <a:ext cx="1554480" cy="411480"/>
          </a:xfrm>
          <a:prstGeom prst="rect">
            <a:avLst/>
          </a:prstGeom>
          <a:noFill/>
          <a:ln/>
        </p:spPr>
        <p:txBody>
          <a:bodyPr wrap="square" lIns="254" tIns="254" rIns="254" bIns="254" rtlCol="0" anchor="ctr">
            <a:normAutofit/>
          </a:bodyPr>
          <a:lstStyle/>
          <a:p>
            <a:pPr algn="ctr" indent="0" marL="0">
              <a:buNone/>
            </a:pPr>
            <a:r>
              <a:rPr lang="en-US" sz="820" dirty="0">
                <a:solidFill>
                  <a:srgbClr val="1F2937"/>
                </a:solidFill>
              </a:rPr>
              <a:t>What does it mean for my role?</a:t>
            </a:r>
            <a:endParaRPr lang="en-US" sz="820" dirty="0"/>
          </a:p>
        </p:txBody>
      </p:sp>
      <p:sp>
        <p:nvSpPr>
          <p:cNvPr id="16" name="Shape 13"/>
          <p:cNvSpPr/>
          <p:nvPr/>
        </p:nvSpPr>
        <p:spPr>
          <a:xfrm>
            <a:off x="4910328" y="2395728"/>
            <a:ext cx="237744" cy="502920"/>
          </a:xfrm>
          <a:prstGeom prst="chevron">
            <a:avLst/>
          </a:prstGeom>
          <a:solidFill>
            <a:srgbClr val="A69BE8"/>
          </a:solidFill>
          <a:ln w="12700">
            <a:solidFill>
              <a:srgbClr val="A69BE8"/>
            </a:solidFill>
            <a:prstDash val="solid"/>
          </a:ln>
        </p:spPr>
      </p:sp>
      <p:sp>
        <p:nvSpPr>
          <p:cNvPr id="17" name="Shape 14"/>
          <p:cNvSpPr/>
          <p:nvPr/>
        </p:nvSpPr>
        <p:spPr>
          <a:xfrm>
            <a:off x="5257800" y="1965960"/>
            <a:ext cx="1874520" cy="1417320"/>
          </a:xfrm>
          <a:prstGeom prst="roundRect">
            <a:avLst>
              <a:gd name="adj" fmla="val 7742"/>
            </a:avLst>
          </a:prstGeom>
          <a:solidFill>
            <a:srgbClr val="FFFFFF"/>
          </a:solidFill>
          <a:ln w="12700">
            <a:solidFill>
              <a:srgbClr val="E5E7EB"/>
            </a:solidFill>
            <a:prstDash val="solid"/>
          </a:ln>
        </p:spPr>
      </p:sp>
      <p:sp>
        <p:nvSpPr>
          <p:cNvPr id="18" name="Text 15"/>
          <p:cNvSpPr/>
          <p:nvPr/>
        </p:nvSpPr>
        <p:spPr>
          <a:xfrm>
            <a:off x="5367528" y="2194560"/>
            <a:ext cx="1645920" cy="228600"/>
          </a:xfrm>
          <a:prstGeom prst="rect">
            <a:avLst/>
          </a:prstGeom>
          <a:noFill/>
          <a:ln/>
        </p:spPr>
        <p:txBody>
          <a:bodyPr wrap="square" lIns="0" tIns="0" rIns="0" bIns="0" rtlCol="0" anchor="ctr"/>
          <a:lstStyle/>
          <a:p>
            <a:pPr algn="ctr" indent="0" marL="0">
              <a:buNone/>
            </a:pPr>
            <a:r>
              <a:rPr lang="en-US" sz="1200" b="1" dirty="0">
                <a:solidFill>
                  <a:srgbClr val="17213F"/>
                </a:solidFill>
              </a:rPr>
              <a:t>Build</a:t>
            </a:r>
            <a:endParaRPr lang="en-US" sz="1200" dirty="0"/>
          </a:p>
        </p:txBody>
      </p:sp>
      <p:sp>
        <p:nvSpPr>
          <p:cNvPr id="19" name="Text 16"/>
          <p:cNvSpPr/>
          <p:nvPr/>
        </p:nvSpPr>
        <p:spPr>
          <a:xfrm>
            <a:off x="5422392" y="2606040"/>
            <a:ext cx="1554480" cy="411480"/>
          </a:xfrm>
          <a:prstGeom prst="rect">
            <a:avLst/>
          </a:prstGeom>
          <a:noFill/>
          <a:ln/>
        </p:spPr>
        <p:txBody>
          <a:bodyPr wrap="square" lIns="254" tIns="254" rIns="254" bIns="254" rtlCol="0" anchor="ctr">
            <a:normAutofit/>
          </a:bodyPr>
          <a:lstStyle/>
          <a:p>
            <a:pPr algn="ctr" indent="0" marL="0">
              <a:buNone/>
            </a:pPr>
            <a:r>
              <a:rPr lang="en-US" sz="820" dirty="0">
                <a:solidFill>
                  <a:srgbClr val="1F2937"/>
                </a:solidFill>
              </a:rPr>
              <a:t>What capabilities are needed?</a:t>
            </a:r>
            <a:endParaRPr lang="en-US" sz="820" dirty="0"/>
          </a:p>
        </p:txBody>
      </p:sp>
      <p:sp>
        <p:nvSpPr>
          <p:cNvPr id="20" name="Shape 17"/>
          <p:cNvSpPr/>
          <p:nvPr/>
        </p:nvSpPr>
        <p:spPr>
          <a:xfrm>
            <a:off x="7150608" y="2395728"/>
            <a:ext cx="237744" cy="502920"/>
          </a:xfrm>
          <a:prstGeom prst="chevron">
            <a:avLst/>
          </a:prstGeom>
          <a:solidFill>
            <a:srgbClr val="A69BE8"/>
          </a:solidFill>
          <a:ln w="12700">
            <a:solidFill>
              <a:srgbClr val="A69BE8"/>
            </a:solidFill>
            <a:prstDash val="solid"/>
          </a:ln>
        </p:spPr>
      </p:sp>
      <p:sp>
        <p:nvSpPr>
          <p:cNvPr id="21" name="Shape 18"/>
          <p:cNvSpPr/>
          <p:nvPr/>
        </p:nvSpPr>
        <p:spPr>
          <a:xfrm>
            <a:off x="7498080" y="1965960"/>
            <a:ext cx="1874520" cy="1417320"/>
          </a:xfrm>
          <a:prstGeom prst="roundRect">
            <a:avLst>
              <a:gd name="adj" fmla="val 7742"/>
            </a:avLst>
          </a:prstGeom>
          <a:solidFill>
            <a:srgbClr val="F1EEFF"/>
          </a:solidFill>
          <a:ln w="12700">
            <a:solidFill>
              <a:srgbClr val="E5E7EB"/>
            </a:solidFill>
            <a:prstDash val="solid"/>
          </a:ln>
        </p:spPr>
      </p:sp>
      <p:sp>
        <p:nvSpPr>
          <p:cNvPr id="22" name="Text 19"/>
          <p:cNvSpPr/>
          <p:nvPr/>
        </p:nvSpPr>
        <p:spPr>
          <a:xfrm>
            <a:off x="7607808" y="2194560"/>
            <a:ext cx="1645920" cy="228600"/>
          </a:xfrm>
          <a:prstGeom prst="rect">
            <a:avLst/>
          </a:prstGeom>
          <a:noFill/>
          <a:ln/>
        </p:spPr>
        <p:txBody>
          <a:bodyPr wrap="square" lIns="0" tIns="0" rIns="0" bIns="0" rtlCol="0" anchor="ctr"/>
          <a:lstStyle/>
          <a:p>
            <a:pPr algn="ctr" indent="0" marL="0">
              <a:buNone/>
            </a:pPr>
            <a:r>
              <a:rPr lang="en-US" sz="1200" b="1" dirty="0">
                <a:solidFill>
                  <a:srgbClr val="17213F"/>
                </a:solidFill>
              </a:rPr>
              <a:t>Lead</a:t>
            </a:r>
            <a:endParaRPr lang="en-US" sz="1200" dirty="0"/>
          </a:p>
        </p:txBody>
      </p:sp>
      <p:sp>
        <p:nvSpPr>
          <p:cNvPr id="23" name="Text 20"/>
          <p:cNvSpPr/>
          <p:nvPr/>
        </p:nvSpPr>
        <p:spPr>
          <a:xfrm>
            <a:off x="7662672" y="2606040"/>
            <a:ext cx="1554480" cy="411480"/>
          </a:xfrm>
          <a:prstGeom prst="rect">
            <a:avLst/>
          </a:prstGeom>
          <a:noFill/>
          <a:ln/>
        </p:spPr>
        <p:txBody>
          <a:bodyPr wrap="square" lIns="254" tIns="254" rIns="254" bIns="254" rtlCol="0" anchor="ctr">
            <a:normAutofit/>
          </a:bodyPr>
          <a:lstStyle/>
          <a:p>
            <a:pPr algn="ctr" indent="0" marL="0">
              <a:buNone/>
            </a:pPr>
            <a:r>
              <a:rPr lang="en-US" sz="820" dirty="0">
                <a:solidFill>
                  <a:srgbClr val="1F2937"/>
                </a:solidFill>
              </a:rPr>
              <a:t>How do managers support adoption?</a:t>
            </a:r>
            <a:endParaRPr lang="en-US" sz="820" dirty="0"/>
          </a:p>
        </p:txBody>
      </p:sp>
      <p:sp>
        <p:nvSpPr>
          <p:cNvPr id="24" name="Shape 21"/>
          <p:cNvSpPr/>
          <p:nvPr/>
        </p:nvSpPr>
        <p:spPr>
          <a:xfrm>
            <a:off x="9390888" y="2395728"/>
            <a:ext cx="237744" cy="502920"/>
          </a:xfrm>
          <a:prstGeom prst="chevron">
            <a:avLst/>
          </a:prstGeom>
          <a:solidFill>
            <a:srgbClr val="A69BE8"/>
          </a:solidFill>
          <a:ln w="12700">
            <a:solidFill>
              <a:srgbClr val="A69BE8"/>
            </a:solidFill>
            <a:prstDash val="solid"/>
          </a:ln>
        </p:spPr>
      </p:sp>
      <p:sp>
        <p:nvSpPr>
          <p:cNvPr id="25" name="Shape 22"/>
          <p:cNvSpPr/>
          <p:nvPr/>
        </p:nvSpPr>
        <p:spPr>
          <a:xfrm>
            <a:off x="9738360" y="1965960"/>
            <a:ext cx="1874520" cy="1417320"/>
          </a:xfrm>
          <a:prstGeom prst="roundRect">
            <a:avLst>
              <a:gd name="adj" fmla="val 7742"/>
            </a:avLst>
          </a:prstGeom>
          <a:solidFill>
            <a:srgbClr val="FFFFFF"/>
          </a:solidFill>
          <a:ln w="12700">
            <a:solidFill>
              <a:srgbClr val="E5E7EB"/>
            </a:solidFill>
            <a:prstDash val="solid"/>
          </a:ln>
        </p:spPr>
      </p:sp>
      <p:sp>
        <p:nvSpPr>
          <p:cNvPr id="26" name="Text 23"/>
          <p:cNvSpPr/>
          <p:nvPr/>
        </p:nvSpPr>
        <p:spPr>
          <a:xfrm>
            <a:off x="9848088" y="2194560"/>
            <a:ext cx="1645920" cy="228600"/>
          </a:xfrm>
          <a:prstGeom prst="rect">
            <a:avLst/>
          </a:prstGeom>
          <a:noFill/>
          <a:ln/>
        </p:spPr>
        <p:txBody>
          <a:bodyPr wrap="square" lIns="0" tIns="0" rIns="0" bIns="0" rtlCol="0" anchor="ctr"/>
          <a:lstStyle/>
          <a:p>
            <a:pPr algn="ctr" indent="0" marL="0">
              <a:buNone/>
            </a:pPr>
            <a:r>
              <a:rPr lang="en-US" sz="1200" b="1" dirty="0">
                <a:solidFill>
                  <a:srgbClr val="17213F"/>
                </a:solidFill>
              </a:rPr>
              <a:t>Measure</a:t>
            </a:r>
            <a:endParaRPr lang="en-US" sz="1200" dirty="0"/>
          </a:p>
        </p:txBody>
      </p:sp>
      <p:sp>
        <p:nvSpPr>
          <p:cNvPr id="27" name="Text 24"/>
          <p:cNvSpPr/>
          <p:nvPr/>
        </p:nvSpPr>
        <p:spPr>
          <a:xfrm>
            <a:off x="9902952" y="2606040"/>
            <a:ext cx="1554480" cy="411480"/>
          </a:xfrm>
          <a:prstGeom prst="rect">
            <a:avLst/>
          </a:prstGeom>
          <a:noFill/>
          <a:ln/>
        </p:spPr>
        <p:txBody>
          <a:bodyPr wrap="square" lIns="254" tIns="254" rIns="254" bIns="254" rtlCol="0" anchor="ctr">
            <a:normAutofit/>
          </a:bodyPr>
          <a:lstStyle/>
          <a:p>
            <a:pPr algn="ctr" indent="0" marL="0">
              <a:buNone/>
            </a:pPr>
            <a:r>
              <a:rPr lang="en-US" sz="820" dirty="0">
                <a:solidFill>
                  <a:srgbClr val="1F2937"/>
                </a:solidFill>
              </a:rPr>
              <a:t>How do we know the change is working?</a:t>
            </a:r>
            <a:endParaRPr lang="en-US" sz="820" dirty="0"/>
          </a:p>
        </p:txBody>
      </p:sp>
      <p:sp>
        <p:nvSpPr>
          <p:cNvPr id="28" name="Shape 25"/>
          <p:cNvSpPr/>
          <p:nvPr/>
        </p:nvSpPr>
        <p:spPr>
          <a:xfrm>
            <a:off x="1005840" y="4297680"/>
            <a:ext cx="10149840" cy="1097280"/>
          </a:xfrm>
          <a:prstGeom prst="roundRect">
            <a:avLst>
              <a:gd name="adj" fmla="val 10000"/>
            </a:avLst>
          </a:prstGeom>
          <a:solidFill>
            <a:srgbClr val="FFFFFF"/>
          </a:solidFill>
          <a:ln w="12700">
            <a:solidFill>
              <a:srgbClr val="E5E7EB"/>
            </a:solidFill>
            <a:prstDash val="solid"/>
          </a:ln>
        </p:spPr>
      </p:sp>
      <p:sp>
        <p:nvSpPr>
          <p:cNvPr id="29" name="Shape 26"/>
          <p:cNvSpPr/>
          <p:nvPr/>
        </p:nvSpPr>
        <p:spPr>
          <a:xfrm>
            <a:off x="1005840" y="4297680"/>
            <a:ext cx="91440" cy="1097280"/>
          </a:xfrm>
          <a:prstGeom prst="rect">
            <a:avLst/>
          </a:prstGeom>
          <a:solidFill>
            <a:srgbClr val="DDF7EC"/>
          </a:solidFill>
          <a:ln w="12700">
            <a:solidFill>
              <a:srgbClr val="DDF7EC"/>
            </a:solidFill>
            <a:prstDash val="solid"/>
          </a:ln>
        </p:spPr>
      </p:sp>
      <p:sp>
        <p:nvSpPr>
          <p:cNvPr id="30" name="Text 27"/>
          <p:cNvSpPr/>
          <p:nvPr/>
        </p:nvSpPr>
        <p:spPr>
          <a:xfrm>
            <a:off x="1234440" y="4462272"/>
            <a:ext cx="9738360" cy="228600"/>
          </a:xfrm>
          <a:prstGeom prst="rect">
            <a:avLst/>
          </a:prstGeom>
          <a:noFill/>
          <a:ln/>
        </p:spPr>
        <p:txBody>
          <a:bodyPr wrap="square" lIns="0" tIns="0" rIns="0" bIns="0" rtlCol="0" anchor="ctr"/>
          <a:lstStyle/>
          <a:p>
            <a:pPr indent="0" marL="0">
              <a:buNone/>
            </a:pPr>
            <a:r>
              <a:rPr lang="en-US" sz="1100" b="1" dirty="0">
                <a:solidFill>
                  <a:srgbClr val="17213F"/>
                </a:solidFill>
              </a:rPr>
              <a:t>Facilitator message</a:t>
            </a:r>
            <a:endParaRPr lang="en-US" sz="1100" dirty="0"/>
          </a:p>
        </p:txBody>
      </p:sp>
      <p:sp>
        <p:nvSpPr>
          <p:cNvPr id="31" name="Text 28"/>
          <p:cNvSpPr/>
          <p:nvPr/>
        </p:nvSpPr>
        <p:spPr>
          <a:xfrm>
            <a:off x="1261872" y="4809744"/>
            <a:ext cx="9674352" cy="457200"/>
          </a:xfrm>
          <a:prstGeom prst="rect">
            <a:avLst/>
          </a:prstGeom>
          <a:noFill/>
          <a:ln/>
        </p:spPr>
        <p:txBody>
          <a:bodyPr wrap="square" lIns="254" tIns="254" rIns="254" bIns="254" rtlCol="0" anchor="ctr">
            <a:normAutofit/>
          </a:bodyPr>
          <a:lstStyle/>
          <a:p>
            <a:pPr indent="0" marL="0">
              <a:buNone/>
            </a:pPr>
            <a:r>
              <a:rPr lang="en-US" sz="870" dirty="0">
                <a:solidFill>
                  <a:srgbClr val="1F2937"/>
                </a:solidFill>
              </a:rPr>
              <a:t>Change enablement is successful when employees can explain the change, connect it to their work, practice new behaviors, and use feedback to improve adoption.</a:t>
            </a:r>
            <a:endParaRPr lang="en-US" sz="87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7FB"/>
        </a:solidFill>
      </p:bgPr>
    </p:bg>
    <p:spTree>
      <p:nvGrpSpPr>
        <p:cNvPr id="1" name=""/>
        <p:cNvGrpSpPr/>
        <p:nvPr/>
      </p:nvGrpSpPr>
      <p:grpSpPr>
        <a:xfrm>
          <a:off x="0" y="0"/>
          <a:ext cx="0" cy="0"/>
          <a:chOff x="0" y="0"/>
          <a:chExt cx="0" cy="0"/>
        </a:xfrm>
      </p:grpSpPr>
      <p:sp>
        <p:nvSpPr>
          <p:cNvPr id="2" name="Shape 0"/>
          <p:cNvSpPr/>
          <p:nvPr/>
        </p:nvSpPr>
        <p:spPr>
          <a:xfrm>
            <a:off x="0" y="0"/>
            <a:ext cx="12191695" cy="329184"/>
          </a:xfrm>
          <a:prstGeom prst="rect">
            <a:avLst/>
          </a:prstGeom>
          <a:solidFill>
            <a:srgbClr val="17213F"/>
          </a:solidFill>
          <a:ln w="12700">
            <a:solidFill>
              <a:srgbClr val="17213F"/>
            </a:solidFill>
            <a:prstDash val="solid"/>
          </a:ln>
        </p:spPr>
      </p:sp>
      <p:sp>
        <p:nvSpPr>
          <p:cNvPr id="3" name="Text 1"/>
          <p:cNvSpPr/>
          <p:nvPr/>
        </p:nvSpPr>
        <p:spPr>
          <a:xfrm>
            <a:off x="411480" y="68580"/>
            <a:ext cx="4114800" cy="164592"/>
          </a:xfrm>
          <a:prstGeom prst="rect">
            <a:avLst/>
          </a:prstGeom>
          <a:noFill/>
          <a:ln/>
        </p:spPr>
        <p:txBody>
          <a:bodyPr wrap="square" lIns="0" tIns="0" rIns="0" bIns="0" rtlCol="0" anchor="ctr"/>
          <a:lstStyle/>
          <a:p>
            <a:pPr indent="0" marL="0">
              <a:buNone/>
            </a:pPr>
            <a:r>
              <a:rPr lang="en-US" sz="750" b="1" dirty="0">
                <a:solidFill>
                  <a:srgbClr val="FFFFFF"/>
                </a:solidFill>
                <a:latin typeface="Aptos" pitchFamily="34" charset="0"/>
                <a:ea typeface="Aptos" pitchFamily="34" charset="-122"/>
                <a:cs typeface="Aptos" pitchFamily="34" charset="-120"/>
              </a:rPr>
              <a:t>WEEK 1</a:t>
            </a:r>
            <a:endParaRPr lang="en-US" sz="750" dirty="0"/>
          </a:p>
        </p:txBody>
      </p:sp>
      <p:sp>
        <p:nvSpPr>
          <p:cNvPr id="4" name="Text 2"/>
          <p:cNvSpPr/>
          <p:nvPr/>
        </p:nvSpPr>
        <p:spPr>
          <a:xfrm>
            <a:off x="8778240" y="68580"/>
            <a:ext cx="3017520" cy="164592"/>
          </a:xfrm>
          <a:prstGeom prst="rect">
            <a:avLst/>
          </a:prstGeom>
          <a:noFill/>
          <a:ln/>
        </p:spPr>
        <p:txBody>
          <a:bodyPr wrap="square" lIns="0" tIns="0" rIns="0" bIns="0" rtlCol="0" anchor="ctr"/>
          <a:lstStyle/>
          <a:p>
            <a:pPr algn="r" indent="0" marL="0">
              <a:buNone/>
            </a:pPr>
            <a:r>
              <a:rPr lang="en-US" sz="750" dirty="0">
                <a:solidFill>
                  <a:srgbClr val="FFFFFF"/>
                </a:solidFill>
              </a:rPr>
              <a:t>Portfolio Training Deck</a:t>
            </a:r>
            <a:endParaRPr lang="en-US" sz="750" dirty="0"/>
          </a:p>
        </p:txBody>
      </p:sp>
      <p:sp>
        <p:nvSpPr>
          <p:cNvPr id="5" name="Shape 3"/>
          <p:cNvSpPr/>
          <p:nvPr/>
        </p:nvSpPr>
        <p:spPr>
          <a:xfrm>
            <a:off x="411480" y="6510528"/>
            <a:ext cx="11384280" cy="9144"/>
          </a:xfrm>
          <a:prstGeom prst="rect">
            <a:avLst/>
          </a:prstGeom>
          <a:solidFill>
            <a:srgbClr val="E5E7EB"/>
          </a:solidFill>
          <a:ln w="12700">
            <a:solidFill>
              <a:srgbClr val="E5E7EB"/>
            </a:solidFill>
            <a:prstDash val="solid"/>
          </a:ln>
        </p:spPr>
      </p:sp>
      <p:sp>
        <p:nvSpPr>
          <p:cNvPr id="6" name="Text 4"/>
          <p:cNvSpPr/>
          <p:nvPr/>
        </p:nvSpPr>
        <p:spPr>
          <a:xfrm>
            <a:off x="594360" y="566928"/>
            <a:ext cx="10789920" cy="384048"/>
          </a:xfrm>
          <a:prstGeom prst="rect">
            <a:avLst/>
          </a:prstGeom>
          <a:noFill/>
          <a:ln/>
        </p:spPr>
        <p:txBody>
          <a:bodyPr wrap="square" lIns="381" tIns="381" rIns="381" bIns="381" rtlCol="0" anchor="ctr">
            <a:normAutofit/>
          </a:bodyPr>
          <a:lstStyle/>
          <a:p>
            <a:pPr indent="0" marL="0">
              <a:buNone/>
            </a:pPr>
            <a:r>
              <a:rPr lang="en-US" sz="2500" b="1" dirty="0">
                <a:solidFill>
                  <a:srgbClr val="17213F"/>
                </a:solidFill>
                <a:latin typeface="Aptos Display" pitchFamily="34" charset="0"/>
                <a:ea typeface="Aptos Display" pitchFamily="34" charset="-122"/>
                <a:cs typeface="Aptos Display" pitchFamily="34" charset="-120"/>
              </a:rPr>
              <a:t>Week 1: Understanding the Change</a:t>
            </a:r>
            <a:endParaRPr lang="en-US" sz="2500" dirty="0"/>
          </a:p>
        </p:txBody>
      </p:sp>
      <p:sp>
        <p:nvSpPr>
          <p:cNvPr id="7" name="Text 5"/>
          <p:cNvSpPr/>
          <p:nvPr/>
        </p:nvSpPr>
        <p:spPr>
          <a:xfrm>
            <a:off x="612648" y="996696"/>
            <a:ext cx="10698480" cy="237744"/>
          </a:xfrm>
          <a:prstGeom prst="rect">
            <a:avLst/>
          </a:prstGeom>
          <a:noFill/>
          <a:ln/>
        </p:spPr>
        <p:txBody>
          <a:bodyPr wrap="square" lIns="0" tIns="0" rIns="0" bIns="0" rtlCol="0" anchor="ctr">
            <a:normAutofit/>
          </a:bodyPr>
          <a:lstStyle/>
          <a:p>
            <a:pPr indent="0" marL="0">
              <a:buNone/>
            </a:pPr>
            <a:r>
              <a:rPr lang="en-US" sz="1120" dirty="0">
                <a:solidFill>
                  <a:srgbClr val="6B7280"/>
                </a:solidFill>
              </a:rPr>
              <a:t>Clarifying the why before asking people to change behavior</a:t>
            </a:r>
            <a:endParaRPr lang="en-US" sz="1120" dirty="0"/>
          </a:p>
        </p:txBody>
      </p:sp>
      <p:sp>
        <p:nvSpPr>
          <p:cNvPr id="9" name="Shape 6"/>
          <p:cNvSpPr/>
          <p:nvPr/>
        </p:nvSpPr>
        <p:spPr>
          <a:xfrm>
            <a:off x="685800" y="1417320"/>
            <a:ext cx="5212080" cy="2331720"/>
          </a:xfrm>
          <a:prstGeom prst="roundRect">
            <a:avLst>
              <a:gd name="adj" fmla="val 4706"/>
            </a:avLst>
          </a:prstGeom>
          <a:solidFill>
            <a:srgbClr val="FFFFFF"/>
          </a:solidFill>
          <a:ln w="12700">
            <a:solidFill>
              <a:srgbClr val="E5E7EB"/>
            </a:solidFill>
            <a:prstDash val="solid"/>
          </a:ln>
        </p:spPr>
      </p:sp>
      <p:sp>
        <p:nvSpPr>
          <p:cNvPr id="10" name="Shape 7"/>
          <p:cNvSpPr/>
          <p:nvPr/>
        </p:nvSpPr>
        <p:spPr>
          <a:xfrm>
            <a:off x="685800" y="1417320"/>
            <a:ext cx="91440" cy="2331720"/>
          </a:xfrm>
          <a:prstGeom prst="rect">
            <a:avLst/>
          </a:prstGeom>
          <a:solidFill>
            <a:srgbClr val="DDEBFF"/>
          </a:solidFill>
          <a:ln w="12700">
            <a:solidFill>
              <a:srgbClr val="DDEBFF"/>
            </a:solidFill>
            <a:prstDash val="solid"/>
          </a:ln>
        </p:spPr>
      </p:sp>
      <p:sp>
        <p:nvSpPr>
          <p:cNvPr id="11" name="Text 8"/>
          <p:cNvSpPr/>
          <p:nvPr/>
        </p:nvSpPr>
        <p:spPr>
          <a:xfrm>
            <a:off x="914400" y="1581912"/>
            <a:ext cx="4800600" cy="228600"/>
          </a:xfrm>
          <a:prstGeom prst="rect">
            <a:avLst/>
          </a:prstGeom>
          <a:noFill/>
          <a:ln/>
        </p:spPr>
        <p:txBody>
          <a:bodyPr wrap="square" lIns="0" tIns="0" rIns="0" bIns="0" rtlCol="0" anchor="ctr"/>
          <a:lstStyle/>
          <a:p>
            <a:pPr indent="0" marL="0">
              <a:buNone/>
            </a:pPr>
            <a:r>
              <a:rPr lang="en-US" sz="1100" b="1" dirty="0">
                <a:solidFill>
                  <a:srgbClr val="17213F"/>
                </a:solidFill>
              </a:rPr>
              <a:t>Session focus</a:t>
            </a:r>
            <a:endParaRPr lang="en-US" sz="1100" dirty="0"/>
          </a:p>
        </p:txBody>
      </p:sp>
      <p:sp>
        <p:nvSpPr>
          <p:cNvPr id="12" name="Text 9"/>
          <p:cNvSpPr/>
          <p:nvPr/>
        </p:nvSpPr>
        <p:spPr>
          <a:xfrm>
            <a:off x="941832" y="1929384"/>
            <a:ext cx="4736592" cy="1691640"/>
          </a:xfrm>
          <a:prstGeom prst="rect">
            <a:avLst/>
          </a:prstGeom>
          <a:noFill/>
          <a:ln/>
        </p:spPr>
        <p:txBody>
          <a:bodyPr wrap="square" lIns="254" tIns="254" rIns="254" bIns="254" rtlCol="0" anchor="ctr">
            <a:normAutofit/>
          </a:bodyPr>
          <a:lstStyle/>
          <a:p>
            <a:pPr indent="0" marL="0">
              <a:buNone/>
            </a:pPr>
            <a:r>
              <a:rPr lang="en-US" sz="870" dirty="0">
                <a:solidFill>
                  <a:srgbClr val="1F2937"/>
                </a:solidFill>
              </a:rPr>
              <a:t>• Market pressure and technology innovation</a:t>
            </a:r>
            <a:endParaRPr lang="en-US" sz="870" dirty="0"/>
          </a:p>
          <a:p>
            <a:pPr indent="0" marL="0">
              <a:buNone/>
            </a:pPr>
            <a:r>
              <a:rPr lang="en-US" sz="870" dirty="0">
                <a:solidFill>
                  <a:srgbClr val="1F2937"/>
                </a:solidFill>
              </a:rPr>
              <a:t>• Customer expectations and competitive dynamics</a:t>
            </a:r>
            <a:endParaRPr lang="en-US" sz="870" dirty="0"/>
          </a:p>
          <a:p>
            <a:pPr indent="0" marL="0">
              <a:buNone/>
            </a:pPr>
            <a:r>
              <a:rPr lang="en-US" sz="870" dirty="0">
                <a:solidFill>
                  <a:srgbClr val="1F2937"/>
                </a:solidFill>
              </a:rPr>
              <a:t>• Why the current model is no longer enough</a:t>
            </a:r>
            <a:endParaRPr lang="en-US" sz="870" dirty="0"/>
          </a:p>
          <a:p>
            <a:pPr indent="0" marL="0">
              <a:buNone/>
            </a:pPr>
            <a:r>
              <a:rPr lang="en-US" sz="870" dirty="0">
                <a:solidFill>
                  <a:srgbClr val="1F2937"/>
                </a:solidFill>
              </a:rPr>
              <a:t>• What the organization is trying to become</a:t>
            </a:r>
            <a:endParaRPr lang="en-US" sz="870" dirty="0"/>
          </a:p>
          <a:p>
            <a:pPr indent="0" marL="0">
              <a:buNone/>
            </a:pPr>
            <a:r>
              <a:rPr lang="en-US" sz="870" dirty="0">
                <a:solidFill>
                  <a:srgbClr val="1F2937"/>
                </a:solidFill>
              </a:rPr>
              <a:t>• What stays the same and what changes</a:t>
            </a:r>
            <a:endParaRPr lang="en-US" sz="870" dirty="0"/>
          </a:p>
        </p:txBody>
      </p:sp>
      <p:sp>
        <p:nvSpPr>
          <p:cNvPr id="13" name="Shape 10"/>
          <p:cNvSpPr/>
          <p:nvPr/>
        </p:nvSpPr>
        <p:spPr>
          <a:xfrm>
            <a:off x="6309360" y="1417320"/>
            <a:ext cx="5212080" cy="2331720"/>
          </a:xfrm>
          <a:prstGeom prst="roundRect">
            <a:avLst>
              <a:gd name="adj" fmla="val 4706"/>
            </a:avLst>
          </a:prstGeom>
          <a:solidFill>
            <a:srgbClr val="FFFFFF"/>
          </a:solidFill>
          <a:ln w="12700">
            <a:solidFill>
              <a:srgbClr val="E5E7EB"/>
            </a:solidFill>
            <a:prstDash val="solid"/>
          </a:ln>
        </p:spPr>
      </p:sp>
      <p:sp>
        <p:nvSpPr>
          <p:cNvPr id="14" name="Shape 11"/>
          <p:cNvSpPr/>
          <p:nvPr/>
        </p:nvSpPr>
        <p:spPr>
          <a:xfrm>
            <a:off x="6309360" y="1417320"/>
            <a:ext cx="91440" cy="2331720"/>
          </a:xfrm>
          <a:prstGeom prst="rect">
            <a:avLst/>
          </a:prstGeom>
          <a:solidFill>
            <a:srgbClr val="F1EEFF"/>
          </a:solidFill>
          <a:ln w="12700">
            <a:solidFill>
              <a:srgbClr val="F1EEFF"/>
            </a:solidFill>
            <a:prstDash val="solid"/>
          </a:ln>
        </p:spPr>
      </p:sp>
      <p:sp>
        <p:nvSpPr>
          <p:cNvPr id="15" name="Text 12"/>
          <p:cNvSpPr/>
          <p:nvPr/>
        </p:nvSpPr>
        <p:spPr>
          <a:xfrm>
            <a:off x="6537960" y="1581912"/>
            <a:ext cx="4800600" cy="228600"/>
          </a:xfrm>
          <a:prstGeom prst="rect">
            <a:avLst/>
          </a:prstGeom>
          <a:noFill/>
          <a:ln/>
        </p:spPr>
        <p:txBody>
          <a:bodyPr wrap="square" lIns="0" tIns="0" rIns="0" bIns="0" rtlCol="0" anchor="ctr"/>
          <a:lstStyle/>
          <a:p>
            <a:pPr indent="0" marL="0">
              <a:buNone/>
            </a:pPr>
            <a:r>
              <a:rPr lang="en-US" sz="1100" b="1" dirty="0">
                <a:solidFill>
                  <a:srgbClr val="17213F"/>
                </a:solidFill>
              </a:rPr>
              <a:t>Activity: Change Narrative Map</a:t>
            </a:r>
            <a:endParaRPr lang="en-US" sz="1100" dirty="0"/>
          </a:p>
        </p:txBody>
      </p:sp>
      <p:sp>
        <p:nvSpPr>
          <p:cNvPr id="16" name="Text 13"/>
          <p:cNvSpPr/>
          <p:nvPr/>
        </p:nvSpPr>
        <p:spPr>
          <a:xfrm>
            <a:off x="6565392" y="1929384"/>
            <a:ext cx="4736592" cy="1691640"/>
          </a:xfrm>
          <a:prstGeom prst="rect">
            <a:avLst/>
          </a:prstGeom>
          <a:noFill/>
          <a:ln/>
        </p:spPr>
        <p:txBody>
          <a:bodyPr wrap="square" lIns="254" tIns="254" rIns="254" bIns="254" rtlCol="0" anchor="ctr">
            <a:normAutofit/>
          </a:bodyPr>
          <a:lstStyle/>
          <a:p>
            <a:pPr indent="0" marL="0">
              <a:buNone/>
            </a:pPr>
            <a:r>
              <a:rPr lang="en-US" sz="870" dirty="0">
                <a:solidFill>
                  <a:srgbClr val="1F2937"/>
                </a:solidFill>
              </a:rPr>
              <a:t>• What is the change?</a:t>
            </a:r>
            <a:endParaRPr lang="en-US" sz="870" dirty="0"/>
          </a:p>
          <a:p>
            <a:pPr indent="0" marL="0">
              <a:buNone/>
            </a:pPr>
            <a:r>
              <a:rPr lang="en-US" sz="870" dirty="0">
                <a:solidFill>
                  <a:srgbClr val="1F2937"/>
                </a:solidFill>
              </a:rPr>
              <a:t>• Why now?</a:t>
            </a:r>
            <a:endParaRPr lang="en-US" sz="870" dirty="0"/>
          </a:p>
          <a:p>
            <a:pPr indent="0" marL="0">
              <a:buNone/>
            </a:pPr>
            <a:r>
              <a:rPr lang="en-US" sz="870" dirty="0">
                <a:solidFill>
                  <a:srgbClr val="1F2937"/>
                </a:solidFill>
              </a:rPr>
              <a:t>• What problem does it solve?</a:t>
            </a:r>
            <a:endParaRPr lang="en-US" sz="870" dirty="0"/>
          </a:p>
          <a:p>
            <a:pPr indent="0" marL="0">
              <a:buNone/>
            </a:pPr>
            <a:r>
              <a:rPr lang="en-US" sz="870" dirty="0">
                <a:solidFill>
                  <a:srgbClr val="1F2937"/>
                </a:solidFill>
              </a:rPr>
              <a:t>• Who is affected?</a:t>
            </a:r>
            <a:endParaRPr lang="en-US" sz="870" dirty="0"/>
          </a:p>
          <a:p>
            <a:pPr indent="0" marL="0">
              <a:buNone/>
            </a:pPr>
            <a:r>
              <a:rPr lang="en-US" sz="870" dirty="0">
                <a:solidFill>
                  <a:srgbClr val="1F2937"/>
                </a:solidFill>
              </a:rPr>
              <a:t>• What are the risks of not changing?</a:t>
            </a:r>
            <a:endParaRPr lang="en-US" sz="870" dirty="0"/>
          </a:p>
        </p:txBody>
      </p:sp>
      <p:sp>
        <p:nvSpPr>
          <p:cNvPr id="17" name="Shape 14"/>
          <p:cNvSpPr/>
          <p:nvPr/>
        </p:nvSpPr>
        <p:spPr>
          <a:xfrm>
            <a:off x="868680" y="4343400"/>
            <a:ext cx="10424160" cy="868680"/>
          </a:xfrm>
          <a:prstGeom prst="roundRect">
            <a:avLst>
              <a:gd name="adj" fmla="val 10526"/>
            </a:avLst>
          </a:prstGeom>
          <a:solidFill>
            <a:srgbClr val="FFFFFF"/>
          </a:solidFill>
          <a:ln w="12700">
            <a:solidFill>
              <a:srgbClr val="E5E7EB">
                <a:alpha val="85000"/>
              </a:srgbClr>
            </a:solidFill>
            <a:prstDash val="solid"/>
          </a:ln>
        </p:spPr>
      </p:sp>
      <p:sp>
        <p:nvSpPr>
          <p:cNvPr id="18" name="Text 15"/>
          <p:cNvSpPr/>
          <p:nvPr/>
        </p:nvSpPr>
        <p:spPr>
          <a:xfrm>
            <a:off x="1033272" y="4489704"/>
            <a:ext cx="10094976" cy="201168"/>
          </a:xfrm>
          <a:prstGeom prst="rect">
            <a:avLst/>
          </a:prstGeom>
          <a:noFill/>
          <a:ln/>
        </p:spPr>
        <p:txBody>
          <a:bodyPr wrap="square" lIns="0" tIns="0" rIns="0" bIns="0" rtlCol="0" anchor="ctr"/>
          <a:lstStyle/>
          <a:p>
            <a:pPr indent="0" marL="0">
              <a:buNone/>
            </a:pPr>
            <a:r>
              <a:rPr lang="en-US" sz="1030" b="1" dirty="0">
                <a:solidFill>
                  <a:srgbClr val="17213F"/>
                </a:solidFill>
              </a:rPr>
              <a:t>Output</a:t>
            </a:r>
            <a:endParaRPr lang="en-US" sz="1030" dirty="0"/>
          </a:p>
        </p:txBody>
      </p:sp>
      <p:sp>
        <p:nvSpPr>
          <p:cNvPr id="19" name="Text 16"/>
          <p:cNvSpPr/>
          <p:nvPr/>
        </p:nvSpPr>
        <p:spPr>
          <a:xfrm>
            <a:off x="1033272" y="4782312"/>
            <a:ext cx="10094976" cy="30175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A simple change narrative that managers and employees can use to explain the transformation consistently.</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6F7FB"/>
        </a:solidFill>
      </p:bgPr>
    </p:bg>
    <p:spTree>
      <p:nvGrpSpPr>
        <p:cNvPr id="1" name=""/>
        <p:cNvGrpSpPr/>
        <p:nvPr/>
      </p:nvGrpSpPr>
      <p:grpSpPr>
        <a:xfrm>
          <a:off x="0" y="0"/>
          <a:ext cx="0" cy="0"/>
          <a:chOff x="0" y="0"/>
          <a:chExt cx="0" cy="0"/>
        </a:xfrm>
      </p:grpSpPr>
      <p:sp>
        <p:nvSpPr>
          <p:cNvPr id="2" name="Shape 0"/>
          <p:cNvSpPr/>
          <p:nvPr/>
        </p:nvSpPr>
        <p:spPr>
          <a:xfrm>
            <a:off x="0" y="0"/>
            <a:ext cx="12191695" cy="329184"/>
          </a:xfrm>
          <a:prstGeom prst="rect">
            <a:avLst/>
          </a:prstGeom>
          <a:solidFill>
            <a:srgbClr val="17213F"/>
          </a:solidFill>
          <a:ln w="12700">
            <a:solidFill>
              <a:srgbClr val="17213F"/>
            </a:solidFill>
            <a:prstDash val="solid"/>
          </a:ln>
        </p:spPr>
      </p:sp>
      <p:sp>
        <p:nvSpPr>
          <p:cNvPr id="3" name="Text 1"/>
          <p:cNvSpPr/>
          <p:nvPr/>
        </p:nvSpPr>
        <p:spPr>
          <a:xfrm>
            <a:off x="411480" y="68580"/>
            <a:ext cx="4114800" cy="164592"/>
          </a:xfrm>
          <a:prstGeom prst="rect">
            <a:avLst/>
          </a:prstGeom>
          <a:noFill/>
          <a:ln/>
        </p:spPr>
        <p:txBody>
          <a:bodyPr wrap="square" lIns="0" tIns="0" rIns="0" bIns="0" rtlCol="0" anchor="ctr"/>
          <a:lstStyle/>
          <a:p>
            <a:pPr indent="0" marL="0">
              <a:buNone/>
            </a:pPr>
            <a:r>
              <a:rPr lang="en-US" sz="750" b="1" dirty="0">
                <a:solidFill>
                  <a:srgbClr val="FFFFFF"/>
                </a:solidFill>
                <a:latin typeface="Aptos" pitchFamily="34" charset="0"/>
                <a:ea typeface="Aptos" pitchFamily="34" charset="-122"/>
                <a:cs typeface="Aptos" pitchFamily="34" charset="-120"/>
              </a:rPr>
              <a:t>ACTIVITY</a:t>
            </a:r>
            <a:endParaRPr lang="en-US" sz="750" dirty="0"/>
          </a:p>
        </p:txBody>
      </p:sp>
      <p:sp>
        <p:nvSpPr>
          <p:cNvPr id="4" name="Text 2"/>
          <p:cNvSpPr/>
          <p:nvPr/>
        </p:nvSpPr>
        <p:spPr>
          <a:xfrm>
            <a:off x="8778240" y="68580"/>
            <a:ext cx="3017520" cy="164592"/>
          </a:xfrm>
          <a:prstGeom prst="rect">
            <a:avLst/>
          </a:prstGeom>
          <a:noFill/>
          <a:ln/>
        </p:spPr>
        <p:txBody>
          <a:bodyPr wrap="square" lIns="0" tIns="0" rIns="0" bIns="0" rtlCol="0" anchor="ctr"/>
          <a:lstStyle/>
          <a:p>
            <a:pPr algn="r" indent="0" marL="0">
              <a:buNone/>
            </a:pPr>
            <a:r>
              <a:rPr lang="en-US" sz="750" dirty="0">
                <a:solidFill>
                  <a:srgbClr val="FFFFFF"/>
                </a:solidFill>
              </a:rPr>
              <a:t>Portfolio Training Deck</a:t>
            </a:r>
            <a:endParaRPr lang="en-US" sz="750" dirty="0"/>
          </a:p>
        </p:txBody>
      </p:sp>
      <p:sp>
        <p:nvSpPr>
          <p:cNvPr id="5" name="Shape 3"/>
          <p:cNvSpPr/>
          <p:nvPr/>
        </p:nvSpPr>
        <p:spPr>
          <a:xfrm>
            <a:off x="411480" y="6510528"/>
            <a:ext cx="11384280" cy="9144"/>
          </a:xfrm>
          <a:prstGeom prst="rect">
            <a:avLst/>
          </a:prstGeom>
          <a:solidFill>
            <a:srgbClr val="E5E7EB"/>
          </a:solidFill>
          <a:ln w="12700">
            <a:solidFill>
              <a:srgbClr val="E5E7EB"/>
            </a:solidFill>
            <a:prstDash val="solid"/>
          </a:ln>
        </p:spPr>
      </p:sp>
      <p:sp>
        <p:nvSpPr>
          <p:cNvPr id="6" name="Text 4"/>
          <p:cNvSpPr/>
          <p:nvPr/>
        </p:nvSpPr>
        <p:spPr>
          <a:xfrm>
            <a:off x="594360" y="566928"/>
            <a:ext cx="10789920" cy="384048"/>
          </a:xfrm>
          <a:prstGeom prst="rect">
            <a:avLst/>
          </a:prstGeom>
          <a:noFill/>
          <a:ln/>
        </p:spPr>
        <p:txBody>
          <a:bodyPr wrap="square" lIns="381" tIns="381" rIns="381" bIns="381" rtlCol="0" anchor="ctr">
            <a:normAutofit/>
          </a:bodyPr>
          <a:lstStyle/>
          <a:p>
            <a:pPr indent="0" marL="0">
              <a:buNone/>
            </a:pPr>
            <a:r>
              <a:rPr lang="en-US" sz="2500" b="1" dirty="0">
                <a:solidFill>
                  <a:srgbClr val="17213F"/>
                </a:solidFill>
                <a:latin typeface="Aptos Display" pitchFamily="34" charset="0"/>
                <a:ea typeface="Aptos Display" pitchFamily="34" charset="-122"/>
                <a:cs typeface="Aptos Display" pitchFamily="34" charset="-120"/>
              </a:rPr>
              <a:t>Activity: Change Narrative Map</a:t>
            </a:r>
            <a:endParaRPr lang="en-US" sz="2500" dirty="0"/>
          </a:p>
        </p:txBody>
      </p:sp>
      <p:sp>
        <p:nvSpPr>
          <p:cNvPr id="7" name="Text 5"/>
          <p:cNvSpPr/>
          <p:nvPr/>
        </p:nvSpPr>
        <p:spPr>
          <a:xfrm>
            <a:off x="612648" y="996696"/>
            <a:ext cx="10698480" cy="237744"/>
          </a:xfrm>
          <a:prstGeom prst="rect">
            <a:avLst/>
          </a:prstGeom>
          <a:noFill/>
          <a:ln/>
        </p:spPr>
        <p:txBody>
          <a:bodyPr wrap="square" lIns="0" tIns="0" rIns="0" bIns="0" rtlCol="0" anchor="ctr">
            <a:normAutofit/>
          </a:bodyPr>
          <a:lstStyle/>
          <a:p>
            <a:pPr indent="0" marL="0">
              <a:buNone/>
            </a:pPr>
            <a:r>
              <a:rPr lang="en-US" sz="1120" dirty="0">
                <a:solidFill>
                  <a:srgbClr val="6B7280"/>
                </a:solidFill>
              </a:rPr>
              <a:t>Participants translate strategy into a clear story</a:t>
            </a:r>
            <a:endParaRPr lang="en-US" sz="1120" dirty="0"/>
          </a:p>
        </p:txBody>
      </p:sp>
      <p:sp>
        <p:nvSpPr>
          <p:cNvPr id="9" name="Shape 6"/>
          <p:cNvSpPr/>
          <p:nvPr/>
        </p:nvSpPr>
        <p:spPr>
          <a:xfrm>
            <a:off x="731520" y="1417320"/>
            <a:ext cx="5074920" cy="1005840"/>
          </a:xfrm>
          <a:prstGeom prst="roundRect">
            <a:avLst>
              <a:gd name="adj" fmla="val 9091"/>
            </a:avLst>
          </a:prstGeom>
          <a:solidFill>
            <a:srgbClr val="FFFFFF"/>
          </a:solidFill>
          <a:ln w="12700">
            <a:solidFill>
              <a:srgbClr val="E5E7EB">
                <a:alpha val="85000"/>
              </a:srgbClr>
            </a:solidFill>
            <a:prstDash val="solid"/>
          </a:ln>
        </p:spPr>
      </p:sp>
      <p:sp>
        <p:nvSpPr>
          <p:cNvPr id="10" name="Text 7"/>
          <p:cNvSpPr/>
          <p:nvPr/>
        </p:nvSpPr>
        <p:spPr>
          <a:xfrm>
            <a:off x="896112" y="1563624"/>
            <a:ext cx="4745736" cy="201168"/>
          </a:xfrm>
          <a:prstGeom prst="rect">
            <a:avLst/>
          </a:prstGeom>
          <a:noFill/>
          <a:ln/>
        </p:spPr>
        <p:txBody>
          <a:bodyPr wrap="square" lIns="0" tIns="0" rIns="0" bIns="0" rtlCol="0" anchor="ctr"/>
          <a:lstStyle/>
          <a:p>
            <a:pPr indent="0" marL="0">
              <a:buNone/>
            </a:pPr>
            <a:r>
              <a:rPr lang="en-US" sz="1030" b="1" dirty="0">
                <a:solidFill>
                  <a:srgbClr val="17213F"/>
                </a:solidFill>
              </a:rPr>
              <a:t>What is changing?</a:t>
            </a:r>
            <a:endParaRPr lang="en-US" sz="1030" dirty="0"/>
          </a:p>
        </p:txBody>
      </p:sp>
      <p:sp>
        <p:nvSpPr>
          <p:cNvPr id="11" name="Text 8"/>
          <p:cNvSpPr/>
          <p:nvPr/>
        </p:nvSpPr>
        <p:spPr>
          <a:xfrm>
            <a:off x="896112" y="1856232"/>
            <a:ext cx="4745736" cy="43891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Describe the change in one sentence.</a:t>
            </a:r>
            <a:endParaRPr lang="en-US" sz="850" dirty="0"/>
          </a:p>
        </p:txBody>
      </p:sp>
      <p:sp>
        <p:nvSpPr>
          <p:cNvPr id="12" name="Shape 9"/>
          <p:cNvSpPr/>
          <p:nvPr/>
        </p:nvSpPr>
        <p:spPr>
          <a:xfrm>
            <a:off x="6309360" y="1417320"/>
            <a:ext cx="5074920" cy="1005840"/>
          </a:xfrm>
          <a:prstGeom prst="roundRect">
            <a:avLst>
              <a:gd name="adj" fmla="val 9091"/>
            </a:avLst>
          </a:prstGeom>
          <a:solidFill>
            <a:srgbClr val="FFFFFF"/>
          </a:solidFill>
          <a:ln w="12700">
            <a:solidFill>
              <a:srgbClr val="E5E7EB">
                <a:alpha val="85000"/>
              </a:srgbClr>
            </a:solidFill>
            <a:prstDash val="solid"/>
          </a:ln>
        </p:spPr>
      </p:sp>
      <p:sp>
        <p:nvSpPr>
          <p:cNvPr id="13" name="Text 10"/>
          <p:cNvSpPr/>
          <p:nvPr/>
        </p:nvSpPr>
        <p:spPr>
          <a:xfrm>
            <a:off x="6473952" y="1563624"/>
            <a:ext cx="4745736" cy="201168"/>
          </a:xfrm>
          <a:prstGeom prst="rect">
            <a:avLst/>
          </a:prstGeom>
          <a:noFill/>
          <a:ln/>
        </p:spPr>
        <p:txBody>
          <a:bodyPr wrap="square" lIns="0" tIns="0" rIns="0" bIns="0" rtlCol="0" anchor="ctr"/>
          <a:lstStyle/>
          <a:p>
            <a:pPr indent="0" marL="0">
              <a:buNone/>
            </a:pPr>
            <a:r>
              <a:rPr lang="en-US" sz="1030" b="1" dirty="0">
                <a:solidFill>
                  <a:srgbClr val="17213F"/>
                </a:solidFill>
              </a:rPr>
              <a:t>Why now?</a:t>
            </a:r>
            <a:endParaRPr lang="en-US" sz="1030" dirty="0"/>
          </a:p>
        </p:txBody>
      </p:sp>
      <p:sp>
        <p:nvSpPr>
          <p:cNvPr id="14" name="Text 11"/>
          <p:cNvSpPr/>
          <p:nvPr/>
        </p:nvSpPr>
        <p:spPr>
          <a:xfrm>
            <a:off x="6473952" y="1856232"/>
            <a:ext cx="4745736" cy="43891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What market, customer, or technology pressure created the need?</a:t>
            </a:r>
            <a:endParaRPr lang="en-US" sz="850" dirty="0"/>
          </a:p>
        </p:txBody>
      </p:sp>
      <p:sp>
        <p:nvSpPr>
          <p:cNvPr id="15" name="Shape 12"/>
          <p:cNvSpPr/>
          <p:nvPr/>
        </p:nvSpPr>
        <p:spPr>
          <a:xfrm>
            <a:off x="731520" y="2834640"/>
            <a:ext cx="5074920" cy="1005840"/>
          </a:xfrm>
          <a:prstGeom prst="roundRect">
            <a:avLst>
              <a:gd name="adj" fmla="val 9091"/>
            </a:avLst>
          </a:prstGeom>
          <a:solidFill>
            <a:srgbClr val="FFFFFF"/>
          </a:solidFill>
          <a:ln w="12700">
            <a:solidFill>
              <a:srgbClr val="E5E7EB">
                <a:alpha val="85000"/>
              </a:srgbClr>
            </a:solidFill>
            <a:prstDash val="solid"/>
          </a:ln>
        </p:spPr>
      </p:sp>
      <p:sp>
        <p:nvSpPr>
          <p:cNvPr id="16" name="Text 13"/>
          <p:cNvSpPr/>
          <p:nvPr/>
        </p:nvSpPr>
        <p:spPr>
          <a:xfrm>
            <a:off x="896112" y="2980944"/>
            <a:ext cx="4745736" cy="201168"/>
          </a:xfrm>
          <a:prstGeom prst="rect">
            <a:avLst/>
          </a:prstGeom>
          <a:noFill/>
          <a:ln/>
        </p:spPr>
        <p:txBody>
          <a:bodyPr wrap="square" lIns="0" tIns="0" rIns="0" bIns="0" rtlCol="0" anchor="ctr"/>
          <a:lstStyle/>
          <a:p>
            <a:pPr indent="0" marL="0">
              <a:buNone/>
            </a:pPr>
            <a:r>
              <a:rPr lang="en-US" sz="1030" b="1" dirty="0">
                <a:solidFill>
                  <a:srgbClr val="17213F"/>
                </a:solidFill>
              </a:rPr>
              <a:t>What will improve?</a:t>
            </a:r>
            <a:endParaRPr lang="en-US" sz="1030" dirty="0"/>
          </a:p>
        </p:txBody>
      </p:sp>
      <p:sp>
        <p:nvSpPr>
          <p:cNvPr id="17" name="Text 14"/>
          <p:cNvSpPr/>
          <p:nvPr/>
        </p:nvSpPr>
        <p:spPr>
          <a:xfrm>
            <a:off x="896112" y="3273552"/>
            <a:ext cx="4745736" cy="43891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How will the change help the company, customers, or teams?</a:t>
            </a:r>
            <a:endParaRPr lang="en-US" sz="850" dirty="0"/>
          </a:p>
        </p:txBody>
      </p:sp>
      <p:sp>
        <p:nvSpPr>
          <p:cNvPr id="18" name="Shape 15"/>
          <p:cNvSpPr/>
          <p:nvPr/>
        </p:nvSpPr>
        <p:spPr>
          <a:xfrm>
            <a:off x="6309360" y="2834640"/>
            <a:ext cx="5074920" cy="1005840"/>
          </a:xfrm>
          <a:prstGeom prst="roundRect">
            <a:avLst>
              <a:gd name="adj" fmla="val 9091"/>
            </a:avLst>
          </a:prstGeom>
          <a:solidFill>
            <a:srgbClr val="FFFFFF"/>
          </a:solidFill>
          <a:ln w="12700">
            <a:solidFill>
              <a:srgbClr val="E5E7EB">
                <a:alpha val="85000"/>
              </a:srgbClr>
            </a:solidFill>
            <a:prstDash val="solid"/>
          </a:ln>
        </p:spPr>
      </p:sp>
      <p:sp>
        <p:nvSpPr>
          <p:cNvPr id="19" name="Text 16"/>
          <p:cNvSpPr/>
          <p:nvPr/>
        </p:nvSpPr>
        <p:spPr>
          <a:xfrm>
            <a:off x="6473952" y="2980944"/>
            <a:ext cx="4745736" cy="201168"/>
          </a:xfrm>
          <a:prstGeom prst="rect">
            <a:avLst/>
          </a:prstGeom>
          <a:noFill/>
          <a:ln/>
        </p:spPr>
        <p:txBody>
          <a:bodyPr wrap="square" lIns="0" tIns="0" rIns="0" bIns="0" rtlCol="0" anchor="ctr"/>
          <a:lstStyle/>
          <a:p>
            <a:pPr indent="0" marL="0">
              <a:buNone/>
            </a:pPr>
            <a:r>
              <a:rPr lang="en-US" sz="1030" b="1" dirty="0">
                <a:solidFill>
                  <a:srgbClr val="17213F"/>
                </a:solidFill>
              </a:rPr>
              <a:t>What is uncertain?</a:t>
            </a:r>
            <a:endParaRPr lang="en-US" sz="1030" dirty="0"/>
          </a:p>
        </p:txBody>
      </p:sp>
      <p:sp>
        <p:nvSpPr>
          <p:cNvPr id="20" name="Text 17"/>
          <p:cNvSpPr/>
          <p:nvPr/>
        </p:nvSpPr>
        <p:spPr>
          <a:xfrm>
            <a:off x="6473952" y="3273552"/>
            <a:ext cx="4745736" cy="43891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What questions still need answers?</a:t>
            </a:r>
            <a:endParaRPr lang="en-US" sz="850" dirty="0"/>
          </a:p>
        </p:txBody>
      </p:sp>
      <p:sp>
        <p:nvSpPr>
          <p:cNvPr id="21" name="Shape 18"/>
          <p:cNvSpPr/>
          <p:nvPr/>
        </p:nvSpPr>
        <p:spPr>
          <a:xfrm>
            <a:off x="731520" y="4251960"/>
            <a:ext cx="5074920" cy="1005840"/>
          </a:xfrm>
          <a:prstGeom prst="roundRect">
            <a:avLst>
              <a:gd name="adj" fmla="val 9091"/>
            </a:avLst>
          </a:prstGeom>
          <a:solidFill>
            <a:srgbClr val="DDF7EC"/>
          </a:solidFill>
          <a:ln w="12700">
            <a:solidFill>
              <a:srgbClr val="E5E7EB">
                <a:alpha val="85000"/>
              </a:srgbClr>
            </a:solidFill>
            <a:prstDash val="solid"/>
          </a:ln>
        </p:spPr>
      </p:sp>
      <p:sp>
        <p:nvSpPr>
          <p:cNvPr id="22" name="Text 19"/>
          <p:cNvSpPr/>
          <p:nvPr/>
        </p:nvSpPr>
        <p:spPr>
          <a:xfrm>
            <a:off x="896112" y="4398264"/>
            <a:ext cx="4745736" cy="201168"/>
          </a:xfrm>
          <a:prstGeom prst="rect">
            <a:avLst/>
          </a:prstGeom>
          <a:noFill/>
          <a:ln/>
        </p:spPr>
        <p:txBody>
          <a:bodyPr wrap="square" lIns="0" tIns="0" rIns="0" bIns="0" rtlCol="0" anchor="ctr"/>
          <a:lstStyle/>
          <a:p>
            <a:pPr indent="0" marL="0">
              <a:buNone/>
            </a:pPr>
            <a:r>
              <a:rPr lang="en-US" sz="1030" b="1" dirty="0">
                <a:solidFill>
                  <a:srgbClr val="17213F"/>
                </a:solidFill>
              </a:rPr>
              <a:t>How should we explain it?</a:t>
            </a:r>
            <a:endParaRPr lang="en-US" sz="1030" dirty="0"/>
          </a:p>
        </p:txBody>
      </p:sp>
      <p:sp>
        <p:nvSpPr>
          <p:cNvPr id="23" name="Text 20"/>
          <p:cNvSpPr/>
          <p:nvPr/>
        </p:nvSpPr>
        <p:spPr>
          <a:xfrm>
            <a:off x="896112" y="4690872"/>
            <a:ext cx="4745736" cy="43891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Write a simple message for employees or customers.</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7FB"/>
        </a:solidFill>
      </p:bgPr>
    </p:bg>
    <p:spTree>
      <p:nvGrpSpPr>
        <p:cNvPr id="1" name=""/>
        <p:cNvGrpSpPr/>
        <p:nvPr/>
      </p:nvGrpSpPr>
      <p:grpSpPr>
        <a:xfrm>
          <a:off x="0" y="0"/>
          <a:ext cx="0" cy="0"/>
          <a:chOff x="0" y="0"/>
          <a:chExt cx="0" cy="0"/>
        </a:xfrm>
      </p:grpSpPr>
      <p:sp>
        <p:nvSpPr>
          <p:cNvPr id="2" name="Shape 0"/>
          <p:cNvSpPr/>
          <p:nvPr/>
        </p:nvSpPr>
        <p:spPr>
          <a:xfrm>
            <a:off x="0" y="0"/>
            <a:ext cx="12191695" cy="329184"/>
          </a:xfrm>
          <a:prstGeom prst="rect">
            <a:avLst/>
          </a:prstGeom>
          <a:solidFill>
            <a:srgbClr val="17213F"/>
          </a:solidFill>
          <a:ln w="12700">
            <a:solidFill>
              <a:srgbClr val="17213F"/>
            </a:solidFill>
            <a:prstDash val="solid"/>
          </a:ln>
        </p:spPr>
      </p:sp>
      <p:sp>
        <p:nvSpPr>
          <p:cNvPr id="3" name="Text 1"/>
          <p:cNvSpPr/>
          <p:nvPr/>
        </p:nvSpPr>
        <p:spPr>
          <a:xfrm>
            <a:off x="411480" y="68580"/>
            <a:ext cx="4114800" cy="164592"/>
          </a:xfrm>
          <a:prstGeom prst="rect">
            <a:avLst/>
          </a:prstGeom>
          <a:noFill/>
          <a:ln/>
        </p:spPr>
        <p:txBody>
          <a:bodyPr wrap="square" lIns="0" tIns="0" rIns="0" bIns="0" rtlCol="0" anchor="ctr"/>
          <a:lstStyle/>
          <a:p>
            <a:pPr indent="0" marL="0">
              <a:buNone/>
            </a:pPr>
            <a:r>
              <a:rPr lang="en-US" sz="750" b="1" dirty="0">
                <a:solidFill>
                  <a:srgbClr val="FFFFFF"/>
                </a:solidFill>
                <a:latin typeface="Aptos" pitchFamily="34" charset="0"/>
                <a:ea typeface="Aptos" pitchFamily="34" charset="-122"/>
                <a:cs typeface="Aptos" pitchFamily="34" charset="-120"/>
              </a:rPr>
              <a:t>WEEK 2</a:t>
            </a:r>
            <a:endParaRPr lang="en-US" sz="750" dirty="0"/>
          </a:p>
        </p:txBody>
      </p:sp>
      <p:sp>
        <p:nvSpPr>
          <p:cNvPr id="4" name="Text 2"/>
          <p:cNvSpPr/>
          <p:nvPr/>
        </p:nvSpPr>
        <p:spPr>
          <a:xfrm>
            <a:off x="8778240" y="68580"/>
            <a:ext cx="3017520" cy="164592"/>
          </a:xfrm>
          <a:prstGeom prst="rect">
            <a:avLst/>
          </a:prstGeom>
          <a:noFill/>
          <a:ln/>
        </p:spPr>
        <p:txBody>
          <a:bodyPr wrap="square" lIns="0" tIns="0" rIns="0" bIns="0" rtlCol="0" anchor="ctr"/>
          <a:lstStyle/>
          <a:p>
            <a:pPr algn="r" indent="0" marL="0">
              <a:buNone/>
            </a:pPr>
            <a:r>
              <a:rPr lang="en-US" sz="750" dirty="0">
                <a:solidFill>
                  <a:srgbClr val="FFFFFF"/>
                </a:solidFill>
              </a:rPr>
              <a:t>Portfolio Training Deck</a:t>
            </a:r>
            <a:endParaRPr lang="en-US" sz="750" dirty="0"/>
          </a:p>
        </p:txBody>
      </p:sp>
      <p:sp>
        <p:nvSpPr>
          <p:cNvPr id="5" name="Shape 3"/>
          <p:cNvSpPr/>
          <p:nvPr/>
        </p:nvSpPr>
        <p:spPr>
          <a:xfrm>
            <a:off x="411480" y="6510528"/>
            <a:ext cx="11384280" cy="9144"/>
          </a:xfrm>
          <a:prstGeom prst="rect">
            <a:avLst/>
          </a:prstGeom>
          <a:solidFill>
            <a:srgbClr val="E5E7EB"/>
          </a:solidFill>
          <a:ln w="12700">
            <a:solidFill>
              <a:srgbClr val="E5E7EB"/>
            </a:solidFill>
            <a:prstDash val="solid"/>
          </a:ln>
        </p:spPr>
      </p:sp>
      <p:sp>
        <p:nvSpPr>
          <p:cNvPr id="6" name="Text 4"/>
          <p:cNvSpPr/>
          <p:nvPr/>
        </p:nvSpPr>
        <p:spPr>
          <a:xfrm>
            <a:off x="594360" y="566928"/>
            <a:ext cx="10789920" cy="384048"/>
          </a:xfrm>
          <a:prstGeom prst="rect">
            <a:avLst/>
          </a:prstGeom>
          <a:noFill/>
          <a:ln/>
        </p:spPr>
        <p:txBody>
          <a:bodyPr wrap="square" lIns="381" tIns="381" rIns="381" bIns="381" rtlCol="0" anchor="ctr">
            <a:normAutofit/>
          </a:bodyPr>
          <a:lstStyle/>
          <a:p>
            <a:pPr indent="0" marL="0">
              <a:buNone/>
            </a:pPr>
            <a:r>
              <a:rPr lang="en-US" sz="2500" b="1" dirty="0">
                <a:solidFill>
                  <a:srgbClr val="17213F"/>
                </a:solidFill>
                <a:latin typeface="Aptos Display" pitchFamily="34" charset="0"/>
                <a:ea typeface="Aptos Display" pitchFamily="34" charset="-122"/>
                <a:cs typeface="Aptos Display" pitchFamily="34" charset="-120"/>
              </a:rPr>
              <a:t>Week 2: What changes in daily work</a:t>
            </a:r>
            <a:endParaRPr lang="en-US" sz="2500" dirty="0"/>
          </a:p>
        </p:txBody>
      </p:sp>
      <p:sp>
        <p:nvSpPr>
          <p:cNvPr id="7" name="Text 5"/>
          <p:cNvSpPr/>
          <p:nvPr/>
        </p:nvSpPr>
        <p:spPr>
          <a:xfrm>
            <a:off x="612648" y="996696"/>
            <a:ext cx="10698480" cy="237744"/>
          </a:xfrm>
          <a:prstGeom prst="rect">
            <a:avLst/>
          </a:prstGeom>
          <a:noFill/>
          <a:ln/>
        </p:spPr>
        <p:txBody>
          <a:bodyPr wrap="square" lIns="0" tIns="0" rIns="0" bIns="0" rtlCol="0" anchor="ctr">
            <a:normAutofit/>
          </a:bodyPr>
          <a:lstStyle/>
          <a:p>
            <a:pPr indent="0" marL="0">
              <a:buNone/>
            </a:pPr>
            <a:r>
              <a:rPr lang="en-US" sz="1120" dirty="0">
                <a:solidFill>
                  <a:srgbClr val="6B7280"/>
                </a:solidFill>
              </a:rPr>
              <a:t>From strategic direction to role-level clarity</a:t>
            </a:r>
            <a:endParaRPr lang="en-US" sz="1120" dirty="0"/>
          </a:p>
        </p:txBody>
      </p:sp>
      <p:sp>
        <p:nvSpPr>
          <p:cNvPr id="9" name="Shape 6"/>
          <p:cNvSpPr/>
          <p:nvPr/>
        </p:nvSpPr>
        <p:spPr>
          <a:xfrm>
            <a:off x="685800" y="1417320"/>
            <a:ext cx="5212080" cy="2468880"/>
          </a:xfrm>
          <a:prstGeom prst="roundRect">
            <a:avLst>
              <a:gd name="adj" fmla="val 4444"/>
            </a:avLst>
          </a:prstGeom>
          <a:solidFill>
            <a:srgbClr val="FFFFFF"/>
          </a:solidFill>
          <a:ln w="12700">
            <a:solidFill>
              <a:srgbClr val="E5E7EB"/>
            </a:solidFill>
            <a:prstDash val="solid"/>
          </a:ln>
        </p:spPr>
      </p:sp>
      <p:sp>
        <p:nvSpPr>
          <p:cNvPr id="10" name="Shape 7"/>
          <p:cNvSpPr/>
          <p:nvPr/>
        </p:nvSpPr>
        <p:spPr>
          <a:xfrm>
            <a:off x="685800" y="1417320"/>
            <a:ext cx="91440" cy="2468880"/>
          </a:xfrm>
          <a:prstGeom prst="rect">
            <a:avLst/>
          </a:prstGeom>
          <a:solidFill>
            <a:srgbClr val="A69BE8"/>
          </a:solidFill>
          <a:ln w="12700">
            <a:solidFill>
              <a:srgbClr val="A69BE8"/>
            </a:solidFill>
            <a:prstDash val="solid"/>
          </a:ln>
        </p:spPr>
      </p:sp>
      <p:sp>
        <p:nvSpPr>
          <p:cNvPr id="11" name="Text 8"/>
          <p:cNvSpPr/>
          <p:nvPr/>
        </p:nvSpPr>
        <p:spPr>
          <a:xfrm>
            <a:off x="914400" y="1581912"/>
            <a:ext cx="4800600" cy="228600"/>
          </a:xfrm>
          <a:prstGeom prst="rect">
            <a:avLst/>
          </a:prstGeom>
          <a:noFill/>
          <a:ln/>
        </p:spPr>
        <p:txBody>
          <a:bodyPr wrap="square" lIns="0" tIns="0" rIns="0" bIns="0" rtlCol="0" anchor="ctr"/>
          <a:lstStyle/>
          <a:p>
            <a:pPr indent="0" marL="0">
              <a:buNone/>
            </a:pPr>
            <a:r>
              <a:rPr lang="en-US" sz="1100" b="1" dirty="0">
                <a:solidFill>
                  <a:srgbClr val="17213F"/>
                </a:solidFill>
              </a:rPr>
              <a:t>Session focus</a:t>
            </a:r>
            <a:endParaRPr lang="en-US" sz="1100" dirty="0"/>
          </a:p>
        </p:txBody>
      </p:sp>
      <p:sp>
        <p:nvSpPr>
          <p:cNvPr id="12" name="Text 9"/>
          <p:cNvSpPr/>
          <p:nvPr/>
        </p:nvSpPr>
        <p:spPr>
          <a:xfrm>
            <a:off x="941832" y="1929384"/>
            <a:ext cx="4736592" cy="1828800"/>
          </a:xfrm>
          <a:prstGeom prst="rect">
            <a:avLst/>
          </a:prstGeom>
          <a:noFill/>
          <a:ln/>
        </p:spPr>
        <p:txBody>
          <a:bodyPr wrap="square" lIns="254" tIns="254" rIns="254" bIns="254" rtlCol="0" anchor="ctr">
            <a:normAutofit/>
          </a:bodyPr>
          <a:lstStyle/>
          <a:p>
            <a:pPr indent="0" marL="0">
              <a:buNone/>
            </a:pPr>
            <a:r>
              <a:rPr lang="en-US" sz="870" dirty="0">
                <a:solidFill>
                  <a:srgbClr val="1F2937"/>
                </a:solidFill>
              </a:rPr>
              <a:t>• Role impact</a:t>
            </a:r>
            <a:endParaRPr lang="en-US" sz="870" dirty="0"/>
          </a:p>
          <a:p>
            <a:pPr indent="0" marL="0">
              <a:buNone/>
            </a:pPr>
            <a:r>
              <a:rPr lang="en-US" sz="870" dirty="0">
                <a:solidFill>
                  <a:srgbClr val="1F2937"/>
                </a:solidFill>
              </a:rPr>
              <a:t>• Workflow changes</a:t>
            </a:r>
            <a:endParaRPr lang="en-US" sz="870" dirty="0"/>
          </a:p>
          <a:p>
            <a:pPr indent="0" marL="0">
              <a:buNone/>
            </a:pPr>
            <a:r>
              <a:rPr lang="en-US" sz="870" dirty="0">
                <a:solidFill>
                  <a:srgbClr val="1F2937"/>
                </a:solidFill>
              </a:rPr>
              <a:t>• New tools or systems</a:t>
            </a:r>
            <a:endParaRPr lang="en-US" sz="870" dirty="0"/>
          </a:p>
          <a:p>
            <a:pPr indent="0" marL="0">
              <a:buNone/>
            </a:pPr>
            <a:r>
              <a:rPr lang="en-US" sz="870" dirty="0">
                <a:solidFill>
                  <a:srgbClr val="1F2937"/>
                </a:solidFill>
              </a:rPr>
              <a:t>• Customer conversation changes</a:t>
            </a:r>
            <a:endParaRPr lang="en-US" sz="870" dirty="0"/>
          </a:p>
          <a:p>
            <a:pPr indent="0" marL="0">
              <a:buNone/>
            </a:pPr>
            <a:r>
              <a:rPr lang="en-US" sz="870" dirty="0">
                <a:solidFill>
                  <a:srgbClr val="1F2937"/>
                </a:solidFill>
              </a:rPr>
              <a:t>• New success metrics</a:t>
            </a:r>
            <a:endParaRPr lang="en-US" sz="870" dirty="0"/>
          </a:p>
          <a:p>
            <a:pPr indent="0" marL="0">
              <a:buNone/>
            </a:pPr>
            <a:r>
              <a:rPr lang="en-US" sz="870" dirty="0">
                <a:solidFill>
                  <a:srgbClr val="1F2937"/>
                </a:solidFill>
              </a:rPr>
              <a:t>• What to stop, start, and continue</a:t>
            </a:r>
            <a:endParaRPr lang="en-US" sz="870" dirty="0"/>
          </a:p>
        </p:txBody>
      </p:sp>
      <p:sp>
        <p:nvSpPr>
          <p:cNvPr id="13" name="Shape 10"/>
          <p:cNvSpPr/>
          <p:nvPr/>
        </p:nvSpPr>
        <p:spPr>
          <a:xfrm>
            <a:off x="6309360" y="1417320"/>
            <a:ext cx="5212080" cy="2468880"/>
          </a:xfrm>
          <a:prstGeom prst="roundRect">
            <a:avLst>
              <a:gd name="adj" fmla="val 4444"/>
            </a:avLst>
          </a:prstGeom>
          <a:solidFill>
            <a:srgbClr val="FFFFFF"/>
          </a:solidFill>
          <a:ln w="12700">
            <a:solidFill>
              <a:srgbClr val="E5E7EB"/>
            </a:solidFill>
            <a:prstDash val="solid"/>
          </a:ln>
        </p:spPr>
      </p:sp>
      <p:sp>
        <p:nvSpPr>
          <p:cNvPr id="14" name="Shape 11"/>
          <p:cNvSpPr/>
          <p:nvPr/>
        </p:nvSpPr>
        <p:spPr>
          <a:xfrm>
            <a:off x="6309360" y="1417320"/>
            <a:ext cx="91440" cy="2468880"/>
          </a:xfrm>
          <a:prstGeom prst="rect">
            <a:avLst/>
          </a:prstGeom>
          <a:solidFill>
            <a:srgbClr val="DDEBFF"/>
          </a:solidFill>
          <a:ln w="12700">
            <a:solidFill>
              <a:srgbClr val="DDEBFF"/>
            </a:solidFill>
            <a:prstDash val="solid"/>
          </a:ln>
        </p:spPr>
      </p:sp>
      <p:sp>
        <p:nvSpPr>
          <p:cNvPr id="15" name="Text 12"/>
          <p:cNvSpPr/>
          <p:nvPr/>
        </p:nvSpPr>
        <p:spPr>
          <a:xfrm>
            <a:off x="6537960" y="1581912"/>
            <a:ext cx="4800600" cy="228600"/>
          </a:xfrm>
          <a:prstGeom prst="rect">
            <a:avLst/>
          </a:prstGeom>
          <a:noFill/>
          <a:ln/>
        </p:spPr>
        <p:txBody>
          <a:bodyPr wrap="square" lIns="0" tIns="0" rIns="0" bIns="0" rtlCol="0" anchor="ctr"/>
          <a:lstStyle/>
          <a:p>
            <a:pPr indent="0" marL="0">
              <a:buNone/>
            </a:pPr>
            <a:r>
              <a:rPr lang="en-US" sz="1100" b="1" dirty="0">
                <a:solidFill>
                  <a:srgbClr val="17213F"/>
                </a:solidFill>
              </a:rPr>
              <a:t>Activity: Role Impact Map</a:t>
            </a:r>
            <a:endParaRPr lang="en-US" sz="1100" dirty="0"/>
          </a:p>
        </p:txBody>
      </p:sp>
      <p:sp>
        <p:nvSpPr>
          <p:cNvPr id="16" name="Text 13"/>
          <p:cNvSpPr/>
          <p:nvPr/>
        </p:nvSpPr>
        <p:spPr>
          <a:xfrm>
            <a:off x="6565392" y="1929384"/>
            <a:ext cx="4736592" cy="1828800"/>
          </a:xfrm>
          <a:prstGeom prst="rect">
            <a:avLst/>
          </a:prstGeom>
          <a:noFill/>
          <a:ln/>
        </p:spPr>
        <p:txBody>
          <a:bodyPr wrap="square" lIns="254" tIns="254" rIns="254" bIns="254" rtlCol="0" anchor="ctr">
            <a:normAutofit/>
          </a:bodyPr>
          <a:lstStyle/>
          <a:p>
            <a:pPr indent="0" marL="0">
              <a:buNone/>
            </a:pPr>
            <a:r>
              <a:rPr lang="en-US" sz="870" dirty="0">
                <a:solidFill>
                  <a:srgbClr val="1F2937"/>
                </a:solidFill>
              </a:rPr>
              <a:t>• Select one role or team</a:t>
            </a:r>
            <a:endParaRPr lang="en-US" sz="870" dirty="0"/>
          </a:p>
          <a:p>
            <a:pPr indent="0" marL="0">
              <a:buNone/>
            </a:pPr>
            <a:r>
              <a:rPr lang="en-US" sz="870" dirty="0">
                <a:solidFill>
                  <a:srgbClr val="1F2937"/>
                </a:solidFill>
              </a:rPr>
              <a:t>• List what changes in daily work</a:t>
            </a:r>
            <a:endParaRPr lang="en-US" sz="870" dirty="0"/>
          </a:p>
          <a:p>
            <a:pPr indent="0" marL="0">
              <a:buNone/>
            </a:pPr>
            <a:r>
              <a:rPr lang="en-US" sz="870" dirty="0">
                <a:solidFill>
                  <a:srgbClr val="1F2937"/>
                </a:solidFill>
              </a:rPr>
              <a:t>• Identify tasks that become more important</a:t>
            </a:r>
            <a:endParaRPr lang="en-US" sz="870" dirty="0"/>
          </a:p>
          <a:p>
            <a:pPr indent="0" marL="0">
              <a:buNone/>
            </a:pPr>
            <a:r>
              <a:rPr lang="en-US" sz="870" dirty="0">
                <a:solidFill>
                  <a:srgbClr val="1F2937"/>
                </a:solidFill>
              </a:rPr>
              <a:t>• Identify tasks that become less relevant</a:t>
            </a:r>
            <a:endParaRPr lang="en-US" sz="870" dirty="0"/>
          </a:p>
          <a:p>
            <a:pPr indent="0" marL="0">
              <a:buNone/>
            </a:pPr>
            <a:r>
              <a:rPr lang="en-US" sz="870" dirty="0">
                <a:solidFill>
                  <a:srgbClr val="1F2937"/>
                </a:solidFill>
              </a:rPr>
              <a:t>• Define support needed</a:t>
            </a:r>
            <a:endParaRPr lang="en-US" sz="870" dirty="0"/>
          </a:p>
        </p:txBody>
      </p:sp>
      <p:sp>
        <p:nvSpPr>
          <p:cNvPr id="17" name="Shape 14"/>
          <p:cNvSpPr/>
          <p:nvPr/>
        </p:nvSpPr>
        <p:spPr>
          <a:xfrm>
            <a:off x="1051560" y="4389120"/>
            <a:ext cx="9875520" cy="822960"/>
          </a:xfrm>
          <a:prstGeom prst="roundRect">
            <a:avLst>
              <a:gd name="adj" fmla="val 11111"/>
            </a:avLst>
          </a:prstGeom>
          <a:solidFill>
            <a:srgbClr val="FFFFFF"/>
          </a:solidFill>
          <a:ln w="12700">
            <a:solidFill>
              <a:srgbClr val="E5E7EB">
                <a:alpha val="85000"/>
              </a:srgbClr>
            </a:solidFill>
            <a:prstDash val="solid"/>
          </a:ln>
        </p:spPr>
      </p:sp>
      <p:sp>
        <p:nvSpPr>
          <p:cNvPr id="18" name="Text 15"/>
          <p:cNvSpPr/>
          <p:nvPr/>
        </p:nvSpPr>
        <p:spPr>
          <a:xfrm>
            <a:off x="1216152" y="4535424"/>
            <a:ext cx="9546336" cy="201168"/>
          </a:xfrm>
          <a:prstGeom prst="rect">
            <a:avLst/>
          </a:prstGeom>
          <a:noFill/>
          <a:ln/>
        </p:spPr>
        <p:txBody>
          <a:bodyPr wrap="square" lIns="0" tIns="0" rIns="0" bIns="0" rtlCol="0" anchor="ctr"/>
          <a:lstStyle/>
          <a:p>
            <a:pPr indent="0" marL="0">
              <a:buNone/>
            </a:pPr>
            <a:r>
              <a:rPr lang="en-US" sz="1030" b="1" dirty="0">
                <a:solidFill>
                  <a:srgbClr val="17213F"/>
                </a:solidFill>
              </a:rPr>
              <a:t>Output</a:t>
            </a:r>
            <a:endParaRPr lang="en-US" sz="1030" dirty="0"/>
          </a:p>
        </p:txBody>
      </p:sp>
      <p:sp>
        <p:nvSpPr>
          <p:cNvPr id="19" name="Text 16"/>
          <p:cNvSpPr/>
          <p:nvPr/>
        </p:nvSpPr>
        <p:spPr>
          <a:xfrm>
            <a:off x="1216152" y="4828032"/>
            <a:ext cx="9546336" cy="25603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Role Impact Map that shows what each function needs to learn, practice, and adapt.</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7FB"/>
        </a:solidFill>
      </p:bgPr>
    </p:bg>
    <p:spTree>
      <p:nvGrpSpPr>
        <p:cNvPr id="1" name=""/>
        <p:cNvGrpSpPr/>
        <p:nvPr/>
      </p:nvGrpSpPr>
      <p:grpSpPr>
        <a:xfrm>
          <a:off x="0" y="0"/>
          <a:ext cx="0" cy="0"/>
          <a:chOff x="0" y="0"/>
          <a:chExt cx="0" cy="0"/>
        </a:xfrm>
      </p:grpSpPr>
      <p:sp>
        <p:nvSpPr>
          <p:cNvPr id="2" name="Shape 0"/>
          <p:cNvSpPr/>
          <p:nvPr/>
        </p:nvSpPr>
        <p:spPr>
          <a:xfrm>
            <a:off x="0" y="0"/>
            <a:ext cx="12191695" cy="329184"/>
          </a:xfrm>
          <a:prstGeom prst="rect">
            <a:avLst/>
          </a:prstGeom>
          <a:solidFill>
            <a:srgbClr val="17213F"/>
          </a:solidFill>
          <a:ln w="12700">
            <a:solidFill>
              <a:srgbClr val="17213F"/>
            </a:solidFill>
            <a:prstDash val="solid"/>
          </a:ln>
        </p:spPr>
      </p:sp>
      <p:sp>
        <p:nvSpPr>
          <p:cNvPr id="3" name="Text 1"/>
          <p:cNvSpPr/>
          <p:nvPr/>
        </p:nvSpPr>
        <p:spPr>
          <a:xfrm>
            <a:off x="411480" y="68580"/>
            <a:ext cx="4114800" cy="164592"/>
          </a:xfrm>
          <a:prstGeom prst="rect">
            <a:avLst/>
          </a:prstGeom>
          <a:noFill/>
          <a:ln/>
        </p:spPr>
        <p:txBody>
          <a:bodyPr wrap="square" lIns="0" tIns="0" rIns="0" bIns="0" rtlCol="0" anchor="ctr"/>
          <a:lstStyle/>
          <a:p>
            <a:pPr indent="0" marL="0">
              <a:buNone/>
            </a:pPr>
            <a:r>
              <a:rPr lang="en-US" sz="750" b="1" dirty="0">
                <a:solidFill>
                  <a:srgbClr val="FFFFFF"/>
                </a:solidFill>
                <a:latin typeface="Aptos" pitchFamily="34" charset="0"/>
                <a:ea typeface="Aptos" pitchFamily="34" charset="-122"/>
                <a:cs typeface="Aptos" pitchFamily="34" charset="-120"/>
              </a:rPr>
              <a:t>ACTIVITY</a:t>
            </a:r>
            <a:endParaRPr lang="en-US" sz="750" dirty="0"/>
          </a:p>
        </p:txBody>
      </p:sp>
      <p:sp>
        <p:nvSpPr>
          <p:cNvPr id="4" name="Text 2"/>
          <p:cNvSpPr/>
          <p:nvPr/>
        </p:nvSpPr>
        <p:spPr>
          <a:xfrm>
            <a:off x="8778240" y="68580"/>
            <a:ext cx="3017520" cy="164592"/>
          </a:xfrm>
          <a:prstGeom prst="rect">
            <a:avLst/>
          </a:prstGeom>
          <a:noFill/>
          <a:ln/>
        </p:spPr>
        <p:txBody>
          <a:bodyPr wrap="square" lIns="0" tIns="0" rIns="0" bIns="0" rtlCol="0" anchor="ctr"/>
          <a:lstStyle/>
          <a:p>
            <a:pPr algn="r" indent="0" marL="0">
              <a:buNone/>
            </a:pPr>
            <a:r>
              <a:rPr lang="en-US" sz="750" dirty="0">
                <a:solidFill>
                  <a:srgbClr val="FFFFFF"/>
                </a:solidFill>
              </a:rPr>
              <a:t>Portfolio Training Deck</a:t>
            </a:r>
            <a:endParaRPr lang="en-US" sz="750" dirty="0"/>
          </a:p>
        </p:txBody>
      </p:sp>
      <p:sp>
        <p:nvSpPr>
          <p:cNvPr id="5" name="Shape 3"/>
          <p:cNvSpPr/>
          <p:nvPr/>
        </p:nvSpPr>
        <p:spPr>
          <a:xfrm>
            <a:off x="411480" y="6510528"/>
            <a:ext cx="11384280" cy="9144"/>
          </a:xfrm>
          <a:prstGeom prst="rect">
            <a:avLst/>
          </a:prstGeom>
          <a:solidFill>
            <a:srgbClr val="E5E7EB"/>
          </a:solidFill>
          <a:ln w="12700">
            <a:solidFill>
              <a:srgbClr val="E5E7EB"/>
            </a:solidFill>
            <a:prstDash val="solid"/>
          </a:ln>
        </p:spPr>
      </p:sp>
      <p:sp>
        <p:nvSpPr>
          <p:cNvPr id="6" name="Text 4"/>
          <p:cNvSpPr/>
          <p:nvPr/>
        </p:nvSpPr>
        <p:spPr>
          <a:xfrm>
            <a:off x="594360" y="566928"/>
            <a:ext cx="10789920" cy="384048"/>
          </a:xfrm>
          <a:prstGeom prst="rect">
            <a:avLst/>
          </a:prstGeom>
          <a:noFill/>
          <a:ln/>
        </p:spPr>
        <p:txBody>
          <a:bodyPr wrap="square" lIns="381" tIns="381" rIns="381" bIns="381" rtlCol="0" anchor="ctr">
            <a:normAutofit/>
          </a:bodyPr>
          <a:lstStyle/>
          <a:p>
            <a:pPr indent="0" marL="0">
              <a:buNone/>
            </a:pPr>
            <a:r>
              <a:rPr lang="en-US" sz="2500" b="1" dirty="0">
                <a:solidFill>
                  <a:srgbClr val="17213F"/>
                </a:solidFill>
                <a:latin typeface="Aptos Display" pitchFamily="34" charset="0"/>
                <a:ea typeface="Aptos Display" pitchFamily="34" charset="-122"/>
                <a:cs typeface="Aptos Display" pitchFamily="34" charset="-120"/>
              </a:rPr>
              <a:t>Activity: Role Impact Map</a:t>
            </a:r>
            <a:endParaRPr lang="en-US" sz="2500" dirty="0"/>
          </a:p>
        </p:txBody>
      </p:sp>
      <p:sp>
        <p:nvSpPr>
          <p:cNvPr id="7" name="Text 5"/>
          <p:cNvSpPr/>
          <p:nvPr/>
        </p:nvSpPr>
        <p:spPr>
          <a:xfrm>
            <a:off x="612648" y="996696"/>
            <a:ext cx="10698480" cy="237744"/>
          </a:xfrm>
          <a:prstGeom prst="rect">
            <a:avLst/>
          </a:prstGeom>
          <a:noFill/>
          <a:ln/>
        </p:spPr>
        <p:txBody>
          <a:bodyPr wrap="square" lIns="0" tIns="0" rIns="0" bIns="0" rtlCol="0" anchor="ctr">
            <a:normAutofit/>
          </a:bodyPr>
          <a:lstStyle/>
          <a:p>
            <a:pPr indent="0" marL="0">
              <a:buNone/>
            </a:pPr>
            <a:r>
              <a:rPr lang="en-US" sz="1120" dirty="0">
                <a:solidFill>
                  <a:srgbClr val="6B7280"/>
                </a:solidFill>
              </a:rPr>
              <a:t>A practical tool for reducing confusion</a:t>
            </a:r>
            <a:endParaRPr lang="en-US" sz="1120" dirty="0"/>
          </a:p>
        </p:txBody>
      </p:sp>
      <p:sp>
        <p:nvSpPr>
          <p:cNvPr id="9" name="Shape 6"/>
          <p:cNvSpPr/>
          <p:nvPr/>
        </p:nvSpPr>
        <p:spPr>
          <a:xfrm>
            <a:off x="777240" y="1508760"/>
            <a:ext cx="2514600" cy="2057400"/>
          </a:xfrm>
          <a:prstGeom prst="roundRect">
            <a:avLst>
              <a:gd name="adj" fmla="val 4444"/>
            </a:avLst>
          </a:prstGeom>
          <a:solidFill>
            <a:srgbClr val="FFFFFF"/>
          </a:solidFill>
          <a:ln w="12700">
            <a:solidFill>
              <a:srgbClr val="E5E7EB">
                <a:alpha val="85000"/>
              </a:srgbClr>
            </a:solidFill>
            <a:prstDash val="solid"/>
          </a:ln>
        </p:spPr>
      </p:sp>
      <p:sp>
        <p:nvSpPr>
          <p:cNvPr id="10" name="Text 7"/>
          <p:cNvSpPr/>
          <p:nvPr/>
        </p:nvSpPr>
        <p:spPr>
          <a:xfrm>
            <a:off x="941832" y="1655064"/>
            <a:ext cx="2185416" cy="201168"/>
          </a:xfrm>
          <a:prstGeom prst="rect">
            <a:avLst/>
          </a:prstGeom>
          <a:noFill/>
          <a:ln/>
        </p:spPr>
        <p:txBody>
          <a:bodyPr wrap="square" lIns="0" tIns="0" rIns="0" bIns="0" rtlCol="0" anchor="ctr"/>
          <a:lstStyle/>
          <a:p>
            <a:pPr indent="0" marL="0">
              <a:buNone/>
            </a:pPr>
            <a:r>
              <a:rPr lang="en-US" sz="1030" b="1" dirty="0">
                <a:solidFill>
                  <a:srgbClr val="17213F"/>
                </a:solidFill>
              </a:rPr>
              <a:t>Current workflow</a:t>
            </a:r>
            <a:endParaRPr lang="en-US" sz="1030" dirty="0"/>
          </a:p>
        </p:txBody>
      </p:sp>
      <p:sp>
        <p:nvSpPr>
          <p:cNvPr id="11" name="Text 8"/>
          <p:cNvSpPr/>
          <p:nvPr/>
        </p:nvSpPr>
        <p:spPr>
          <a:xfrm>
            <a:off x="941832" y="1947672"/>
            <a:ext cx="2185416" cy="149047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What do we do today?</a:t>
            </a:r>
            <a:endParaRPr lang="en-US" sz="850" dirty="0"/>
          </a:p>
        </p:txBody>
      </p:sp>
      <p:sp>
        <p:nvSpPr>
          <p:cNvPr id="12" name="Shape 9"/>
          <p:cNvSpPr/>
          <p:nvPr/>
        </p:nvSpPr>
        <p:spPr>
          <a:xfrm>
            <a:off x="3611880" y="1508760"/>
            <a:ext cx="2514600" cy="2057400"/>
          </a:xfrm>
          <a:prstGeom prst="roundRect">
            <a:avLst>
              <a:gd name="adj" fmla="val 4444"/>
            </a:avLst>
          </a:prstGeom>
          <a:solidFill>
            <a:srgbClr val="F1EEFF"/>
          </a:solidFill>
          <a:ln w="12700">
            <a:solidFill>
              <a:srgbClr val="E5E7EB">
                <a:alpha val="85000"/>
              </a:srgbClr>
            </a:solidFill>
            <a:prstDash val="solid"/>
          </a:ln>
        </p:spPr>
      </p:sp>
      <p:sp>
        <p:nvSpPr>
          <p:cNvPr id="13" name="Text 10"/>
          <p:cNvSpPr/>
          <p:nvPr/>
        </p:nvSpPr>
        <p:spPr>
          <a:xfrm>
            <a:off x="3776472" y="1655064"/>
            <a:ext cx="2185416" cy="201168"/>
          </a:xfrm>
          <a:prstGeom prst="rect">
            <a:avLst/>
          </a:prstGeom>
          <a:noFill/>
          <a:ln/>
        </p:spPr>
        <p:txBody>
          <a:bodyPr wrap="square" lIns="0" tIns="0" rIns="0" bIns="0" rtlCol="0" anchor="ctr"/>
          <a:lstStyle/>
          <a:p>
            <a:pPr indent="0" marL="0">
              <a:buNone/>
            </a:pPr>
            <a:r>
              <a:rPr lang="en-US" sz="1030" b="1" dirty="0">
                <a:solidFill>
                  <a:srgbClr val="17213F"/>
                </a:solidFill>
              </a:rPr>
              <a:t>What changes</a:t>
            </a:r>
            <a:endParaRPr lang="en-US" sz="1030" dirty="0"/>
          </a:p>
        </p:txBody>
      </p:sp>
      <p:sp>
        <p:nvSpPr>
          <p:cNvPr id="14" name="Text 11"/>
          <p:cNvSpPr/>
          <p:nvPr/>
        </p:nvSpPr>
        <p:spPr>
          <a:xfrm>
            <a:off x="3776472" y="1947672"/>
            <a:ext cx="2185416" cy="149047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What will be different?</a:t>
            </a:r>
            <a:endParaRPr lang="en-US" sz="850" dirty="0"/>
          </a:p>
        </p:txBody>
      </p:sp>
      <p:sp>
        <p:nvSpPr>
          <p:cNvPr id="15" name="Shape 12"/>
          <p:cNvSpPr/>
          <p:nvPr/>
        </p:nvSpPr>
        <p:spPr>
          <a:xfrm>
            <a:off x="6446520" y="1508760"/>
            <a:ext cx="2514600" cy="2057400"/>
          </a:xfrm>
          <a:prstGeom prst="roundRect">
            <a:avLst>
              <a:gd name="adj" fmla="val 4444"/>
            </a:avLst>
          </a:prstGeom>
          <a:solidFill>
            <a:srgbClr val="FFFFFF"/>
          </a:solidFill>
          <a:ln w="12700">
            <a:solidFill>
              <a:srgbClr val="E5E7EB">
                <a:alpha val="85000"/>
              </a:srgbClr>
            </a:solidFill>
            <a:prstDash val="solid"/>
          </a:ln>
        </p:spPr>
      </p:sp>
      <p:sp>
        <p:nvSpPr>
          <p:cNvPr id="16" name="Text 13"/>
          <p:cNvSpPr/>
          <p:nvPr/>
        </p:nvSpPr>
        <p:spPr>
          <a:xfrm>
            <a:off x="6611112" y="1655064"/>
            <a:ext cx="2185416" cy="201168"/>
          </a:xfrm>
          <a:prstGeom prst="rect">
            <a:avLst/>
          </a:prstGeom>
          <a:noFill/>
          <a:ln/>
        </p:spPr>
        <p:txBody>
          <a:bodyPr wrap="square" lIns="0" tIns="0" rIns="0" bIns="0" rtlCol="0" anchor="ctr"/>
          <a:lstStyle/>
          <a:p>
            <a:pPr indent="0" marL="0">
              <a:buNone/>
            </a:pPr>
            <a:r>
              <a:rPr lang="en-US" sz="1030" b="1" dirty="0">
                <a:solidFill>
                  <a:srgbClr val="17213F"/>
                </a:solidFill>
              </a:rPr>
              <a:t>New capability</a:t>
            </a:r>
            <a:endParaRPr lang="en-US" sz="1030" dirty="0"/>
          </a:p>
        </p:txBody>
      </p:sp>
      <p:sp>
        <p:nvSpPr>
          <p:cNvPr id="17" name="Text 14"/>
          <p:cNvSpPr/>
          <p:nvPr/>
        </p:nvSpPr>
        <p:spPr>
          <a:xfrm>
            <a:off x="6611112" y="1947672"/>
            <a:ext cx="2185416" cy="149047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What skill or knowledge is required?</a:t>
            </a:r>
            <a:endParaRPr lang="en-US" sz="850" dirty="0"/>
          </a:p>
        </p:txBody>
      </p:sp>
      <p:sp>
        <p:nvSpPr>
          <p:cNvPr id="18" name="Shape 15"/>
          <p:cNvSpPr/>
          <p:nvPr/>
        </p:nvSpPr>
        <p:spPr>
          <a:xfrm>
            <a:off x="9281160" y="1508760"/>
            <a:ext cx="2514600" cy="2057400"/>
          </a:xfrm>
          <a:prstGeom prst="roundRect">
            <a:avLst>
              <a:gd name="adj" fmla="val 4444"/>
            </a:avLst>
          </a:prstGeom>
          <a:solidFill>
            <a:srgbClr val="F1EEFF"/>
          </a:solidFill>
          <a:ln w="12700">
            <a:solidFill>
              <a:srgbClr val="E5E7EB">
                <a:alpha val="85000"/>
              </a:srgbClr>
            </a:solidFill>
            <a:prstDash val="solid"/>
          </a:ln>
        </p:spPr>
      </p:sp>
      <p:sp>
        <p:nvSpPr>
          <p:cNvPr id="19" name="Text 16"/>
          <p:cNvSpPr/>
          <p:nvPr/>
        </p:nvSpPr>
        <p:spPr>
          <a:xfrm>
            <a:off x="9445752" y="1655064"/>
            <a:ext cx="2185416" cy="201168"/>
          </a:xfrm>
          <a:prstGeom prst="rect">
            <a:avLst/>
          </a:prstGeom>
          <a:noFill/>
          <a:ln/>
        </p:spPr>
        <p:txBody>
          <a:bodyPr wrap="square" lIns="0" tIns="0" rIns="0" bIns="0" rtlCol="0" anchor="ctr"/>
          <a:lstStyle/>
          <a:p>
            <a:pPr indent="0" marL="0">
              <a:buNone/>
            </a:pPr>
            <a:r>
              <a:rPr lang="en-US" sz="1030" b="1" dirty="0">
                <a:solidFill>
                  <a:srgbClr val="17213F"/>
                </a:solidFill>
              </a:rPr>
              <a:t>Support needed</a:t>
            </a:r>
            <a:endParaRPr lang="en-US" sz="1030" dirty="0"/>
          </a:p>
        </p:txBody>
      </p:sp>
      <p:sp>
        <p:nvSpPr>
          <p:cNvPr id="20" name="Text 17"/>
          <p:cNvSpPr/>
          <p:nvPr/>
        </p:nvSpPr>
        <p:spPr>
          <a:xfrm>
            <a:off x="9445752" y="1947672"/>
            <a:ext cx="2185416" cy="149047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What do people need from managers / L&amp;D?</a:t>
            </a:r>
            <a:endParaRPr lang="en-US" sz="850" dirty="0"/>
          </a:p>
        </p:txBody>
      </p:sp>
      <p:sp>
        <p:nvSpPr>
          <p:cNvPr id="21" name="Shape 18"/>
          <p:cNvSpPr/>
          <p:nvPr/>
        </p:nvSpPr>
        <p:spPr>
          <a:xfrm>
            <a:off x="1005840" y="4251960"/>
            <a:ext cx="10058400" cy="1188720"/>
          </a:xfrm>
          <a:prstGeom prst="roundRect">
            <a:avLst>
              <a:gd name="adj" fmla="val 9231"/>
            </a:avLst>
          </a:prstGeom>
          <a:solidFill>
            <a:srgbClr val="FFFFFF"/>
          </a:solidFill>
          <a:ln w="12700">
            <a:solidFill>
              <a:srgbClr val="E5E7EB"/>
            </a:solidFill>
            <a:prstDash val="solid"/>
          </a:ln>
        </p:spPr>
      </p:sp>
      <p:sp>
        <p:nvSpPr>
          <p:cNvPr id="22" name="Shape 19"/>
          <p:cNvSpPr/>
          <p:nvPr/>
        </p:nvSpPr>
        <p:spPr>
          <a:xfrm>
            <a:off x="1005840" y="4251960"/>
            <a:ext cx="91440" cy="1188720"/>
          </a:xfrm>
          <a:prstGeom prst="rect">
            <a:avLst/>
          </a:prstGeom>
          <a:solidFill>
            <a:srgbClr val="DDF7EC"/>
          </a:solidFill>
          <a:ln w="12700">
            <a:solidFill>
              <a:srgbClr val="DDF7EC"/>
            </a:solidFill>
            <a:prstDash val="solid"/>
          </a:ln>
        </p:spPr>
      </p:sp>
      <p:sp>
        <p:nvSpPr>
          <p:cNvPr id="23" name="Text 20"/>
          <p:cNvSpPr/>
          <p:nvPr/>
        </p:nvSpPr>
        <p:spPr>
          <a:xfrm>
            <a:off x="1234440" y="4416552"/>
            <a:ext cx="9646920" cy="228600"/>
          </a:xfrm>
          <a:prstGeom prst="rect">
            <a:avLst/>
          </a:prstGeom>
          <a:noFill/>
          <a:ln/>
        </p:spPr>
        <p:txBody>
          <a:bodyPr wrap="square" lIns="0" tIns="0" rIns="0" bIns="0" rtlCol="0" anchor="ctr"/>
          <a:lstStyle/>
          <a:p>
            <a:pPr indent="0" marL="0">
              <a:buNone/>
            </a:pPr>
            <a:r>
              <a:rPr lang="en-US" sz="1100" b="1" dirty="0">
                <a:solidFill>
                  <a:srgbClr val="17213F"/>
                </a:solidFill>
              </a:rPr>
              <a:t>Discussion questions</a:t>
            </a:r>
            <a:endParaRPr lang="en-US" sz="1100" dirty="0"/>
          </a:p>
        </p:txBody>
      </p:sp>
      <p:sp>
        <p:nvSpPr>
          <p:cNvPr id="24" name="Text 21"/>
          <p:cNvSpPr/>
          <p:nvPr/>
        </p:nvSpPr>
        <p:spPr>
          <a:xfrm>
            <a:off x="1261872" y="4764024"/>
            <a:ext cx="9582912" cy="548640"/>
          </a:xfrm>
          <a:prstGeom prst="rect">
            <a:avLst/>
          </a:prstGeom>
          <a:noFill/>
          <a:ln/>
        </p:spPr>
        <p:txBody>
          <a:bodyPr wrap="square" lIns="254" tIns="254" rIns="254" bIns="254" rtlCol="0" anchor="ctr">
            <a:normAutofit/>
          </a:bodyPr>
          <a:lstStyle/>
          <a:p>
            <a:pPr indent="0" marL="0">
              <a:buNone/>
            </a:pPr>
            <a:r>
              <a:rPr lang="en-US" sz="870" dirty="0">
                <a:solidFill>
                  <a:srgbClr val="1F2937"/>
                </a:solidFill>
              </a:rPr>
              <a:t>• Which team will feel the biggest impact?</a:t>
            </a:r>
            <a:endParaRPr lang="en-US" sz="870" dirty="0"/>
          </a:p>
          <a:p>
            <a:pPr indent="0" marL="0">
              <a:buNone/>
            </a:pPr>
            <a:r>
              <a:rPr lang="en-US" sz="870" dirty="0">
                <a:solidFill>
                  <a:srgbClr val="1F2937"/>
                </a:solidFill>
              </a:rPr>
              <a:t>• Which tasks need new skills?</a:t>
            </a:r>
            <a:endParaRPr lang="en-US" sz="870" dirty="0"/>
          </a:p>
          <a:p>
            <a:pPr indent="0" marL="0">
              <a:buNone/>
            </a:pPr>
            <a:r>
              <a:rPr lang="en-US" sz="870" dirty="0">
                <a:solidFill>
                  <a:srgbClr val="1F2937"/>
                </a:solidFill>
              </a:rPr>
              <a:t>• Where are employees most likely to feel uncertainty?</a:t>
            </a:r>
            <a:endParaRPr lang="en-US" sz="870" dirty="0"/>
          </a:p>
          <a:p>
            <a:pPr indent="0" marL="0">
              <a:buNone/>
            </a:pPr>
            <a:r>
              <a:rPr lang="en-US" sz="870" dirty="0">
                <a:solidFill>
                  <a:srgbClr val="1F2937"/>
                </a:solidFill>
              </a:rPr>
              <a:t>• What should managers clarify first?</a:t>
            </a:r>
            <a:endParaRPr lang="en-US" sz="87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6F7FB"/>
        </a:solidFill>
      </p:bgPr>
    </p:bg>
    <p:spTree>
      <p:nvGrpSpPr>
        <p:cNvPr id="1" name=""/>
        <p:cNvGrpSpPr/>
        <p:nvPr/>
      </p:nvGrpSpPr>
      <p:grpSpPr>
        <a:xfrm>
          <a:off x="0" y="0"/>
          <a:ext cx="0" cy="0"/>
          <a:chOff x="0" y="0"/>
          <a:chExt cx="0" cy="0"/>
        </a:xfrm>
      </p:grpSpPr>
      <p:sp>
        <p:nvSpPr>
          <p:cNvPr id="2" name="Shape 0"/>
          <p:cNvSpPr/>
          <p:nvPr/>
        </p:nvSpPr>
        <p:spPr>
          <a:xfrm>
            <a:off x="0" y="0"/>
            <a:ext cx="12191695" cy="329184"/>
          </a:xfrm>
          <a:prstGeom prst="rect">
            <a:avLst/>
          </a:prstGeom>
          <a:solidFill>
            <a:srgbClr val="17213F"/>
          </a:solidFill>
          <a:ln w="12700">
            <a:solidFill>
              <a:srgbClr val="17213F"/>
            </a:solidFill>
            <a:prstDash val="solid"/>
          </a:ln>
        </p:spPr>
      </p:sp>
      <p:sp>
        <p:nvSpPr>
          <p:cNvPr id="3" name="Text 1"/>
          <p:cNvSpPr/>
          <p:nvPr/>
        </p:nvSpPr>
        <p:spPr>
          <a:xfrm>
            <a:off x="411480" y="68580"/>
            <a:ext cx="4114800" cy="164592"/>
          </a:xfrm>
          <a:prstGeom prst="rect">
            <a:avLst/>
          </a:prstGeom>
          <a:noFill/>
          <a:ln/>
        </p:spPr>
        <p:txBody>
          <a:bodyPr wrap="square" lIns="0" tIns="0" rIns="0" bIns="0" rtlCol="0" anchor="ctr"/>
          <a:lstStyle/>
          <a:p>
            <a:pPr indent="0" marL="0">
              <a:buNone/>
            </a:pPr>
            <a:r>
              <a:rPr lang="en-US" sz="750" b="1" dirty="0">
                <a:solidFill>
                  <a:srgbClr val="FFFFFF"/>
                </a:solidFill>
                <a:latin typeface="Aptos" pitchFamily="34" charset="0"/>
                <a:ea typeface="Aptos" pitchFamily="34" charset="-122"/>
                <a:cs typeface="Aptos" pitchFamily="34" charset="-120"/>
              </a:rPr>
              <a:t>WEEK 3</a:t>
            </a:r>
            <a:endParaRPr lang="en-US" sz="750" dirty="0"/>
          </a:p>
        </p:txBody>
      </p:sp>
      <p:sp>
        <p:nvSpPr>
          <p:cNvPr id="4" name="Text 2"/>
          <p:cNvSpPr/>
          <p:nvPr/>
        </p:nvSpPr>
        <p:spPr>
          <a:xfrm>
            <a:off x="8778240" y="68580"/>
            <a:ext cx="3017520" cy="164592"/>
          </a:xfrm>
          <a:prstGeom prst="rect">
            <a:avLst/>
          </a:prstGeom>
          <a:noFill/>
          <a:ln/>
        </p:spPr>
        <p:txBody>
          <a:bodyPr wrap="square" lIns="0" tIns="0" rIns="0" bIns="0" rtlCol="0" anchor="ctr"/>
          <a:lstStyle/>
          <a:p>
            <a:pPr algn="r" indent="0" marL="0">
              <a:buNone/>
            </a:pPr>
            <a:r>
              <a:rPr lang="en-US" sz="750" dirty="0">
                <a:solidFill>
                  <a:srgbClr val="FFFFFF"/>
                </a:solidFill>
              </a:rPr>
              <a:t>Portfolio Training Deck</a:t>
            </a:r>
            <a:endParaRPr lang="en-US" sz="750" dirty="0"/>
          </a:p>
        </p:txBody>
      </p:sp>
      <p:sp>
        <p:nvSpPr>
          <p:cNvPr id="5" name="Shape 3"/>
          <p:cNvSpPr/>
          <p:nvPr/>
        </p:nvSpPr>
        <p:spPr>
          <a:xfrm>
            <a:off x="411480" y="6510528"/>
            <a:ext cx="11384280" cy="9144"/>
          </a:xfrm>
          <a:prstGeom prst="rect">
            <a:avLst/>
          </a:prstGeom>
          <a:solidFill>
            <a:srgbClr val="E5E7EB"/>
          </a:solidFill>
          <a:ln w="12700">
            <a:solidFill>
              <a:srgbClr val="E5E7EB"/>
            </a:solidFill>
            <a:prstDash val="solid"/>
          </a:ln>
        </p:spPr>
      </p:sp>
      <p:sp>
        <p:nvSpPr>
          <p:cNvPr id="6" name="Text 4"/>
          <p:cNvSpPr/>
          <p:nvPr/>
        </p:nvSpPr>
        <p:spPr>
          <a:xfrm>
            <a:off x="594360" y="566928"/>
            <a:ext cx="10789920" cy="384048"/>
          </a:xfrm>
          <a:prstGeom prst="rect">
            <a:avLst/>
          </a:prstGeom>
          <a:noFill/>
          <a:ln/>
        </p:spPr>
        <p:txBody>
          <a:bodyPr wrap="square" lIns="381" tIns="381" rIns="381" bIns="381" rtlCol="0" anchor="ctr">
            <a:normAutofit/>
          </a:bodyPr>
          <a:lstStyle/>
          <a:p>
            <a:pPr indent="0" marL="0">
              <a:buNone/>
            </a:pPr>
            <a:r>
              <a:rPr lang="en-US" sz="2500" b="1" dirty="0">
                <a:solidFill>
                  <a:srgbClr val="17213F"/>
                </a:solidFill>
                <a:latin typeface="Aptos Display" pitchFamily="34" charset="0"/>
                <a:ea typeface="Aptos Display" pitchFamily="34" charset="-122"/>
                <a:cs typeface="Aptos Display" pitchFamily="34" charset="-120"/>
              </a:rPr>
              <a:t>Week 3: Building new capabilities</a:t>
            </a:r>
            <a:endParaRPr lang="en-US" sz="2500" dirty="0"/>
          </a:p>
        </p:txBody>
      </p:sp>
      <p:sp>
        <p:nvSpPr>
          <p:cNvPr id="7" name="Text 5"/>
          <p:cNvSpPr/>
          <p:nvPr/>
        </p:nvSpPr>
        <p:spPr>
          <a:xfrm>
            <a:off x="612648" y="996696"/>
            <a:ext cx="10698480" cy="237744"/>
          </a:xfrm>
          <a:prstGeom prst="rect">
            <a:avLst/>
          </a:prstGeom>
          <a:noFill/>
          <a:ln/>
        </p:spPr>
        <p:txBody>
          <a:bodyPr wrap="square" lIns="0" tIns="0" rIns="0" bIns="0" rtlCol="0" anchor="ctr">
            <a:normAutofit/>
          </a:bodyPr>
          <a:lstStyle/>
          <a:p>
            <a:pPr indent="0" marL="0">
              <a:buNone/>
            </a:pPr>
            <a:r>
              <a:rPr lang="en-US" sz="1120" dirty="0">
                <a:solidFill>
                  <a:srgbClr val="6B7280"/>
                </a:solidFill>
              </a:rPr>
              <a:t>Identifying skill gaps created by the change</a:t>
            </a:r>
            <a:endParaRPr lang="en-US" sz="1120" dirty="0"/>
          </a:p>
        </p:txBody>
      </p:sp>
      <p:sp>
        <p:nvSpPr>
          <p:cNvPr id="9" name="Shape 6"/>
          <p:cNvSpPr/>
          <p:nvPr/>
        </p:nvSpPr>
        <p:spPr>
          <a:xfrm>
            <a:off x="685800" y="1417320"/>
            <a:ext cx="5212080" cy="2423160"/>
          </a:xfrm>
          <a:prstGeom prst="roundRect">
            <a:avLst>
              <a:gd name="adj" fmla="val 4528"/>
            </a:avLst>
          </a:prstGeom>
          <a:solidFill>
            <a:srgbClr val="FFFFFF"/>
          </a:solidFill>
          <a:ln w="12700">
            <a:solidFill>
              <a:srgbClr val="E5E7EB"/>
            </a:solidFill>
            <a:prstDash val="solid"/>
          </a:ln>
        </p:spPr>
      </p:sp>
      <p:sp>
        <p:nvSpPr>
          <p:cNvPr id="10" name="Shape 7"/>
          <p:cNvSpPr/>
          <p:nvPr/>
        </p:nvSpPr>
        <p:spPr>
          <a:xfrm>
            <a:off x="685800" y="1417320"/>
            <a:ext cx="91440" cy="2423160"/>
          </a:xfrm>
          <a:prstGeom prst="rect">
            <a:avLst/>
          </a:prstGeom>
          <a:solidFill>
            <a:srgbClr val="DDEBFF"/>
          </a:solidFill>
          <a:ln w="12700">
            <a:solidFill>
              <a:srgbClr val="DDEBFF"/>
            </a:solidFill>
            <a:prstDash val="solid"/>
          </a:ln>
        </p:spPr>
      </p:sp>
      <p:sp>
        <p:nvSpPr>
          <p:cNvPr id="11" name="Text 8"/>
          <p:cNvSpPr/>
          <p:nvPr/>
        </p:nvSpPr>
        <p:spPr>
          <a:xfrm>
            <a:off x="914400" y="1581912"/>
            <a:ext cx="4800600" cy="228600"/>
          </a:xfrm>
          <a:prstGeom prst="rect">
            <a:avLst/>
          </a:prstGeom>
          <a:noFill/>
          <a:ln/>
        </p:spPr>
        <p:txBody>
          <a:bodyPr wrap="square" lIns="0" tIns="0" rIns="0" bIns="0" rtlCol="0" anchor="ctr"/>
          <a:lstStyle/>
          <a:p>
            <a:pPr indent="0" marL="0">
              <a:buNone/>
            </a:pPr>
            <a:r>
              <a:rPr lang="en-US" sz="1100" b="1" dirty="0">
                <a:solidFill>
                  <a:srgbClr val="17213F"/>
                </a:solidFill>
              </a:rPr>
              <a:t>Session focus</a:t>
            </a:r>
            <a:endParaRPr lang="en-US" sz="1100" dirty="0"/>
          </a:p>
        </p:txBody>
      </p:sp>
      <p:sp>
        <p:nvSpPr>
          <p:cNvPr id="12" name="Text 9"/>
          <p:cNvSpPr/>
          <p:nvPr/>
        </p:nvSpPr>
        <p:spPr>
          <a:xfrm>
            <a:off x="941832" y="1929384"/>
            <a:ext cx="4736592" cy="1783080"/>
          </a:xfrm>
          <a:prstGeom prst="rect">
            <a:avLst/>
          </a:prstGeom>
          <a:noFill/>
          <a:ln/>
        </p:spPr>
        <p:txBody>
          <a:bodyPr wrap="square" lIns="254" tIns="254" rIns="254" bIns="254" rtlCol="0" anchor="ctr">
            <a:normAutofit/>
          </a:bodyPr>
          <a:lstStyle/>
          <a:p>
            <a:pPr indent="0" marL="0">
              <a:buNone/>
            </a:pPr>
            <a:r>
              <a:rPr lang="en-US" sz="870" dirty="0">
                <a:solidFill>
                  <a:srgbClr val="1F2937"/>
                </a:solidFill>
              </a:rPr>
              <a:t>• New product or technology knowledge</a:t>
            </a:r>
            <a:endParaRPr lang="en-US" sz="870" dirty="0"/>
          </a:p>
          <a:p>
            <a:pPr indent="0" marL="0">
              <a:buNone/>
            </a:pPr>
            <a:r>
              <a:rPr lang="en-US" sz="870" dirty="0">
                <a:solidFill>
                  <a:srgbClr val="1F2937"/>
                </a:solidFill>
              </a:rPr>
              <a:t>• New customer messaging</a:t>
            </a:r>
            <a:endParaRPr lang="en-US" sz="870" dirty="0"/>
          </a:p>
          <a:p>
            <a:pPr indent="0" marL="0">
              <a:buNone/>
            </a:pPr>
            <a:r>
              <a:rPr lang="en-US" sz="870" dirty="0">
                <a:solidFill>
                  <a:srgbClr val="1F2937"/>
                </a:solidFill>
              </a:rPr>
              <a:t>• New tools and workflows</a:t>
            </a:r>
            <a:endParaRPr lang="en-US" sz="870" dirty="0"/>
          </a:p>
          <a:p>
            <a:pPr indent="0" marL="0">
              <a:buNone/>
            </a:pPr>
            <a:r>
              <a:rPr lang="en-US" sz="870" dirty="0">
                <a:solidFill>
                  <a:srgbClr val="1F2937"/>
                </a:solidFill>
              </a:rPr>
              <a:t>• Data / digital skills</a:t>
            </a:r>
            <a:endParaRPr lang="en-US" sz="870" dirty="0"/>
          </a:p>
          <a:p>
            <a:pPr indent="0" marL="0">
              <a:buNone/>
            </a:pPr>
            <a:r>
              <a:rPr lang="en-US" sz="870" dirty="0">
                <a:solidFill>
                  <a:srgbClr val="1F2937"/>
                </a:solidFill>
              </a:rPr>
              <a:t>• Cross-functional collaboration</a:t>
            </a:r>
            <a:endParaRPr lang="en-US" sz="870" dirty="0"/>
          </a:p>
          <a:p>
            <a:pPr indent="0" marL="0">
              <a:buNone/>
            </a:pPr>
            <a:r>
              <a:rPr lang="en-US" sz="870" dirty="0">
                <a:solidFill>
                  <a:srgbClr val="1F2937"/>
                </a:solidFill>
              </a:rPr>
              <a:t>• Learning priorities by role</a:t>
            </a:r>
            <a:endParaRPr lang="en-US" sz="870" dirty="0"/>
          </a:p>
        </p:txBody>
      </p:sp>
      <p:sp>
        <p:nvSpPr>
          <p:cNvPr id="13" name="Shape 10"/>
          <p:cNvSpPr/>
          <p:nvPr/>
        </p:nvSpPr>
        <p:spPr>
          <a:xfrm>
            <a:off x="6309360" y="1417320"/>
            <a:ext cx="5212080" cy="2423160"/>
          </a:xfrm>
          <a:prstGeom prst="roundRect">
            <a:avLst>
              <a:gd name="adj" fmla="val 4528"/>
            </a:avLst>
          </a:prstGeom>
          <a:solidFill>
            <a:srgbClr val="FFFFFF"/>
          </a:solidFill>
          <a:ln w="12700">
            <a:solidFill>
              <a:srgbClr val="E5E7EB"/>
            </a:solidFill>
            <a:prstDash val="solid"/>
          </a:ln>
        </p:spPr>
      </p:sp>
      <p:sp>
        <p:nvSpPr>
          <p:cNvPr id="14" name="Shape 11"/>
          <p:cNvSpPr/>
          <p:nvPr/>
        </p:nvSpPr>
        <p:spPr>
          <a:xfrm>
            <a:off x="6309360" y="1417320"/>
            <a:ext cx="91440" cy="2423160"/>
          </a:xfrm>
          <a:prstGeom prst="rect">
            <a:avLst/>
          </a:prstGeom>
          <a:solidFill>
            <a:srgbClr val="F1EEFF"/>
          </a:solidFill>
          <a:ln w="12700">
            <a:solidFill>
              <a:srgbClr val="F1EEFF"/>
            </a:solidFill>
            <a:prstDash val="solid"/>
          </a:ln>
        </p:spPr>
      </p:sp>
      <p:sp>
        <p:nvSpPr>
          <p:cNvPr id="15" name="Text 12"/>
          <p:cNvSpPr/>
          <p:nvPr/>
        </p:nvSpPr>
        <p:spPr>
          <a:xfrm>
            <a:off x="6537960" y="1581912"/>
            <a:ext cx="4800600" cy="228600"/>
          </a:xfrm>
          <a:prstGeom prst="rect">
            <a:avLst/>
          </a:prstGeom>
          <a:noFill/>
          <a:ln/>
        </p:spPr>
        <p:txBody>
          <a:bodyPr wrap="square" lIns="0" tIns="0" rIns="0" bIns="0" rtlCol="0" anchor="ctr"/>
          <a:lstStyle/>
          <a:p>
            <a:pPr indent="0" marL="0">
              <a:buNone/>
            </a:pPr>
            <a:r>
              <a:rPr lang="en-US" sz="1100" b="1" dirty="0">
                <a:solidFill>
                  <a:srgbClr val="17213F"/>
                </a:solidFill>
              </a:rPr>
              <a:t>Activity: Skills Gap Sprint</a:t>
            </a:r>
            <a:endParaRPr lang="en-US" sz="1100" dirty="0"/>
          </a:p>
        </p:txBody>
      </p:sp>
      <p:sp>
        <p:nvSpPr>
          <p:cNvPr id="16" name="Text 13"/>
          <p:cNvSpPr/>
          <p:nvPr/>
        </p:nvSpPr>
        <p:spPr>
          <a:xfrm>
            <a:off x="6565392" y="1929384"/>
            <a:ext cx="4736592" cy="1783080"/>
          </a:xfrm>
          <a:prstGeom prst="rect">
            <a:avLst/>
          </a:prstGeom>
          <a:noFill/>
          <a:ln/>
        </p:spPr>
        <p:txBody>
          <a:bodyPr wrap="square" lIns="254" tIns="254" rIns="254" bIns="254" rtlCol="0" anchor="ctr">
            <a:normAutofit/>
          </a:bodyPr>
          <a:lstStyle/>
          <a:p>
            <a:pPr indent="0" marL="0">
              <a:buNone/>
            </a:pPr>
            <a:r>
              <a:rPr lang="en-US" sz="870" dirty="0">
                <a:solidFill>
                  <a:srgbClr val="1F2937"/>
                </a:solidFill>
              </a:rPr>
              <a:t>• Define target behavior</a:t>
            </a:r>
            <a:endParaRPr lang="en-US" sz="870" dirty="0"/>
          </a:p>
          <a:p>
            <a:pPr indent="0" marL="0">
              <a:buNone/>
            </a:pPr>
            <a:r>
              <a:rPr lang="en-US" sz="870" dirty="0">
                <a:solidFill>
                  <a:srgbClr val="1F2937"/>
                </a:solidFill>
              </a:rPr>
              <a:t>• List current gaps</a:t>
            </a:r>
            <a:endParaRPr lang="en-US" sz="870" dirty="0"/>
          </a:p>
          <a:p>
            <a:pPr indent="0" marL="0">
              <a:buNone/>
            </a:pPr>
            <a:r>
              <a:rPr lang="en-US" sz="870" dirty="0">
                <a:solidFill>
                  <a:srgbClr val="1F2937"/>
                </a:solidFill>
              </a:rPr>
              <a:t>• Prioritize gaps by impact</a:t>
            </a:r>
            <a:endParaRPr lang="en-US" sz="870" dirty="0"/>
          </a:p>
          <a:p>
            <a:pPr indent="0" marL="0">
              <a:buNone/>
            </a:pPr>
            <a:r>
              <a:rPr lang="en-US" sz="870" dirty="0">
                <a:solidFill>
                  <a:srgbClr val="1F2937"/>
                </a:solidFill>
              </a:rPr>
              <a:t>• Match each gap to a learning solution</a:t>
            </a:r>
            <a:endParaRPr lang="en-US" sz="870" dirty="0"/>
          </a:p>
          <a:p>
            <a:pPr indent="0" marL="0">
              <a:buNone/>
            </a:pPr>
            <a:r>
              <a:rPr lang="en-US" sz="870" dirty="0">
                <a:solidFill>
                  <a:srgbClr val="1F2937"/>
                </a:solidFill>
              </a:rPr>
              <a:t>• Assign owner and timeline</a:t>
            </a:r>
            <a:endParaRPr lang="en-US" sz="870" dirty="0"/>
          </a:p>
        </p:txBody>
      </p:sp>
      <p:sp>
        <p:nvSpPr>
          <p:cNvPr id="17" name="Shape 14"/>
          <p:cNvSpPr/>
          <p:nvPr/>
        </p:nvSpPr>
        <p:spPr>
          <a:xfrm>
            <a:off x="1005840" y="4434840"/>
            <a:ext cx="10149840" cy="731520"/>
          </a:xfrm>
          <a:prstGeom prst="roundRect">
            <a:avLst>
              <a:gd name="adj" fmla="val 12500"/>
            </a:avLst>
          </a:prstGeom>
          <a:solidFill>
            <a:srgbClr val="FFFFFF"/>
          </a:solidFill>
          <a:ln w="12700">
            <a:solidFill>
              <a:srgbClr val="E5E7EB">
                <a:alpha val="85000"/>
              </a:srgbClr>
            </a:solidFill>
            <a:prstDash val="solid"/>
          </a:ln>
        </p:spPr>
      </p:sp>
      <p:sp>
        <p:nvSpPr>
          <p:cNvPr id="18" name="Text 15"/>
          <p:cNvSpPr/>
          <p:nvPr/>
        </p:nvSpPr>
        <p:spPr>
          <a:xfrm>
            <a:off x="1170432" y="4581144"/>
            <a:ext cx="9820656" cy="201168"/>
          </a:xfrm>
          <a:prstGeom prst="rect">
            <a:avLst/>
          </a:prstGeom>
          <a:noFill/>
          <a:ln/>
        </p:spPr>
        <p:txBody>
          <a:bodyPr wrap="square" lIns="0" tIns="0" rIns="0" bIns="0" rtlCol="0" anchor="ctr"/>
          <a:lstStyle/>
          <a:p>
            <a:pPr indent="0" marL="0">
              <a:buNone/>
            </a:pPr>
            <a:r>
              <a:rPr lang="en-US" sz="1030" b="1" dirty="0">
                <a:solidFill>
                  <a:srgbClr val="17213F"/>
                </a:solidFill>
              </a:rPr>
              <a:t>Output</a:t>
            </a:r>
            <a:endParaRPr lang="en-US" sz="1030" dirty="0"/>
          </a:p>
        </p:txBody>
      </p:sp>
      <p:sp>
        <p:nvSpPr>
          <p:cNvPr id="19" name="Text 16"/>
          <p:cNvSpPr/>
          <p:nvPr/>
        </p:nvSpPr>
        <p:spPr>
          <a:xfrm>
            <a:off x="1170432" y="4873752"/>
            <a:ext cx="9820656" cy="16459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Prioritized Skills Gap Map for each impacted team.</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7FB"/>
        </a:solidFill>
      </p:bgPr>
    </p:bg>
    <p:spTree>
      <p:nvGrpSpPr>
        <p:cNvPr id="1" name=""/>
        <p:cNvGrpSpPr/>
        <p:nvPr/>
      </p:nvGrpSpPr>
      <p:grpSpPr>
        <a:xfrm>
          <a:off x="0" y="0"/>
          <a:ext cx="0" cy="0"/>
          <a:chOff x="0" y="0"/>
          <a:chExt cx="0" cy="0"/>
        </a:xfrm>
      </p:grpSpPr>
      <p:sp>
        <p:nvSpPr>
          <p:cNvPr id="2" name="Shape 0"/>
          <p:cNvSpPr/>
          <p:nvPr/>
        </p:nvSpPr>
        <p:spPr>
          <a:xfrm>
            <a:off x="0" y="0"/>
            <a:ext cx="12191695" cy="329184"/>
          </a:xfrm>
          <a:prstGeom prst="rect">
            <a:avLst/>
          </a:prstGeom>
          <a:solidFill>
            <a:srgbClr val="17213F"/>
          </a:solidFill>
          <a:ln w="12700">
            <a:solidFill>
              <a:srgbClr val="17213F"/>
            </a:solidFill>
            <a:prstDash val="solid"/>
          </a:ln>
        </p:spPr>
      </p:sp>
      <p:sp>
        <p:nvSpPr>
          <p:cNvPr id="3" name="Text 1"/>
          <p:cNvSpPr/>
          <p:nvPr/>
        </p:nvSpPr>
        <p:spPr>
          <a:xfrm>
            <a:off x="411480" y="68580"/>
            <a:ext cx="4114800" cy="164592"/>
          </a:xfrm>
          <a:prstGeom prst="rect">
            <a:avLst/>
          </a:prstGeom>
          <a:noFill/>
          <a:ln/>
        </p:spPr>
        <p:txBody>
          <a:bodyPr wrap="square" lIns="0" tIns="0" rIns="0" bIns="0" rtlCol="0" anchor="ctr"/>
          <a:lstStyle/>
          <a:p>
            <a:pPr indent="0" marL="0">
              <a:buNone/>
            </a:pPr>
            <a:r>
              <a:rPr lang="en-US" sz="750" b="1" dirty="0">
                <a:solidFill>
                  <a:srgbClr val="FFFFFF"/>
                </a:solidFill>
                <a:latin typeface="Aptos" pitchFamily="34" charset="0"/>
                <a:ea typeface="Aptos" pitchFamily="34" charset="-122"/>
                <a:cs typeface="Aptos" pitchFamily="34" charset="-120"/>
              </a:rPr>
              <a:t>ACTIVITY</a:t>
            </a:r>
            <a:endParaRPr lang="en-US" sz="750" dirty="0"/>
          </a:p>
        </p:txBody>
      </p:sp>
      <p:sp>
        <p:nvSpPr>
          <p:cNvPr id="4" name="Text 2"/>
          <p:cNvSpPr/>
          <p:nvPr/>
        </p:nvSpPr>
        <p:spPr>
          <a:xfrm>
            <a:off x="8778240" y="68580"/>
            <a:ext cx="3017520" cy="164592"/>
          </a:xfrm>
          <a:prstGeom prst="rect">
            <a:avLst/>
          </a:prstGeom>
          <a:noFill/>
          <a:ln/>
        </p:spPr>
        <p:txBody>
          <a:bodyPr wrap="square" lIns="0" tIns="0" rIns="0" bIns="0" rtlCol="0" anchor="ctr"/>
          <a:lstStyle/>
          <a:p>
            <a:pPr algn="r" indent="0" marL="0">
              <a:buNone/>
            </a:pPr>
            <a:r>
              <a:rPr lang="en-US" sz="750" dirty="0">
                <a:solidFill>
                  <a:srgbClr val="FFFFFF"/>
                </a:solidFill>
              </a:rPr>
              <a:t>Portfolio Training Deck</a:t>
            </a:r>
            <a:endParaRPr lang="en-US" sz="750" dirty="0"/>
          </a:p>
        </p:txBody>
      </p:sp>
      <p:sp>
        <p:nvSpPr>
          <p:cNvPr id="5" name="Shape 3"/>
          <p:cNvSpPr/>
          <p:nvPr/>
        </p:nvSpPr>
        <p:spPr>
          <a:xfrm>
            <a:off x="411480" y="6510528"/>
            <a:ext cx="11384280" cy="9144"/>
          </a:xfrm>
          <a:prstGeom prst="rect">
            <a:avLst/>
          </a:prstGeom>
          <a:solidFill>
            <a:srgbClr val="E5E7EB"/>
          </a:solidFill>
          <a:ln w="12700">
            <a:solidFill>
              <a:srgbClr val="E5E7EB"/>
            </a:solidFill>
            <a:prstDash val="solid"/>
          </a:ln>
        </p:spPr>
      </p:sp>
      <p:sp>
        <p:nvSpPr>
          <p:cNvPr id="6" name="Text 4"/>
          <p:cNvSpPr/>
          <p:nvPr/>
        </p:nvSpPr>
        <p:spPr>
          <a:xfrm>
            <a:off x="594360" y="566928"/>
            <a:ext cx="10789920" cy="384048"/>
          </a:xfrm>
          <a:prstGeom prst="rect">
            <a:avLst/>
          </a:prstGeom>
          <a:noFill/>
          <a:ln/>
        </p:spPr>
        <p:txBody>
          <a:bodyPr wrap="square" lIns="381" tIns="381" rIns="381" bIns="381" rtlCol="0" anchor="ctr">
            <a:normAutofit/>
          </a:bodyPr>
          <a:lstStyle/>
          <a:p>
            <a:pPr indent="0" marL="0">
              <a:buNone/>
            </a:pPr>
            <a:r>
              <a:rPr lang="en-US" sz="2500" b="1" dirty="0">
                <a:solidFill>
                  <a:srgbClr val="17213F"/>
                </a:solidFill>
                <a:latin typeface="Aptos Display" pitchFamily="34" charset="0"/>
                <a:ea typeface="Aptos Display" pitchFamily="34" charset="-122"/>
                <a:cs typeface="Aptos Display" pitchFamily="34" charset="-120"/>
              </a:rPr>
              <a:t>Activity: Skills Gap Sprint</a:t>
            </a:r>
            <a:endParaRPr lang="en-US" sz="2500" dirty="0"/>
          </a:p>
        </p:txBody>
      </p:sp>
      <p:sp>
        <p:nvSpPr>
          <p:cNvPr id="7" name="Text 5"/>
          <p:cNvSpPr/>
          <p:nvPr/>
        </p:nvSpPr>
        <p:spPr>
          <a:xfrm>
            <a:off x="612648" y="996696"/>
            <a:ext cx="10698480" cy="237744"/>
          </a:xfrm>
          <a:prstGeom prst="rect">
            <a:avLst/>
          </a:prstGeom>
          <a:noFill/>
          <a:ln/>
        </p:spPr>
        <p:txBody>
          <a:bodyPr wrap="square" lIns="0" tIns="0" rIns="0" bIns="0" rtlCol="0" anchor="ctr">
            <a:normAutofit/>
          </a:bodyPr>
          <a:lstStyle/>
          <a:p>
            <a:pPr indent="0" marL="0">
              <a:buNone/>
            </a:pPr>
            <a:r>
              <a:rPr lang="en-US" sz="1120" dirty="0">
                <a:solidFill>
                  <a:srgbClr val="6B7280"/>
                </a:solidFill>
              </a:rPr>
              <a:t>Turning role impact into learning priorities</a:t>
            </a:r>
            <a:endParaRPr lang="en-US" sz="1120" dirty="0"/>
          </a:p>
        </p:txBody>
      </p:sp>
      <p:sp>
        <p:nvSpPr>
          <p:cNvPr id="9" name="Shape 6"/>
          <p:cNvSpPr/>
          <p:nvPr/>
        </p:nvSpPr>
        <p:spPr>
          <a:xfrm>
            <a:off x="777240" y="1463040"/>
            <a:ext cx="2514600" cy="2148840"/>
          </a:xfrm>
          <a:prstGeom prst="roundRect">
            <a:avLst>
              <a:gd name="adj" fmla="val 4255"/>
            </a:avLst>
          </a:prstGeom>
          <a:solidFill>
            <a:srgbClr val="FFFFFF"/>
          </a:solidFill>
          <a:ln w="12700">
            <a:solidFill>
              <a:srgbClr val="E5E7EB">
                <a:alpha val="85000"/>
              </a:srgbClr>
            </a:solidFill>
            <a:prstDash val="solid"/>
          </a:ln>
        </p:spPr>
      </p:sp>
      <p:sp>
        <p:nvSpPr>
          <p:cNvPr id="10" name="Text 7"/>
          <p:cNvSpPr/>
          <p:nvPr/>
        </p:nvSpPr>
        <p:spPr>
          <a:xfrm>
            <a:off x="941832" y="1609344"/>
            <a:ext cx="2185416" cy="201168"/>
          </a:xfrm>
          <a:prstGeom prst="rect">
            <a:avLst/>
          </a:prstGeom>
          <a:noFill/>
          <a:ln/>
        </p:spPr>
        <p:txBody>
          <a:bodyPr wrap="square" lIns="0" tIns="0" rIns="0" bIns="0" rtlCol="0" anchor="ctr"/>
          <a:lstStyle/>
          <a:p>
            <a:pPr indent="0" marL="0">
              <a:buNone/>
            </a:pPr>
            <a:r>
              <a:rPr lang="en-US" sz="1030" b="1" dirty="0">
                <a:solidFill>
                  <a:srgbClr val="17213F"/>
                </a:solidFill>
              </a:rPr>
              <a:t>Skill / Knowledge Gap</a:t>
            </a:r>
            <a:endParaRPr lang="en-US" sz="1030" dirty="0"/>
          </a:p>
        </p:txBody>
      </p:sp>
      <p:sp>
        <p:nvSpPr>
          <p:cNvPr id="11" name="Text 8"/>
          <p:cNvSpPr/>
          <p:nvPr/>
        </p:nvSpPr>
        <p:spPr>
          <a:xfrm>
            <a:off x="941832" y="1901952"/>
            <a:ext cx="2185416" cy="158191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What do employees need to learn?</a:t>
            </a:r>
            <a:endParaRPr lang="en-US" sz="850" dirty="0"/>
          </a:p>
        </p:txBody>
      </p:sp>
      <p:sp>
        <p:nvSpPr>
          <p:cNvPr id="12" name="Shape 9"/>
          <p:cNvSpPr/>
          <p:nvPr/>
        </p:nvSpPr>
        <p:spPr>
          <a:xfrm>
            <a:off x="3611880" y="1463040"/>
            <a:ext cx="2514600" cy="2148840"/>
          </a:xfrm>
          <a:prstGeom prst="roundRect">
            <a:avLst>
              <a:gd name="adj" fmla="val 4255"/>
            </a:avLst>
          </a:prstGeom>
          <a:solidFill>
            <a:srgbClr val="FFFFFF"/>
          </a:solidFill>
          <a:ln w="12700">
            <a:solidFill>
              <a:srgbClr val="E5E7EB">
                <a:alpha val="85000"/>
              </a:srgbClr>
            </a:solidFill>
            <a:prstDash val="solid"/>
          </a:ln>
        </p:spPr>
      </p:sp>
      <p:sp>
        <p:nvSpPr>
          <p:cNvPr id="13" name="Text 10"/>
          <p:cNvSpPr/>
          <p:nvPr/>
        </p:nvSpPr>
        <p:spPr>
          <a:xfrm>
            <a:off x="3776472" y="1609344"/>
            <a:ext cx="2185416" cy="201168"/>
          </a:xfrm>
          <a:prstGeom prst="rect">
            <a:avLst/>
          </a:prstGeom>
          <a:noFill/>
          <a:ln/>
        </p:spPr>
        <p:txBody>
          <a:bodyPr wrap="square" lIns="0" tIns="0" rIns="0" bIns="0" rtlCol="0" anchor="ctr"/>
          <a:lstStyle/>
          <a:p>
            <a:pPr indent="0" marL="0">
              <a:buNone/>
            </a:pPr>
            <a:r>
              <a:rPr lang="en-US" sz="1030" b="1" dirty="0">
                <a:solidFill>
                  <a:srgbClr val="17213F"/>
                </a:solidFill>
              </a:rPr>
              <a:t>Business Impact</a:t>
            </a:r>
            <a:endParaRPr lang="en-US" sz="1030" dirty="0"/>
          </a:p>
        </p:txBody>
      </p:sp>
      <p:sp>
        <p:nvSpPr>
          <p:cNvPr id="14" name="Text 11"/>
          <p:cNvSpPr/>
          <p:nvPr/>
        </p:nvSpPr>
        <p:spPr>
          <a:xfrm>
            <a:off x="3776472" y="1901952"/>
            <a:ext cx="2185416" cy="158191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What happens if this gap remains?</a:t>
            </a:r>
            <a:endParaRPr lang="en-US" sz="850" dirty="0"/>
          </a:p>
        </p:txBody>
      </p:sp>
      <p:sp>
        <p:nvSpPr>
          <p:cNvPr id="15" name="Shape 12"/>
          <p:cNvSpPr/>
          <p:nvPr/>
        </p:nvSpPr>
        <p:spPr>
          <a:xfrm>
            <a:off x="6446520" y="1463040"/>
            <a:ext cx="2514600" cy="2148840"/>
          </a:xfrm>
          <a:prstGeom prst="roundRect">
            <a:avLst>
              <a:gd name="adj" fmla="val 4255"/>
            </a:avLst>
          </a:prstGeom>
          <a:solidFill>
            <a:srgbClr val="FFFFFF"/>
          </a:solidFill>
          <a:ln w="12700">
            <a:solidFill>
              <a:srgbClr val="E5E7EB">
                <a:alpha val="85000"/>
              </a:srgbClr>
            </a:solidFill>
            <a:prstDash val="solid"/>
          </a:ln>
        </p:spPr>
      </p:sp>
      <p:sp>
        <p:nvSpPr>
          <p:cNvPr id="16" name="Text 13"/>
          <p:cNvSpPr/>
          <p:nvPr/>
        </p:nvSpPr>
        <p:spPr>
          <a:xfrm>
            <a:off x="6611112" y="1609344"/>
            <a:ext cx="2185416" cy="201168"/>
          </a:xfrm>
          <a:prstGeom prst="rect">
            <a:avLst/>
          </a:prstGeom>
          <a:noFill/>
          <a:ln/>
        </p:spPr>
        <p:txBody>
          <a:bodyPr wrap="square" lIns="0" tIns="0" rIns="0" bIns="0" rtlCol="0" anchor="ctr"/>
          <a:lstStyle/>
          <a:p>
            <a:pPr indent="0" marL="0">
              <a:buNone/>
            </a:pPr>
            <a:r>
              <a:rPr lang="en-US" sz="1030" b="1" dirty="0">
                <a:solidFill>
                  <a:srgbClr val="17213F"/>
                </a:solidFill>
              </a:rPr>
              <a:t>Learning Solution</a:t>
            </a:r>
            <a:endParaRPr lang="en-US" sz="1030" dirty="0"/>
          </a:p>
        </p:txBody>
      </p:sp>
      <p:sp>
        <p:nvSpPr>
          <p:cNvPr id="17" name="Text 14"/>
          <p:cNvSpPr/>
          <p:nvPr/>
        </p:nvSpPr>
        <p:spPr>
          <a:xfrm>
            <a:off x="6611112" y="1901952"/>
            <a:ext cx="2185416" cy="158191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Workshop, guide, practice, coaching, LMS module?</a:t>
            </a:r>
            <a:endParaRPr lang="en-US" sz="850" dirty="0"/>
          </a:p>
        </p:txBody>
      </p:sp>
      <p:sp>
        <p:nvSpPr>
          <p:cNvPr id="18" name="Shape 15"/>
          <p:cNvSpPr/>
          <p:nvPr/>
        </p:nvSpPr>
        <p:spPr>
          <a:xfrm>
            <a:off x="9281160" y="1463040"/>
            <a:ext cx="2514600" cy="2148840"/>
          </a:xfrm>
          <a:prstGeom prst="roundRect">
            <a:avLst>
              <a:gd name="adj" fmla="val 4255"/>
            </a:avLst>
          </a:prstGeom>
          <a:solidFill>
            <a:srgbClr val="FFFFFF"/>
          </a:solidFill>
          <a:ln w="12700">
            <a:solidFill>
              <a:srgbClr val="E5E7EB">
                <a:alpha val="85000"/>
              </a:srgbClr>
            </a:solidFill>
            <a:prstDash val="solid"/>
          </a:ln>
        </p:spPr>
      </p:sp>
      <p:sp>
        <p:nvSpPr>
          <p:cNvPr id="19" name="Text 16"/>
          <p:cNvSpPr/>
          <p:nvPr/>
        </p:nvSpPr>
        <p:spPr>
          <a:xfrm>
            <a:off x="9445752" y="1609344"/>
            <a:ext cx="2185416" cy="201168"/>
          </a:xfrm>
          <a:prstGeom prst="rect">
            <a:avLst/>
          </a:prstGeom>
          <a:noFill/>
          <a:ln/>
        </p:spPr>
        <p:txBody>
          <a:bodyPr wrap="square" lIns="0" tIns="0" rIns="0" bIns="0" rtlCol="0" anchor="ctr"/>
          <a:lstStyle/>
          <a:p>
            <a:pPr indent="0" marL="0">
              <a:buNone/>
            </a:pPr>
            <a:r>
              <a:rPr lang="en-US" sz="1030" b="1" dirty="0">
                <a:solidFill>
                  <a:srgbClr val="17213F"/>
                </a:solidFill>
              </a:rPr>
              <a:t>Priority</a:t>
            </a:r>
            <a:endParaRPr lang="en-US" sz="1030" dirty="0"/>
          </a:p>
        </p:txBody>
      </p:sp>
      <p:sp>
        <p:nvSpPr>
          <p:cNvPr id="20" name="Text 17"/>
          <p:cNvSpPr/>
          <p:nvPr/>
        </p:nvSpPr>
        <p:spPr>
          <a:xfrm>
            <a:off x="9445752" y="1901952"/>
            <a:ext cx="2185416" cy="158191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High / Medium / Low</a:t>
            </a:r>
            <a:endParaRPr lang="en-US" sz="850" dirty="0"/>
          </a:p>
        </p:txBody>
      </p:sp>
      <p:sp>
        <p:nvSpPr>
          <p:cNvPr id="21" name="Shape 18"/>
          <p:cNvSpPr/>
          <p:nvPr/>
        </p:nvSpPr>
        <p:spPr>
          <a:xfrm>
            <a:off x="1097280" y="4297680"/>
            <a:ext cx="9966960" cy="1234440"/>
          </a:xfrm>
          <a:prstGeom prst="roundRect">
            <a:avLst>
              <a:gd name="adj" fmla="val 8889"/>
            </a:avLst>
          </a:prstGeom>
          <a:solidFill>
            <a:srgbClr val="FFFFFF"/>
          </a:solidFill>
          <a:ln w="12700">
            <a:solidFill>
              <a:srgbClr val="E5E7EB"/>
            </a:solidFill>
            <a:prstDash val="solid"/>
          </a:ln>
        </p:spPr>
      </p:sp>
      <p:sp>
        <p:nvSpPr>
          <p:cNvPr id="22" name="Shape 19"/>
          <p:cNvSpPr/>
          <p:nvPr/>
        </p:nvSpPr>
        <p:spPr>
          <a:xfrm>
            <a:off x="1097280" y="4297680"/>
            <a:ext cx="91440" cy="1234440"/>
          </a:xfrm>
          <a:prstGeom prst="rect">
            <a:avLst/>
          </a:prstGeom>
          <a:solidFill>
            <a:srgbClr val="A69BE8"/>
          </a:solidFill>
          <a:ln w="12700">
            <a:solidFill>
              <a:srgbClr val="A69BE8"/>
            </a:solidFill>
            <a:prstDash val="solid"/>
          </a:ln>
        </p:spPr>
      </p:sp>
      <p:sp>
        <p:nvSpPr>
          <p:cNvPr id="23" name="Text 20"/>
          <p:cNvSpPr/>
          <p:nvPr/>
        </p:nvSpPr>
        <p:spPr>
          <a:xfrm>
            <a:off x="1325880" y="4462272"/>
            <a:ext cx="9555480" cy="228600"/>
          </a:xfrm>
          <a:prstGeom prst="rect">
            <a:avLst/>
          </a:prstGeom>
          <a:noFill/>
          <a:ln/>
        </p:spPr>
        <p:txBody>
          <a:bodyPr wrap="square" lIns="0" tIns="0" rIns="0" bIns="0" rtlCol="0" anchor="ctr"/>
          <a:lstStyle/>
          <a:p>
            <a:pPr indent="0" marL="0">
              <a:buNone/>
            </a:pPr>
            <a:r>
              <a:rPr lang="en-US" sz="1100" b="1" dirty="0">
                <a:solidFill>
                  <a:srgbClr val="17213F"/>
                </a:solidFill>
              </a:rPr>
              <a:t>Example gaps</a:t>
            </a:r>
            <a:endParaRPr lang="en-US" sz="1100" dirty="0"/>
          </a:p>
        </p:txBody>
      </p:sp>
      <p:sp>
        <p:nvSpPr>
          <p:cNvPr id="24" name="Text 21"/>
          <p:cNvSpPr/>
          <p:nvPr/>
        </p:nvSpPr>
        <p:spPr>
          <a:xfrm>
            <a:off x="1353312" y="4809744"/>
            <a:ext cx="9491472" cy="594360"/>
          </a:xfrm>
          <a:prstGeom prst="rect">
            <a:avLst/>
          </a:prstGeom>
          <a:noFill/>
          <a:ln/>
        </p:spPr>
        <p:txBody>
          <a:bodyPr wrap="square" lIns="254" tIns="254" rIns="254" bIns="254" rtlCol="0" anchor="ctr">
            <a:normAutofit/>
          </a:bodyPr>
          <a:lstStyle/>
          <a:p>
            <a:pPr indent="0" marL="0">
              <a:buNone/>
            </a:pPr>
            <a:r>
              <a:rPr lang="en-US" sz="870" dirty="0">
                <a:solidFill>
                  <a:srgbClr val="1F2937"/>
                </a:solidFill>
              </a:rPr>
              <a:t>• Explaining the new model to customers</a:t>
            </a:r>
            <a:endParaRPr lang="en-US" sz="870" dirty="0"/>
          </a:p>
          <a:p>
            <a:pPr indent="0" marL="0">
              <a:buNone/>
            </a:pPr>
            <a:r>
              <a:rPr lang="en-US" sz="870" dirty="0">
                <a:solidFill>
                  <a:srgbClr val="1F2937"/>
                </a:solidFill>
              </a:rPr>
              <a:t>• Using new cloud-based workflows</a:t>
            </a:r>
            <a:endParaRPr lang="en-US" sz="870" dirty="0"/>
          </a:p>
          <a:p>
            <a:pPr indent="0" marL="0">
              <a:buNone/>
            </a:pPr>
            <a:r>
              <a:rPr lang="en-US" sz="870" dirty="0">
                <a:solidFill>
                  <a:srgbClr val="1F2937"/>
                </a:solidFill>
              </a:rPr>
              <a:t>• Understanding subscription value proposition</a:t>
            </a:r>
            <a:endParaRPr lang="en-US" sz="870" dirty="0"/>
          </a:p>
          <a:p>
            <a:pPr indent="0" marL="0">
              <a:buNone/>
            </a:pPr>
            <a:r>
              <a:rPr lang="en-US" sz="870" dirty="0">
                <a:solidFill>
                  <a:srgbClr val="1F2937"/>
                </a:solidFill>
              </a:rPr>
              <a:t>• Handling objections or resistance</a:t>
            </a:r>
            <a:endParaRPr lang="en-US" sz="870" dirty="0"/>
          </a:p>
          <a:p>
            <a:pPr indent="0" marL="0">
              <a:buNone/>
            </a:pPr>
            <a:r>
              <a:rPr lang="en-US" sz="870" dirty="0">
                <a:solidFill>
                  <a:srgbClr val="1F2937"/>
                </a:solidFill>
              </a:rPr>
              <a:t>• Using new product analytics or dashboards</a:t>
            </a:r>
            <a:endParaRPr lang="en-US" sz="87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7FB"/>
        </a:solidFill>
      </p:bgPr>
    </p:bg>
    <p:spTree>
      <p:nvGrpSpPr>
        <p:cNvPr id="1" name=""/>
        <p:cNvGrpSpPr/>
        <p:nvPr/>
      </p:nvGrpSpPr>
      <p:grpSpPr>
        <a:xfrm>
          <a:off x="0" y="0"/>
          <a:ext cx="0" cy="0"/>
          <a:chOff x="0" y="0"/>
          <a:chExt cx="0" cy="0"/>
        </a:xfrm>
      </p:grpSpPr>
      <p:sp>
        <p:nvSpPr>
          <p:cNvPr id="2" name="Shape 0"/>
          <p:cNvSpPr/>
          <p:nvPr/>
        </p:nvSpPr>
        <p:spPr>
          <a:xfrm>
            <a:off x="0" y="0"/>
            <a:ext cx="12191695" cy="329184"/>
          </a:xfrm>
          <a:prstGeom prst="rect">
            <a:avLst/>
          </a:prstGeom>
          <a:solidFill>
            <a:srgbClr val="17213F"/>
          </a:solidFill>
          <a:ln w="12700">
            <a:solidFill>
              <a:srgbClr val="17213F"/>
            </a:solidFill>
            <a:prstDash val="solid"/>
          </a:ln>
        </p:spPr>
      </p:sp>
      <p:sp>
        <p:nvSpPr>
          <p:cNvPr id="3" name="Text 1"/>
          <p:cNvSpPr/>
          <p:nvPr/>
        </p:nvSpPr>
        <p:spPr>
          <a:xfrm>
            <a:off x="411480" y="68580"/>
            <a:ext cx="4114800" cy="164592"/>
          </a:xfrm>
          <a:prstGeom prst="rect">
            <a:avLst/>
          </a:prstGeom>
          <a:noFill/>
          <a:ln/>
        </p:spPr>
        <p:txBody>
          <a:bodyPr wrap="square" lIns="0" tIns="0" rIns="0" bIns="0" rtlCol="0" anchor="ctr"/>
          <a:lstStyle/>
          <a:p>
            <a:pPr indent="0" marL="0">
              <a:buNone/>
            </a:pPr>
            <a:r>
              <a:rPr lang="en-US" sz="750" b="1" dirty="0">
                <a:solidFill>
                  <a:srgbClr val="FFFFFF"/>
                </a:solidFill>
                <a:latin typeface="Aptos" pitchFamily="34" charset="0"/>
                <a:ea typeface="Aptos" pitchFamily="34" charset="-122"/>
                <a:cs typeface="Aptos" pitchFamily="34" charset="-120"/>
              </a:rPr>
              <a:t>WEEK 4</a:t>
            </a:r>
            <a:endParaRPr lang="en-US" sz="750" dirty="0"/>
          </a:p>
        </p:txBody>
      </p:sp>
      <p:sp>
        <p:nvSpPr>
          <p:cNvPr id="4" name="Text 2"/>
          <p:cNvSpPr/>
          <p:nvPr/>
        </p:nvSpPr>
        <p:spPr>
          <a:xfrm>
            <a:off x="8778240" y="68580"/>
            <a:ext cx="3017520" cy="164592"/>
          </a:xfrm>
          <a:prstGeom prst="rect">
            <a:avLst/>
          </a:prstGeom>
          <a:noFill/>
          <a:ln/>
        </p:spPr>
        <p:txBody>
          <a:bodyPr wrap="square" lIns="0" tIns="0" rIns="0" bIns="0" rtlCol="0" anchor="ctr"/>
          <a:lstStyle/>
          <a:p>
            <a:pPr algn="r" indent="0" marL="0">
              <a:buNone/>
            </a:pPr>
            <a:r>
              <a:rPr lang="en-US" sz="750" dirty="0">
                <a:solidFill>
                  <a:srgbClr val="FFFFFF"/>
                </a:solidFill>
              </a:rPr>
              <a:t>Portfolio Training Deck</a:t>
            </a:r>
            <a:endParaRPr lang="en-US" sz="750" dirty="0"/>
          </a:p>
        </p:txBody>
      </p:sp>
      <p:sp>
        <p:nvSpPr>
          <p:cNvPr id="5" name="Shape 3"/>
          <p:cNvSpPr/>
          <p:nvPr/>
        </p:nvSpPr>
        <p:spPr>
          <a:xfrm>
            <a:off x="411480" y="6510528"/>
            <a:ext cx="11384280" cy="9144"/>
          </a:xfrm>
          <a:prstGeom prst="rect">
            <a:avLst/>
          </a:prstGeom>
          <a:solidFill>
            <a:srgbClr val="E5E7EB"/>
          </a:solidFill>
          <a:ln w="12700">
            <a:solidFill>
              <a:srgbClr val="E5E7EB"/>
            </a:solidFill>
            <a:prstDash val="solid"/>
          </a:ln>
        </p:spPr>
      </p:sp>
      <p:sp>
        <p:nvSpPr>
          <p:cNvPr id="6" name="Text 4"/>
          <p:cNvSpPr/>
          <p:nvPr/>
        </p:nvSpPr>
        <p:spPr>
          <a:xfrm>
            <a:off x="594360" y="566928"/>
            <a:ext cx="10789920" cy="384048"/>
          </a:xfrm>
          <a:prstGeom prst="rect">
            <a:avLst/>
          </a:prstGeom>
          <a:noFill/>
          <a:ln/>
        </p:spPr>
        <p:txBody>
          <a:bodyPr wrap="square" lIns="381" tIns="381" rIns="381" bIns="381" rtlCol="0" anchor="ctr">
            <a:normAutofit/>
          </a:bodyPr>
          <a:lstStyle/>
          <a:p>
            <a:pPr indent="0" marL="0">
              <a:buNone/>
            </a:pPr>
            <a:r>
              <a:rPr lang="en-US" sz="2500" b="1" dirty="0">
                <a:solidFill>
                  <a:srgbClr val="17213F"/>
                </a:solidFill>
                <a:latin typeface="Aptos Display" pitchFamily="34" charset="0"/>
                <a:ea typeface="Aptos Display" pitchFamily="34" charset="-122"/>
                <a:cs typeface="Aptos Display" pitchFamily="34" charset="-120"/>
              </a:rPr>
              <a:t>Week 4: Manager enablement</a:t>
            </a:r>
            <a:endParaRPr lang="en-US" sz="2500" dirty="0"/>
          </a:p>
        </p:txBody>
      </p:sp>
      <p:sp>
        <p:nvSpPr>
          <p:cNvPr id="7" name="Text 5"/>
          <p:cNvSpPr/>
          <p:nvPr/>
        </p:nvSpPr>
        <p:spPr>
          <a:xfrm>
            <a:off x="612648" y="996696"/>
            <a:ext cx="10698480" cy="237744"/>
          </a:xfrm>
          <a:prstGeom prst="rect">
            <a:avLst/>
          </a:prstGeom>
          <a:noFill/>
          <a:ln/>
        </p:spPr>
        <p:txBody>
          <a:bodyPr wrap="square" lIns="0" tIns="0" rIns="0" bIns="0" rtlCol="0" anchor="ctr">
            <a:normAutofit/>
          </a:bodyPr>
          <a:lstStyle/>
          <a:p>
            <a:pPr indent="0" marL="0">
              <a:buNone/>
            </a:pPr>
            <a:r>
              <a:rPr lang="en-US" sz="1120" dirty="0">
                <a:solidFill>
                  <a:srgbClr val="6B7280"/>
                </a:solidFill>
              </a:rPr>
              <a:t>Managers are the translators of change</a:t>
            </a:r>
            <a:endParaRPr lang="en-US" sz="1120" dirty="0"/>
          </a:p>
        </p:txBody>
      </p:sp>
      <p:sp>
        <p:nvSpPr>
          <p:cNvPr id="9" name="Shape 6"/>
          <p:cNvSpPr/>
          <p:nvPr/>
        </p:nvSpPr>
        <p:spPr>
          <a:xfrm>
            <a:off x="685800" y="1417320"/>
            <a:ext cx="5212080" cy="2651760"/>
          </a:xfrm>
          <a:prstGeom prst="roundRect">
            <a:avLst>
              <a:gd name="adj" fmla="val 4138"/>
            </a:avLst>
          </a:prstGeom>
          <a:solidFill>
            <a:srgbClr val="FFFFFF"/>
          </a:solidFill>
          <a:ln w="12700">
            <a:solidFill>
              <a:srgbClr val="E5E7EB"/>
            </a:solidFill>
            <a:prstDash val="solid"/>
          </a:ln>
        </p:spPr>
      </p:sp>
      <p:sp>
        <p:nvSpPr>
          <p:cNvPr id="10" name="Shape 7"/>
          <p:cNvSpPr/>
          <p:nvPr/>
        </p:nvSpPr>
        <p:spPr>
          <a:xfrm>
            <a:off x="685800" y="1417320"/>
            <a:ext cx="91440" cy="2651760"/>
          </a:xfrm>
          <a:prstGeom prst="rect">
            <a:avLst/>
          </a:prstGeom>
          <a:solidFill>
            <a:srgbClr val="A69BE8"/>
          </a:solidFill>
          <a:ln w="12700">
            <a:solidFill>
              <a:srgbClr val="A69BE8"/>
            </a:solidFill>
            <a:prstDash val="solid"/>
          </a:ln>
        </p:spPr>
      </p:sp>
      <p:sp>
        <p:nvSpPr>
          <p:cNvPr id="11" name="Text 8"/>
          <p:cNvSpPr/>
          <p:nvPr/>
        </p:nvSpPr>
        <p:spPr>
          <a:xfrm>
            <a:off x="914400" y="1581912"/>
            <a:ext cx="4800600" cy="228600"/>
          </a:xfrm>
          <a:prstGeom prst="rect">
            <a:avLst/>
          </a:prstGeom>
          <a:noFill/>
          <a:ln/>
        </p:spPr>
        <p:txBody>
          <a:bodyPr wrap="square" lIns="0" tIns="0" rIns="0" bIns="0" rtlCol="0" anchor="ctr"/>
          <a:lstStyle/>
          <a:p>
            <a:pPr indent="0" marL="0">
              <a:buNone/>
            </a:pPr>
            <a:r>
              <a:rPr lang="en-US" sz="1100" b="1" dirty="0">
                <a:solidFill>
                  <a:srgbClr val="17213F"/>
                </a:solidFill>
              </a:rPr>
              <a:t>Manager challenges</a:t>
            </a:r>
            <a:endParaRPr lang="en-US" sz="1100" dirty="0"/>
          </a:p>
        </p:txBody>
      </p:sp>
      <p:sp>
        <p:nvSpPr>
          <p:cNvPr id="12" name="Text 9"/>
          <p:cNvSpPr/>
          <p:nvPr/>
        </p:nvSpPr>
        <p:spPr>
          <a:xfrm>
            <a:off x="941832" y="1929384"/>
            <a:ext cx="4736592" cy="2011680"/>
          </a:xfrm>
          <a:prstGeom prst="rect">
            <a:avLst/>
          </a:prstGeom>
          <a:noFill/>
          <a:ln/>
        </p:spPr>
        <p:txBody>
          <a:bodyPr wrap="square" lIns="254" tIns="254" rIns="254" bIns="254" rtlCol="0" anchor="ctr">
            <a:normAutofit/>
          </a:bodyPr>
          <a:lstStyle/>
          <a:p>
            <a:pPr indent="0" marL="0">
              <a:buNone/>
            </a:pPr>
            <a:r>
              <a:rPr lang="en-US" sz="870" dirty="0">
                <a:solidFill>
                  <a:srgbClr val="1F2937"/>
                </a:solidFill>
              </a:rPr>
              <a:t>• Explaining the change clearly</a:t>
            </a:r>
            <a:endParaRPr lang="en-US" sz="870" dirty="0"/>
          </a:p>
          <a:p>
            <a:pPr indent="0" marL="0">
              <a:buNone/>
            </a:pPr>
            <a:r>
              <a:rPr lang="en-US" sz="870" dirty="0">
                <a:solidFill>
                  <a:srgbClr val="1F2937"/>
                </a:solidFill>
              </a:rPr>
              <a:t>• Handling resistance without dismissing concerns</a:t>
            </a:r>
            <a:endParaRPr lang="en-US" sz="870" dirty="0"/>
          </a:p>
          <a:p>
            <a:pPr indent="0" marL="0">
              <a:buNone/>
            </a:pPr>
            <a:r>
              <a:rPr lang="en-US" sz="870" dirty="0">
                <a:solidFill>
                  <a:srgbClr val="1F2937"/>
                </a:solidFill>
              </a:rPr>
              <a:t>• Connecting the change to team priorities</a:t>
            </a:r>
            <a:endParaRPr lang="en-US" sz="870" dirty="0"/>
          </a:p>
          <a:p>
            <a:pPr indent="0" marL="0">
              <a:buNone/>
            </a:pPr>
            <a:r>
              <a:rPr lang="en-US" sz="870" dirty="0">
                <a:solidFill>
                  <a:srgbClr val="1F2937"/>
                </a:solidFill>
              </a:rPr>
              <a:t>• Identifying who needs support</a:t>
            </a:r>
            <a:endParaRPr lang="en-US" sz="870" dirty="0"/>
          </a:p>
          <a:p>
            <a:pPr indent="0" marL="0">
              <a:buNone/>
            </a:pPr>
            <a:r>
              <a:rPr lang="en-US" sz="870" dirty="0">
                <a:solidFill>
                  <a:srgbClr val="1F2937"/>
                </a:solidFill>
              </a:rPr>
              <a:t>• Reinforcing new behaviors over time</a:t>
            </a:r>
            <a:endParaRPr lang="en-US" sz="870" dirty="0"/>
          </a:p>
        </p:txBody>
      </p:sp>
      <p:sp>
        <p:nvSpPr>
          <p:cNvPr id="13" name="Shape 10"/>
          <p:cNvSpPr/>
          <p:nvPr/>
        </p:nvSpPr>
        <p:spPr>
          <a:xfrm>
            <a:off x="6309360" y="1417320"/>
            <a:ext cx="5212080" cy="2651760"/>
          </a:xfrm>
          <a:prstGeom prst="roundRect">
            <a:avLst>
              <a:gd name="adj" fmla="val 4138"/>
            </a:avLst>
          </a:prstGeom>
          <a:solidFill>
            <a:srgbClr val="FFFFFF"/>
          </a:solidFill>
          <a:ln w="12700">
            <a:solidFill>
              <a:srgbClr val="E5E7EB"/>
            </a:solidFill>
            <a:prstDash val="solid"/>
          </a:ln>
        </p:spPr>
      </p:sp>
      <p:sp>
        <p:nvSpPr>
          <p:cNvPr id="14" name="Shape 11"/>
          <p:cNvSpPr/>
          <p:nvPr/>
        </p:nvSpPr>
        <p:spPr>
          <a:xfrm>
            <a:off x="6309360" y="1417320"/>
            <a:ext cx="91440" cy="2651760"/>
          </a:xfrm>
          <a:prstGeom prst="rect">
            <a:avLst/>
          </a:prstGeom>
          <a:solidFill>
            <a:srgbClr val="DDEBFF"/>
          </a:solidFill>
          <a:ln w="12700">
            <a:solidFill>
              <a:srgbClr val="DDEBFF"/>
            </a:solidFill>
            <a:prstDash val="solid"/>
          </a:ln>
        </p:spPr>
      </p:sp>
      <p:sp>
        <p:nvSpPr>
          <p:cNvPr id="15" name="Text 12"/>
          <p:cNvSpPr/>
          <p:nvPr/>
        </p:nvSpPr>
        <p:spPr>
          <a:xfrm>
            <a:off x="6537960" y="1581912"/>
            <a:ext cx="4800600" cy="228600"/>
          </a:xfrm>
          <a:prstGeom prst="rect">
            <a:avLst/>
          </a:prstGeom>
          <a:noFill/>
          <a:ln/>
        </p:spPr>
        <p:txBody>
          <a:bodyPr wrap="square" lIns="0" tIns="0" rIns="0" bIns="0" rtlCol="0" anchor="ctr"/>
          <a:lstStyle/>
          <a:p>
            <a:pPr indent="0" marL="0">
              <a:buNone/>
            </a:pPr>
            <a:r>
              <a:rPr lang="en-US" sz="1100" b="1" dirty="0">
                <a:solidFill>
                  <a:srgbClr val="17213F"/>
                </a:solidFill>
              </a:rPr>
              <a:t>Manager tools</a:t>
            </a:r>
            <a:endParaRPr lang="en-US" sz="1100" dirty="0"/>
          </a:p>
        </p:txBody>
      </p:sp>
      <p:sp>
        <p:nvSpPr>
          <p:cNvPr id="16" name="Text 13"/>
          <p:cNvSpPr/>
          <p:nvPr/>
        </p:nvSpPr>
        <p:spPr>
          <a:xfrm>
            <a:off x="6565392" y="1929384"/>
            <a:ext cx="4736592" cy="2011680"/>
          </a:xfrm>
          <a:prstGeom prst="rect">
            <a:avLst/>
          </a:prstGeom>
          <a:noFill/>
          <a:ln/>
        </p:spPr>
        <p:txBody>
          <a:bodyPr wrap="square" lIns="254" tIns="254" rIns="254" bIns="254" rtlCol="0" anchor="ctr">
            <a:normAutofit/>
          </a:bodyPr>
          <a:lstStyle/>
          <a:p>
            <a:pPr indent="0" marL="0">
              <a:buNone/>
            </a:pPr>
            <a:r>
              <a:rPr lang="en-US" sz="870" dirty="0">
                <a:solidFill>
                  <a:srgbClr val="1F2937"/>
                </a:solidFill>
              </a:rPr>
              <a:t>• Change conversation guide</a:t>
            </a:r>
            <a:endParaRPr lang="en-US" sz="870" dirty="0"/>
          </a:p>
          <a:p>
            <a:pPr indent="0" marL="0">
              <a:buNone/>
            </a:pPr>
            <a:r>
              <a:rPr lang="en-US" sz="870" dirty="0">
                <a:solidFill>
                  <a:srgbClr val="1F2937"/>
                </a:solidFill>
              </a:rPr>
              <a:t>• Resistance response scripts</a:t>
            </a:r>
            <a:endParaRPr lang="en-US" sz="870" dirty="0"/>
          </a:p>
          <a:p>
            <a:pPr indent="0" marL="0">
              <a:buNone/>
            </a:pPr>
            <a:r>
              <a:rPr lang="en-US" sz="870" dirty="0">
                <a:solidFill>
                  <a:srgbClr val="1F2937"/>
                </a:solidFill>
              </a:rPr>
              <a:t>• Team check-in questions</a:t>
            </a:r>
            <a:endParaRPr lang="en-US" sz="870" dirty="0"/>
          </a:p>
          <a:p>
            <a:pPr indent="0" marL="0">
              <a:buNone/>
            </a:pPr>
            <a:r>
              <a:rPr lang="en-US" sz="870" dirty="0">
                <a:solidFill>
                  <a:srgbClr val="1F2937"/>
                </a:solidFill>
              </a:rPr>
              <a:t>• Role impact map</a:t>
            </a:r>
            <a:endParaRPr lang="en-US" sz="870" dirty="0"/>
          </a:p>
          <a:p>
            <a:pPr indent="0" marL="0">
              <a:buNone/>
            </a:pPr>
            <a:r>
              <a:rPr lang="en-US" sz="870" dirty="0">
                <a:solidFill>
                  <a:srgbClr val="1F2937"/>
                </a:solidFill>
              </a:rPr>
              <a:t>• Adoption signals checklist</a:t>
            </a:r>
            <a:endParaRPr lang="en-US" sz="870" dirty="0"/>
          </a:p>
        </p:txBody>
      </p:sp>
      <p:sp>
        <p:nvSpPr>
          <p:cNvPr id="17" name="Shape 14"/>
          <p:cNvSpPr/>
          <p:nvPr/>
        </p:nvSpPr>
        <p:spPr>
          <a:xfrm>
            <a:off x="960120" y="4617720"/>
            <a:ext cx="10287000" cy="685800"/>
          </a:xfrm>
          <a:prstGeom prst="roundRect">
            <a:avLst>
              <a:gd name="adj" fmla="val 13333"/>
            </a:avLst>
          </a:prstGeom>
          <a:solidFill>
            <a:srgbClr val="DDF7EC"/>
          </a:solidFill>
          <a:ln w="12700">
            <a:solidFill>
              <a:srgbClr val="E5E7EB">
                <a:alpha val="85000"/>
              </a:srgbClr>
            </a:solidFill>
            <a:prstDash val="solid"/>
          </a:ln>
        </p:spPr>
      </p:sp>
      <p:sp>
        <p:nvSpPr>
          <p:cNvPr id="18" name="Text 15"/>
          <p:cNvSpPr/>
          <p:nvPr/>
        </p:nvSpPr>
        <p:spPr>
          <a:xfrm>
            <a:off x="1124712" y="4764024"/>
            <a:ext cx="9957816" cy="201168"/>
          </a:xfrm>
          <a:prstGeom prst="rect">
            <a:avLst/>
          </a:prstGeom>
          <a:noFill/>
          <a:ln/>
        </p:spPr>
        <p:txBody>
          <a:bodyPr wrap="square" lIns="0" tIns="0" rIns="0" bIns="0" rtlCol="0" anchor="ctr"/>
          <a:lstStyle/>
          <a:p>
            <a:pPr indent="0" marL="0">
              <a:buNone/>
            </a:pPr>
            <a:r>
              <a:rPr lang="en-US" sz="1030" b="1" dirty="0">
                <a:solidFill>
                  <a:srgbClr val="17213F"/>
                </a:solidFill>
              </a:rPr>
              <a:t>Output</a:t>
            </a:r>
            <a:endParaRPr lang="en-US" sz="1030" dirty="0"/>
          </a:p>
        </p:txBody>
      </p:sp>
      <p:sp>
        <p:nvSpPr>
          <p:cNvPr id="19" name="Text 16"/>
          <p:cNvSpPr/>
          <p:nvPr/>
        </p:nvSpPr>
        <p:spPr>
          <a:xfrm>
            <a:off x="1124712" y="5056632"/>
            <a:ext cx="9957816" cy="11887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Manager Change Conversation Guide that helps leaders communicate the change consistently and practically.</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7FB"/>
        </a:solidFill>
      </p:bgPr>
    </p:bg>
    <p:spTree>
      <p:nvGrpSpPr>
        <p:cNvPr id="1" name=""/>
        <p:cNvGrpSpPr/>
        <p:nvPr/>
      </p:nvGrpSpPr>
      <p:grpSpPr>
        <a:xfrm>
          <a:off x="0" y="0"/>
          <a:ext cx="0" cy="0"/>
          <a:chOff x="0" y="0"/>
          <a:chExt cx="0" cy="0"/>
        </a:xfrm>
      </p:grpSpPr>
      <p:sp>
        <p:nvSpPr>
          <p:cNvPr id="2" name="Shape 0"/>
          <p:cNvSpPr/>
          <p:nvPr/>
        </p:nvSpPr>
        <p:spPr>
          <a:xfrm>
            <a:off x="0" y="0"/>
            <a:ext cx="12191695" cy="329184"/>
          </a:xfrm>
          <a:prstGeom prst="rect">
            <a:avLst/>
          </a:prstGeom>
          <a:solidFill>
            <a:srgbClr val="17213F"/>
          </a:solidFill>
          <a:ln w="12700">
            <a:solidFill>
              <a:srgbClr val="17213F"/>
            </a:solidFill>
            <a:prstDash val="solid"/>
          </a:ln>
        </p:spPr>
      </p:sp>
      <p:sp>
        <p:nvSpPr>
          <p:cNvPr id="3" name="Text 1"/>
          <p:cNvSpPr/>
          <p:nvPr/>
        </p:nvSpPr>
        <p:spPr>
          <a:xfrm>
            <a:off x="411480" y="68580"/>
            <a:ext cx="4114800" cy="164592"/>
          </a:xfrm>
          <a:prstGeom prst="rect">
            <a:avLst/>
          </a:prstGeom>
          <a:noFill/>
          <a:ln/>
        </p:spPr>
        <p:txBody>
          <a:bodyPr wrap="square" lIns="0" tIns="0" rIns="0" bIns="0" rtlCol="0" anchor="ctr"/>
          <a:lstStyle/>
          <a:p>
            <a:pPr indent="0" marL="0">
              <a:buNone/>
            </a:pPr>
            <a:r>
              <a:rPr lang="en-US" sz="750" b="1" dirty="0">
                <a:solidFill>
                  <a:srgbClr val="FFFFFF"/>
                </a:solidFill>
                <a:latin typeface="Aptos" pitchFamily="34" charset="0"/>
                <a:ea typeface="Aptos" pitchFamily="34" charset="-122"/>
                <a:cs typeface="Aptos" pitchFamily="34" charset="-120"/>
              </a:rPr>
              <a:t>MANAGER ENABLEMENT</a:t>
            </a:r>
            <a:endParaRPr lang="en-US" sz="750" dirty="0"/>
          </a:p>
        </p:txBody>
      </p:sp>
      <p:sp>
        <p:nvSpPr>
          <p:cNvPr id="4" name="Text 2"/>
          <p:cNvSpPr/>
          <p:nvPr/>
        </p:nvSpPr>
        <p:spPr>
          <a:xfrm>
            <a:off x="8778240" y="68580"/>
            <a:ext cx="3017520" cy="164592"/>
          </a:xfrm>
          <a:prstGeom prst="rect">
            <a:avLst/>
          </a:prstGeom>
          <a:noFill/>
          <a:ln/>
        </p:spPr>
        <p:txBody>
          <a:bodyPr wrap="square" lIns="0" tIns="0" rIns="0" bIns="0" rtlCol="0" anchor="ctr"/>
          <a:lstStyle/>
          <a:p>
            <a:pPr algn="r" indent="0" marL="0">
              <a:buNone/>
            </a:pPr>
            <a:r>
              <a:rPr lang="en-US" sz="750" dirty="0">
                <a:solidFill>
                  <a:srgbClr val="FFFFFF"/>
                </a:solidFill>
              </a:rPr>
              <a:t>Portfolio Training Deck</a:t>
            </a:r>
            <a:endParaRPr lang="en-US" sz="750" dirty="0"/>
          </a:p>
        </p:txBody>
      </p:sp>
      <p:sp>
        <p:nvSpPr>
          <p:cNvPr id="5" name="Shape 3"/>
          <p:cNvSpPr/>
          <p:nvPr/>
        </p:nvSpPr>
        <p:spPr>
          <a:xfrm>
            <a:off x="411480" y="6510528"/>
            <a:ext cx="11384280" cy="9144"/>
          </a:xfrm>
          <a:prstGeom prst="rect">
            <a:avLst/>
          </a:prstGeom>
          <a:solidFill>
            <a:srgbClr val="E5E7EB"/>
          </a:solidFill>
          <a:ln w="12700">
            <a:solidFill>
              <a:srgbClr val="E5E7EB"/>
            </a:solidFill>
            <a:prstDash val="solid"/>
          </a:ln>
        </p:spPr>
      </p:sp>
      <p:sp>
        <p:nvSpPr>
          <p:cNvPr id="6" name="Text 4"/>
          <p:cNvSpPr/>
          <p:nvPr/>
        </p:nvSpPr>
        <p:spPr>
          <a:xfrm>
            <a:off x="594360" y="566928"/>
            <a:ext cx="10789920" cy="384048"/>
          </a:xfrm>
          <a:prstGeom prst="rect">
            <a:avLst/>
          </a:prstGeom>
          <a:noFill/>
          <a:ln/>
        </p:spPr>
        <p:txBody>
          <a:bodyPr wrap="square" lIns="381" tIns="381" rIns="381" bIns="381" rtlCol="0" anchor="ctr">
            <a:normAutofit/>
          </a:bodyPr>
          <a:lstStyle/>
          <a:p>
            <a:pPr indent="0" marL="0">
              <a:buNone/>
            </a:pPr>
            <a:r>
              <a:rPr lang="en-US" sz="2500" b="1" dirty="0">
                <a:solidFill>
                  <a:srgbClr val="17213F"/>
                </a:solidFill>
                <a:latin typeface="Aptos Display" pitchFamily="34" charset="0"/>
                <a:ea typeface="Aptos Display" pitchFamily="34" charset="-122"/>
                <a:cs typeface="Aptos Display" pitchFamily="34" charset="-120"/>
              </a:rPr>
              <a:t>Manager change conversation guide</a:t>
            </a:r>
            <a:endParaRPr lang="en-US" sz="2500" dirty="0"/>
          </a:p>
        </p:txBody>
      </p:sp>
      <p:sp>
        <p:nvSpPr>
          <p:cNvPr id="7" name="Text 5"/>
          <p:cNvSpPr/>
          <p:nvPr/>
        </p:nvSpPr>
        <p:spPr>
          <a:xfrm>
            <a:off x="612648" y="996696"/>
            <a:ext cx="10698480" cy="237744"/>
          </a:xfrm>
          <a:prstGeom prst="rect">
            <a:avLst/>
          </a:prstGeom>
          <a:noFill/>
          <a:ln/>
        </p:spPr>
        <p:txBody>
          <a:bodyPr wrap="square" lIns="0" tIns="0" rIns="0" bIns="0" rtlCol="0" anchor="ctr">
            <a:normAutofit/>
          </a:bodyPr>
          <a:lstStyle/>
          <a:p>
            <a:pPr indent="0" marL="0">
              <a:buNone/>
            </a:pPr>
            <a:r>
              <a:rPr lang="en-US" sz="1120" dirty="0">
                <a:solidFill>
                  <a:srgbClr val="6B7280"/>
                </a:solidFill>
              </a:rPr>
              <a:t>A structured conversation for team leaders</a:t>
            </a:r>
            <a:endParaRPr lang="en-US" sz="1120" dirty="0"/>
          </a:p>
        </p:txBody>
      </p:sp>
      <p:sp>
        <p:nvSpPr>
          <p:cNvPr id="9" name="Shape 6"/>
          <p:cNvSpPr/>
          <p:nvPr/>
        </p:nvSpPr>
        <p:spPr>
          <a:xfrm>
            <a:off x="731520" y="1554480"/>
            <a:ext cx="1993392" cy="1965960"/>
          </a:xfrm>
          <a:prstGeom prst="roundRect">
            <a:avLst>
              <a:gd name="adj" fmla="val 4651"/>
            </a:avLst>
          </a:prstGeom>
          <a:solidFill>
            <a:srgbClr val="FFFFFF"/>
          </a:solidFill>
          <a:ln w="12700">
            <a:solidFill>
              <a:srgbClr val="E5E7EB">
                <a:alpha val="85000"/>
              </a:srgbClr>
            </a:solidFill>
            <a:prstDash val="solid"/>
          </a:ln>
        </p:spPr>
      </p:sp>
      <p:sp>
        <p:nvSpPr>
          <p:cNvPr id="10" name="Text 7"/>
          <p:cNvSpPr/>
          <p:nvPr/>
        </p:nvSpPr>
        <p:spPr>
          <a:xfrm>
            <a:off x="896112" y="1700784"/>
            <a:ext cx="1664208" cy="201168"/>
          </a:xfrm>
          <a:prstGeom prst="rect">
            <a:avLst/>
          </a:prstGeom>
          <a:noFill/>
          <a:ln/>
        </p:spPr>
        <p:txBody>
          <a:bodyPr wrap="square" lIns="0" tIns="0" rIns="0" bIns="0" rtlCol="0" anchor="ctr"/>
          <a:lstStyle/>
          <a:p>
            <a:pPr indent="0" marL="0">
              <a:buNone/>
            </a:pPr>
            <a:r>
              <a:rPr lang="en-US" sz="1030" b="1" dirty="0">
                <a:solidFill>
                  <a:srgbClr val="17213F"/>
                </a:solidFill>
              </a:rPr>
              <a:t>1. Explain the change</a:t>
            </a:r>
            <a:endParaRPr lang="en-US" sz="1030" dirty="0"/>
          </a:p>
        </p:txBody>
      </p:sp>
      <p:sp>
        <p:nvSpPr>
          <p:cNvPr id="11" name="Text 8"/>
          <p:cNvSpPr/>
          <p:nvPr/>
        </p:nvSpPr>
        <p:spPr>
          <a:xfrm>
            <a:off x="896112" y="1993392"/>
            <a:ext cx="1664208" cy="139903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What is changing and why now?</a:t>
            </a:r>
            <a:endParaRPr lang="en-US" sz="850" dirty="0"/>
          </a:p>
        </p:txBody>
      </p:sp>
      <p:sp>
        <p:nvSpPr>
          <p:cNvPr id="12" name="Shape 9"/>
          <p:cNvSpPr/>
          <p:nvPr/>
        </p:nvSpPr>
        <p:spPr>
          <a:xfrm>
            <a:off x="3017520" y="1554480"/>
            <a:ext cx="1993392" cy="1965960"/>
          </a:xfrm>
          <a:prstGeom prst="roundRect">
            <a:avLst>
              <a:gd name="adj" fmla="val 4651"/>
            </a:avLst>
          </a:prstGeom>
          <a:solidFill>
            <a:srgbClr val="F1EEFF"/>
          </a:solidFill>
          <a:ln w="12700">
            <a:solidFill>
              <a:srgbClr val="E5E7EB">
                <a:alpha val="85000"/>
              </a:srgbClr>
            </a:solidFill>
            <a:prstDash val="solid"/>
          </a:ln>
        </p:spPr>
      </p:sp>
      <p:sp>
        <p:nvSpPr>
          <p:cNvPr id="13" name="Text 10"/>
          <p:cNvSpPr/>
          <p:nvPr/>
        </p:nvSpPr>
        <p:spPr>
          <a:xfrm>
            <a:off x="3182112" y="1700784"/>
            <a:ext cx="1664208" cy="201168"/>
          </a:xfrm>
          <a:prstGeom prst="rect">
            <a:avLst/>
          </a:prstGeom>
          <a:noFill/>
          <a:ln/>
        </p:spPr>
        <p:txBody>
          <a:bodyPr wrap="square" lIns="0" tIns="0" rIns="0" bIns="0" rtlCol="0" anchor="ctr"/>
          <a:lstStyle/>
          <a:p>
            <a:pPr indent="0" marL="0">
              <a:buNone/>
            </a:pPr>
            <a:r>
              <a:rPr lang="en-US" sz="1030" b="1" dirty="0">
                <a:solidFill>
                  <a:srgbClr val="17213F"/>
                </a:solidFill>
              </a:rPr>
              <a:t>2. Connect to the team</a:t>
            </a:r>
            <a:endParaRPr lang="en-US" sz="1030" dirty="0"/>
          </a:p>
        </p:txBody>
      </p:sp>
      <p:sp>
        <p:nvSpPr>
          <p:cNvPr id="14" name="Text 11"/>
          <p:cNvSpPr/>
          <p:nvPr/>
        </p:nvSpPr>
        <p:spPr>
          <a:xfrm>
            <a:off x="3182112" y="1993392"/>
            <a:ext cx="1664208" cy="139903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What does it mean for our work?</a:t>
            </a:r>
            <a:endParaRPr lang="en-US" sz="850" dirty="0"/>
          </a:p>
        </p:txBody>
      </p:sp>
      <p:sp>
        <p:nvSpPr>
          <p:cNvPr id="15" name="Shape 12"/>
          <p:cNvSpPr/>
          <p:nvPr/>
        </p:nvSpPr>
        <p:spPr>
          <a:xfrm>
            <a:off x="5303520" y="1554480"/>
            <a:ext cx="1993392" cy="1965960"/>
          </a:xfrm>
          <a:prstGeom prst="roundRect">
            <a:avLst>
              <a:gd name="adj" fmla="val 4651"/>
            </a:avLst>
          </a:prstGeom>
          <a:solidFill>
            <a:srgbClr val="FFFFFF"/>
          </a:solidFill>
          <a:ln w="12700">
            <a:solidFill>
              <a:srgbClr val="E5E7EB">
                <a:alpha val="85000"/>
              </a:srgbClr>
            </a:solidFill>
            <a:prstDash val="solid"/>
          </a:ln>
        </p:spPr>
      </p:sp>
      <p:sp>
        <p:nvSpPr>
          <p:cNvPr id="16" name="Text 13"/>
          <p:cNvSpPr/>
          <p:nvPr/>
        </p:nvSpPr>
        <p:spPr>
          <a:xfrm>
            <a:off x="5468112" y="1700784"/>
            <a:ext cx="1664208" cy="201168"/>
          </a:xfrm>
          <a:prstGeom prst="rect">
            <a:avLst/>
          </a:prstGeom>
          <a:noFill/>
          <a:ln/>
        </p:spPr>
        <p:txBody>
          <a:bodyPr wrap="square" lIns="0" tIns="0" rIns="0" bIns="0" rtlCol="0" anchor="ctr"/>
          <a:lstStyle/>
          <a:p>
            <a:pPr indent="0" marL="0">
              <a:buNone/>
            </a:pPr>
            <a:r>
              <a:rPr lang="en-US" sz="1030" b="1" dirty="0">
                <a:solidFill>
                  <a:srgbClr val="17213F"/>
                </a:solidFill>
              </a:rPr>
              <a:t>3. Invite concerns</a:t>
            </a:r>
            <a:endParaRPr lang="en-US" sz="1030" dirty="0"/>
          </a:p>
        </p:txBody>
      </p:sp>
      <p:sp>
        <p:nvSpPr>
          <p:cNvPr id="17" name="Text 14"/>
          <p:cNvSpPr/>
          <p:nvPr/>
        </p:nvSpPr>
        <p:spPr>
          <a:xfrm>
            <a:off x="5468112" y="1993392"/>
            <a:ext cx="1664208" cy="139903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What feels unclear or difficult?</a:t>
            </a:r>
            <a:endParaRPr lang="en-US" sz="850" dirty="0"/>
          </a:p>
        </p:txBody>
      </p:sp>
      <p:sp>
        <p:nvSpPr>
          <p:cNvPr id="18" name="Shape 15"/>
          <p:cNvSpPr/>
          <p:nvPr/>
        </p:nvSpPr>
        <p:spPr>
          <a:xfrm>
            <a:off x="7589520" y="1554480"/>
            <a:ext cx="1993392" cy="1965960"/>
          </a:xfrm>
          <a:prstGeom prst="roundRect">
            <a:avLst>
              <a:gd name="adj" fmla="val 4651"/>
            </a:avLst>
          </a:prstGeom>
          <a:solidFill>
            <a:srgbClr val="F1EEFF"/>
          </a:solidFill>
          <a:ln w="12700">
            <a:solidFill>
              <a:srgbClr val="E5E7EB">
                <a:alpha val="85000"/>
              </a:srgbClr>
            </a:solidFill>
            <a:prstDash val="solid"/>
          </a:ln>
        </p:spPr>
      </p:sp>
      <p:sp>
        <p:nvSpPr>
          <p:cNvPr id="19" name="Text 16"/>
          <p:cNvSpPr/>
          <p:nvPr/>
        </p:nvSpPr>
        <p:spPr>
          <a:xfrm>
            <a:off x="7754112" y="1700784"/>
            <a:ext cx="1664208" cy="201168"/>
          </a:xfrm>
          <a:prstGeom prst="rect">
            <a:avLst/>
          </a:prstGeom>
          <a:noFill/>
          <a:ln/>
        </p:spPr>
        <p:txBody>
          <a:bodyPr wrap="square" lIns="0" tIns="0" rIns="0" bIns="0" rtlCol="0" anchor="ctr"/>
          <a:lstStyle/>
          <a:p>
            <a:pPr indent="0" marL="0">
              <a:buNone/>
            </a:pPr>
            <a:r>
              <a:rPr lang="en-US" sz="1030" b="1" dirty="0">
                <a:solidFill>
                  <a:srgbClr val="17213F"/>
                </a:solidFill>
              </a:rPr>
              <a:t>4. Clarify support</a:t>
            </a:r>
            <a:endParaRPr lang="en-US" sz="1030" dirty="0"/>
          </a:p>
        </p:txBody>
      </p:sp>
      <p:sp>
        <p:nvSpPr>
          <p:cNvPr id="20" name="Text 17"/>
          <p:cNvSpPr/>
          <p:nvPr/>
        </p:nvSpPr>
        <p:spPr>
          <a:xfrm>
            <a:off x="7754112" y="1993392"/>
            <a:ext cx="1664208" cy="139903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What training, tools, or decisions are needed?</a:t>
            </a:r>
            <a:endParaRPr lang="en-US" sz="850" dirty="0"/>
          </a:p>
        </p:txBody>
      </p:sp>
      <p:sp>
        <p:nvSpPr>
          <p:cNvPr id="21" name="Shape 18"/>
          <p:cNvSpPr/>
          <p:nvPr/>
        </p:nvSpPr>
        <p:spPr>
          <a:xfrm>
            <a:off x="9875520" y="1554480"/>
            <a:ext cx="1993392" cy="1965960"/>
          </a:xfrm>
          <a:prstGeom prst="roundRect">
            <a:avLst>
              <a:gd name="adj" fmla="val 4651"/>
            </a:avLst>
          </a:prstGeom>
          <a:solidFill>
            <a:srgbClr val="FFFFFF"/>
          </a:solidFill>
          <a:ln w="12700">
            <a:solidFill>
              <a:srgbClr val="E5E7EB">
                <a:alpha val="85000"/>
              </a:srgbClr>
            </a:solidFill>
            <a:prstDash val="solid"/>
          </a:ln>
        </p:spPr>
      </p:sp>
      <p:sp>
        <p:nvSpPr>
          <p:cNvPr id="22" name="Text 19"/>
          <p:cNvSpPr/>
          <p:nvPr/>
        </p:nvSpPr>
        <p:spPr>
          <a:xfrm>
            <a:off x="10040112" y="1700784"/>
            <a:ext cx="1664208" cy="201168"/>
          </a:xfrm>
          <a:prstGeom prst="rect">
            <a:avLst/>
          </a:prstGeom>
          <a:noFill/>
          <a:ln/>
        </p:spPr>
        <p:txBody>
          <a:bodyPr wrap="square" lIns="0" tIns="0" rIns="0" bIns="0" rtlCol="0" anchor="ctr"/>
          <a:lstStyle/>
          <a:p>
            <a:pPr indent="0" marL="0">
              <a:buNone/>
            </a:pPr>
            <a:r>
              <a:rPr lang="en-US" sz="1030" b="1" dirty="0">
                <a:solidFill>
                  <a:srgbClr val="17213F"/>
                </a:solidFill>
              </a:rPr>
              <a:t>5. Agree on next step</a:t>
            </a:r>
            <a:endParaRPr lang="en-US" sz="1030" dirty="0"/>
          </a:p>
        </p:txBody>
      </p:sp>
      <p:sp>
        <p:nvSpPr>
          <p:cNvPr id="23" name="Text 20"/>
          <p:cNvSpPr/>
          <p:nvPr/>
        </p:nvSpPr>
        <p:spPr>
          <a:xfrm>
            <a:off x="10040112" y="1993392"/>
            <a:ext cx="1664208" cy="139903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What will we do differently this week?</a:t>
            </a:r>
            <a:endParaRPr lang="en-US" sz="850" dirty="0"/>
          </a:p>
        </p:txBody>
      </p:sp>
      <p:sp>
        <p:nvSpPr>
          <p:cNvPr id="24" name="Text 21"/>
          <p:cNvSpPr/>
          <p:nvPr/>
        </p:nvSpPr>
        <p:spPr>
          <a:xfrm>
            <a:off x="1280160" y="4800600"/>
            <a:ext cx="9692640" cy="411480"/>
          </a:xfrm>
          <a:prstGeom prst="rect">
            <a:avLst/>
          </a:prstGeom>
          <a:noFill/>
          <a:ln/>
        </p:spPr>
        <p:txBody>
          <a:bodyPr wrap="square" lIns="254" tIns="254" rIns="254" bIns="254" rtlCol="0" anchor="ctr">
            <a:normAutofit/>
          </a:bodyPr>
          <a:lstStyle/>
          <a:p>
            <a:pPr algn="ctr" indent="0" marL="0">
              <a:buNone/>
            </a:pPr>
            <a:r>
              <a:rPr lang="en-US" sz="1600" b="1" dirty="0">
                <a:solidFill>
                  <a:srgbClr val="17213F"/>
                </a:solidFill>
              </a:rPr>
              <a:t>Manager prompt: “What is one part of this change that feels practical, and one part that still feels unclear?”</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6F7FB"/>
        </a:solidFill>
      </p:bgPr>
    </p:bg>
    <p:spTree>
      <p:nvGrpSpPr>
        <p:cNvPr id="1" name=""/>
        <p:cNvGrpSpPr/>
        <p:nvPr/>
      </p:nvGrpSpPr>
      <p:grpSpPr>
        <a:xfrm>
          <a:off x="0" y="0"/>
          <a:ext cx="0" cy="0"/>
          <a:chOff x="0" y="0"/>
          <a:chExt cx="0" cy="0"/>
        </a:xfrm>
      </p:grpSpPr>
      <p:sp>
        <p:nvSpPr>
          <p:cNvPr id="2" name="Shape 0"/>
          <p:cNvSpPr/>
          <p:nvPr/>
        </p:nvSpPr>
        <p:spPr>
          <a:xfrm>
            <a:off x="0" y="0"/>
            <a:ext cx="12191695" cy="329184"/>
          </a:xfrm>
          <a:prstGeom prst="rect">
            <a:avLst/>
          </a:prstGeom>
          <a:solidFill>
            <a:srgbClr val="17213F"/>
          </a:solidFill>
          <a:ln w="12700">
            <a:solidFill>
              <a:srgbClr val="17213F"/>
            </a:solidFill>
            <a:prstDash val="solid"/>
          </a:ln>
        </p:spPr>
      </p:sp>
      <p:sp>
        <p:nvSpPr>
          <p:cNvPr id="3" name="Text 1"/>
          <p:cNvSpPr/>
          <p:nvPr/>
        </p:nvSpPr>
        <p:spPr>
          <a:xfrm>
            <a:off x="411480" y="68580"/>
            <a:ext cx="4114800" cy="164592"/>
          </a:xfrm>
          <a:prstGeom prst="rect">
            <a:avLst/>
          </a:prstGeom>
          <a:noFill/>
          <a:ln/>
        </p:spPr>
        <p:txBody>
          <a:bodyPr wrap="square" lIns="0" tIns="0" rIns="0" bIns="0" rtlCol="0" anchor="ctr"/>
          <a:lstStyle/>
          <a:p>
            <a:pPr indent="0" marL="0">
              <a:buNone/>
            </a:pPr>
            <a:r>
              <a:rPr lang="en-US" sz="750" b="1" dirty="0">
                <a:solidFill>
                  <a:srgbClr val="FFFFFF"/>
                </a:solidFill>
                <a:latin typeface="Aptos" pitchFamily="34" charset="0"/>
                <a:ea typeface="Aptos" pitchFamily="34" charset="-122"/>
                <a:cs typeface="Aptos" pitchFamily="34" charset="-120"/>
              </a:rPr>
              <a:t>SIMULATION</a:t>
            </a:r>
            <a:endParaRPr lang="en-US" sz="750" dirty="0"/>
          </a:p>
        </p:txBody>
      </p:sp>
      <p:sp>
        <p:nvSpPr>
          <p:cNvPr id="4" name="Text 2"/>
          <p:cNvSpPr/>
          <p:nvPr/>
        </p:nvSpPr>
        <p:spPr>
          <a:xfrm>
            <a:off x="8778240" y="68580"/>
            <a:ext cx="3017520" cy="164592"/>
          </a:xfrm>
          <a:prstGeom prst="rect">
            <a:avLst/>
          </a:prstGeom>
          <a:noFill/>
          <a:ln/>
        </p:spPr>
        <p:txBody>
          <a:bodyPr wrap="square" lIns="0" tIns="0" rIns="0" bIns="0" rtlCol="0" anchor="ctr"/>
          <a:lstStyle/>
          <a:p>
            <a:pPr algn="r" indent="0" marL="0">
              <a:buNone/>
            </a:pPr>
            <a:r>
              <a:rPr lang="en-US" sz="750" dirty="0">
                <a:solidFill>
                  <a:srgbClr val="FFFFFF"/>
                </a:solidFill>
              </a:rPr>
              <a:t>Portfolio Training Deck</a:t>
            </a:r>
            <a:endParaRPr lang="en-US" sz="750" dirty="0"/>
          </a:p>
        </p:txBody>
      </p:sp>
      <p:sp>
        <p:nvSpPr>
          <p:cNvPr id="5" name="Shape 3"/>
          <p:cNvSpPr/>
          <p:nvPr/>
        </p:nvSpPr>
        <p:spPr>
          <a:xfrm>
            <a:off x="411480" y="6510528"/>
            <a:ext cx="11384280" cy="9144"/>
          </a:xfrm>
          <a:prstGeom prst="rect">
            <a:avLst/>
          </a:prstGeom>
          <a:solidFill>
            <a:srgbClr val="E5E7EB"/>
          </a:solidFill>
          <a:ln w="12700">
            <a:solidFill>
              <a:srgbClr val="E5E7EB"/>
            </a:solidFill>
            <a:prstDash val="solid"/>
          </a:ln>
        </p:spPr>
      </p:sp>
      <p:sp>
        <p:nvSpPr>
          <p:cNvPr id="6" name="Text 4"/>
          <p:cNvSpPr/>
          <p:nvPr/>
        </p:nvSpPr>
        <p:spPr>
          <a:xfrm>
            <a:off x="594360" y="566928"/>
            <a:ext cx="10789920" cy="384048"/>
          </a:xfrm>
          <a:prstGeom prst="rect">
            <a:avLst/>
          </a:prstGeom>
          <a:noFill/>
          <a:ln/>
        </p:spPr>
        <p:txBody>
          <a:bodyPr wrap="square" lIns="381" tIns="381" rIns="381" bIns="381" rtlCol="0" anchor="ctr">
            <a:normAutofit/>
          </a:bodyPr>
          <a:lstStyle/>
          <a:p>
            <a:pPr indent="0" marL="0">
              <a:buNone/>
            </a:pPr>
            <a:r>
              <a:rPr lang="en-US" sz="2500" b="1" dirty="0">
                <a:solidFill>
                  <a:srgbClr val="17213F"/>
                </a:solidFill>
                <a:latin typeface="Aptos Display" pitchFamily="34" charset="0"/>
                <a:ea typeface="Aptos Display" pitchFamily="34" charset="-122"/>
                <a:cs typeface="Aptos Display" pitchFamily="34" charset="-120"/>
              </a:rPr>
              <a:t>Simulation 1: New strategic identity</a:t>
            </a:r>
            <a:endParaRPr lang="en-US" sz="2500" dirty="0"/>
          </a:p>
        </p:txBody>
      </p:sp>
      <p:sp>
        <p:nvSpPr>
          <p:cNvPr id="7" name="Text 5"/>
          <p:cNvSpPr/>
          <p:nvPr/>
        </p:nvSpPr>
        <p:spPr>
          <a:xfrm>
            <a:off x="612648" y="996696"/>
            <a:ext cx="10698480" cy="237744"/>
          </a:xfrm>
          <a:prstGeom prst="rect">
            <a:avLst/>
          </a:prstGeom>
          <a:noFill/>
          <a:ln/>
        </p:spPr>
        <p:txBody>
          <a:bodyPr wrap="square" lIns="0" tIns="0" rIns="0" bIns="0" rtlCol="0" anchor="ctr">
            <a:normAutofit/>
          </a:bodyPr>
          <a:lstStyle/>
          <a:p>
            <a:pPr indent="0" marL="0">
              <a:buNone/>
            </a:pPr>
            <a:r>
              <a:rPr lang="en-US" sz="1120" dirty="0">
                <a:solidFill>
                  <a:srgbClr val="6B7280"/>
                </a:solidFill>
              </a:rPr>
              <a:t>Inspired by strategic rebranding and new technology direction</a:t>
            </a:r>
            <a:endParaRPr lang="en-US" sz="1120" dirty="0"/>
          </a:p>
        </p:txBody>
      </p:sp>
      <p:sp>
        <p:nvSpPr>
          <p:cNvPr id="9" name="Shape 6"/>
          <p:cNvSpPr/>
          <p:nvPr/>
        </p:nvSpPr>
        <p:spPr>
          <a:xfrm>
            <a:off x="685800" y="1417320"/>
            <a:ext cx="5303520" cy="1188720"/>
          </a:xfrm>
          <a:prstGeom prst="roundRect">
            <a:avLst>
              <a:gd name="adj" fmla="val 7692"/>
            </a:avLst>
          </a:prstGeom>
          <a:solidFill>
            <a:srgbClr val="FFFFFF"/>
          </a:solidFill>
          <a:ln w="12700">
            <a:solidFill>
              <a:srgbClr val="E5E7EB">
                <a:alpha val="85000"/>
              </a:srgbClr>
            </a:solidFill>
            <a:prstDash val="solid"/>
          </a:ln>
        </p:spPr>
      </p:sp>
      <p:sp>
        <p:nvSpPr>
          <p:cNvPr id="10" name="Text 7"/>
          <p:cNvSpPr/>
          <p:nvPr/>
        </p:nvSpPr>
        <p:spPr>
          <a:xfrm>
            <a:off x="850392" y="1563624"/>
            <a:ext cx="4974336" cy="201168"/>
          </a:xfrm>
          <a:prstGeom prst="rect">
            <a:avLst/>
          </a:prstGeom>
          <a:noFill/>
          <a:ln/>
        </p:spPr>
        <p:txBody>
          <a:bodyPr wrap="square" lIns="0" tIns="0" rIns="0" bIns="0" rtlCol="0" anchor="ctr"/>
          <a:lstStyle/>
          <a:p>
            <a:pPr indent="0" marL="0">
              <a:buNone/>
            </a:pPr>
            <a:r>
              <a:rPr lang="en-US" sz="1030" b="1" dirty="0">
                <a:solidFill>
                  <a:srgbClr val="17213F"/>
                </a:solidFill>
              </a:rPr>
              <a:t>Scenario</a:t>
            </a:r>
            <a:endParaRPr lang="en-US" sz="1030" dirty="0"/>
          </a:p>
        </p:txBody>
      </p:sp>
      <p:sp>
        <p:nvSpPr>
          <p:cNvPr id="11" name="Text 8"/>
          <p:cNvSpPr/>
          <p:nvPr/>
        </p:nvSpPr>
        <p:spPr>
          <a:xfrm>
            <a:off x="850392" y="1856232"/>
            <a:ext cx="4974336" cy="62179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The company announces a new strategic identity focused on immersive digital experiences and future-facing technologies. Employees are excited but unsure how the new direction affects their existing products and teams.</a:t>
            </a:r>
            <a:endParaRPr lang="en-US" sz="850" dirty="0"/>
          </a:p>
        </p:txBody>
      </p:sp>
      <p:sp>
        <p:nvSpPr>
          <p:cNvPr id="12" name="Shape 9"/>
          <p:cNvSpPr/>
          <p:nvPr/>
        </p:nvSpPr>
        <p:spPr>
          <a:xfrm>
            <a:off x="6263640" y="1417320"/>
            <a:ext cx="5257800" cy="1188720"/>
          </a:xfrm>
          <a:prstGeom prst="roundRect">
            <a:avLst>
              <a:gd name="adj" fmla="val 7692"/>
            </a:avLst>
          </a:prstGeom>
          <a:solidFill>
            <a:srgbClr val="F1EEFF"/>
          </a:solidFill>
          <a:ln w="12700">
            <a:solidFill>
              <a:srgbClr val="E5E7EB">
                <a:alpha val="85000"/>
              </a:srgbClr>
            </a:solidFill>
            <a:prstDash val="solid"/>
          </a:ln>
        </p:spPr>
      </p:sp>
      <p:sp>
        <p:nvSpPr>
          <p:cNvPr id="13" name="Text 10"/>
          <p:cNvSpPr/>
          <p:nvPr/>
        </p:nvSpPr>
        <p:spPr>
          <a:xfrm>
            <a:off x="6428232" y="1563624"/>
            <a:ext cx="4928616" cy="201168"/>
          </a:xfrm>
          <a:prstGeom prst="rect">
            <a:avLst/>
          </a:prstGeom>
          <a:noFill/>
          <a:ln/>
        </p:spPr>
        <p:txBody>
          <a:bodyPr wrap="square" lIns="0" tIns="0" rIns="0" bIns="0" rtlCol="0" anchor="ctr"/>
          <a:lstStyle/>
          <a:p>
            <a:pPr indent="0" marL="0">
              <a:buNone/>
            </a:pPr>
            <a:r>
              <a:rPr lang="en-US" sz="1030" b="1" dirty="0">
                <a:solidFill>
                  <a:srgbClr val="17213F"/>
                </a:solidFill>
              </a:rPr>
              <a:t>Manager task</a:t>
            </a:r>
            <a:endParaRPr lang="en-US" sz="1030" dirty="0"/>
          </a:p>
        </p:txBody>
      </p:sp>
      <p:sp>
        <p:nvSpPr>
          <p:cNvPr id="14" name="Text 11"/>
          <p:cNvSpPr/>
          <p:nvPr/>
        </p:nvSpPr>
        <p:spPr>
          <a:xfrm>
            <a:off x="6428232" y="1856232"/>
            <a:ext cx="4928616" cy="62179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Prepare a team conversation that explains the change, addresses uncertainty, and connects the vision to immediate team priorities.</a:t>
            </a:r>
            <a:endParaRPr lang="en-US" sz="850" dirty="0"/>
          </a:p>
        </p:txBody>
      </p:sp>
      <p:sp>
        <p:nvSpPr>
          <p:cNvPr id="15" name="Shape 12"/>
          <p:cNvSpPr/>
          <p:nvPr/>
        </p:nvSpPr>
        <p:spPr>
          <a:xfrm>
            <a:off x="777240" y="3063240"/>
            <a:ext cx="5074920" cy="2240280"/>
          </a:xfrm>
          <a:prstGeom prst="roundRect">
            <a:avLst>
              <a:gd name="adj" fmla="val 4898"/>
            </a:avLst>
          </a:prstGeom>
          <a:solidFill>
            <a:srgbClr val="FFFFFF"/>
          </a:solidFill>
          <a:ln w="12700">
            <a:solidFill>
              <a:srgbClr val="E5E7EB"/>
            </a:solidFill>
            <a:prstDash val="solid"/>
          </a:ln>
        </p:spPr>
      </p:sp>
      <p:sp>
        <p:nvSpPr>
          <p:cNvPr id="16" name="Shape 13"/>
          <p:cNvSpPr/>
          <p:nvPr/>
        </p:nvSpPr>
        <p:spPr>
          <a:xfrm>
            <a:off x="777240" y="3063240"/>
            <a:ext cx="91440" cy="2240280"/>
          </a:xfrm>
          <a:prstGeom prst="rect">
            <a:avLst/>
          </a:prstGeom>
          <a:solidFill>
            <a:srgbClr val="DDEBFF"/>
          </a:solidFill>
          <a:ln w="12700">
            <a:solidFill>
              <a:srgbClr val="DDEBFF"/>
            </a:solidFill>
            <a:prstDash val="solid"/>
          </a:ln>
        </p:spPr>
      </p:sp>
      <p:sp>
        <p:nvSpPr>
          <p:cNvPr id="17" name="Text 14"/>
          <p:cNvSpPr/>
          <p:nvPr/>
        </p:nvSpPr>
        <p:spPr>
          <a:xfrm>
            <a:off x="1005840" y="3227832"/>
            <a:ext cx="4663440" cy="228600"/>
          </a:xfrm>
          <a:prstGeom prst="rect">
            <a:avLst/>
          </a:prstGeom>
          <a:noFill/>
          <a:ln/>
        </p:spPr>
        <p:txBody>
          <a:bodyPr wrap="square" lIns="0" tIns="0" rIns="0" bIns="0" rtlCol="0" anchor="ctr"/>
          <a:lstStyle/>
          <a:p>
            <a:pPr indent="0" marL="0">
              <a:buNone/>
            </a:pPr>
            <a:r>
              <a:rPr lang="en-US" sz="1100" b="1" dirty="0">
                <a:solidFill>
                  <a:srgbClr val="17213F"/>
                </a:solidFill>
              </a:rPr>
              <a:t>Discussion questions</a:t>
            </a:r>
            <a:endParaRPr lang="en-US" sz="1100" dirty="0"/>
          </a:p>
        </p:txBody>
      </p:sp>
      <p:sp>
        <p:nvSpPr>
          <p:cNvPr id="18" name="Text 15"/>
          <p:cNvSpPr/>
          <p:nvPr/>
        </p:nvSpPr>
        <p:spPr>
          <a:xfrm>
            <a:off x="1033272" y="3575304"/>
            <a:ext cx="4599432" cy="1600200"/>
          </a:xfrm>
          <a:prstGeom prst="rect">
            <a:avLst/>
          </a:prstGeom>
          <a:noFill/>
          <a:ln/>
        </p:spPr>
        <p:txBody>
          <a:bodyPr wrap="square" lIns="254" tIns="254" rIns="254" bIns="254" rtlCol="0" anchor="ctr">
            <a:normAutofit/>
          </a:bodyPr>
          <a:lstStyle/>
          <a:p>
            <a:pPr indent="0" marL="0">
              <a:buNone/>
            </a:pPr>
            <a:r>
              <a:rPr lang="en-US" sz="870" dirty="0">
                <a:solidFill>
                  <a:srgbClr val="1F2937"/>
                </a:solidFill>
              </a:rPr>
              <a:t>• What questions will employees ask?</a:t>
            </a:r>
            <a:endParaRPr lang="en-US" sz="870" dirty="0"/>
          </a:p>
          <a:p>
            <a:pPr indent="0" marL="0">
              <a:buNone/>
            </a:pPr>
            <a:r>
              <a:rPr lang="en-US" sz="870" dirty="0">
                <a:solidFill>
                  <a:srgbClr val="1F2937"/>
                </a:solidFill>
              </a:rPr>
              <a:t>• What should managers avoid saying?</a:t>
            </a:r>
            <a:endParaRPr lang="en-US" sz="870" dirty="0"/>
          </a:p>
          <a:p>
            <a:pPr indent="0" marL="0">
              <a:buNone/>
            </a:pPr>
            <a:r>
              <a:rPr lang="en-US" sz="870" dirty="0">
                <a:solidFill>
                  <a:srgbClr val="1F2937"/>
                </a:solidFill>
              </a:rPr>
              <a:t>• How can the vision be translated into daily work?</a:t>
            </a:r>
            <a:endParaRPr lang="en-US" sz="870" dirty="0"/>
          </a:p>
          <a:p>
            <a:pPr indent="0" marL="0">
              <a:buNone/>
            </a:pPr>
            <a:r>
              <a:rPr lang="en-US" sz="870" dirty="0">
                <a:solidFill>
                  <a:srgbClr val="1F2937"/>
                </a:solidFill>
              </a:rPr>
              <a:t>• What support will teams need first?</a:t>
            </a:r>
            <a:endParaRPr lang="en-US" sz="870" dirty="0"/>
          </a:p>
        </p:txBody>
      </p:sp>
      <p:sp>
        <p:nvSpPr>
          <p:cNvPr id="19" name="Shape 16"/>
          <p:cNvSpPr/>
          <p:nvPr/>
        </p:nvSpPr>
        <p:spPr>
          <a:xfrm>
            <a:off x="6355080" y="3063240"/>
            <a:ext cx="5074920" cy="2240280"/>
          </a:xfrm>
          <a:prstGeom prst="roundRect">
            <a:avLst>
              <a:gd name="adj" fmla="val 4898"/>
            </a:avLst>
          </a:prstGeom>
          <a:solidFill>
            <a:srgbClr val="FFFFFF"/>
          </a:solidFill>
          <a:ln w="12700">
            <a:solidFill>
              <a:srgbClr val="E5E7EB"/>
            </a:solidFill>
            <a:prstDash val="solid"/>
          </a:ln>
        </p:spPr>
      </p:sp>
      <p:sp>
        <p:nvSpPr>
          <p:cNvPr id="20" name="Shape 17"/>
          <p:cNvSpPr/>
          <p:nvPr/>
        </p:nvSpPr>
        <p:spPr>
          <a:xfrm>
            <a:off x="6355080" y="3063240"/>
            <a:ext cx="91440" cy="2240280"/>
          </a:xfrm>
          <a:prstGeom prst="rect">
            <a:avLst/>
          </a:prstGeom>
          <a:solidFill>
            <a:srgbClr val="DDF7EC"/>
          </a:solidFill>
          <a:ln w="12700">
            <a:solidFill>
              <a:srgbClr val="DDF7EC"/>
            </a:solidFill>
            <a:prstDash val="solid"/>
          </a:ln>
        </p:spPr>
      </p:sp>
      <p:sp>
        <p:nvSpPr>
          <p:cNvPr id="21" name="Text 18"/>
          <p:cNvSpPr/>
          <p:nvPr/>
        </p:nvSpPr>
        <p:spPr>
          <a:xfrm>
            <a:off x="6583680" y="3227832"/>
            <a:ext cx="4663440" cy="228600"/>
          </a:xfrm>
          <a:prstGeom prst="rect">
            <a:avLst/>
          </a:prstGeom>
          <a:noFill/>
          <a:ln/>
        </p:spPr>
        <p:txBody>
          <a:bodyPr wrap="square" lIns="0" tIns="0" rIns="0" bIns="0" rtlCol="0" anchor="ctr"/>
          <a:lstStyle/>
          <a:p>
            <a:pPr indent="0" marL="0">
              <a:buNone/>
            </a:pPr>
            <a:r>
              <a:rPr lang="en-US" sz="1100" b="1" dirty="0">
                <a:solidFill>
                  <a:srgbClr val="17213F"/>
                </a:solidFill>
              </a:rPr>
              <a:t>Learning point</a:t>
            </a:r>
            <a:endParaRPr lang="en-US" sz="1100" dirty="0"/>
          </a:p>
        </p:txBody>
      </p:sp>
      <p:sp>
        <p:nvSpPr>
          <p:cNvPr id="22" name="Text 19"/>
          <p:cNvSpPr/>
          <p:nvPr/>
        </p:nvSpPr>
        <p:spPr>
          <a:xfrm>
            <a:off x="6611112" y="3575304"/>
            <a:ext cx="4599432" cy="1600200"/>
          </a:xfrm>
          <a:prstGeom prst="rect">
            <a:avLst/>
          </a:prstGeom>
          <a:noFill/>
          <a:ln/>
        </p:spPr>
        <p:txBody>
          <a:bodyPr wrap="square" lIns="254" tIns="254" rIns="254" bIns="254" rtlCol="0" anchor="ctr">
            <a:normAutofit/>
          </a:bodyPr>
          <a:lstStyle/>
          <a:p>
            <a:pPr indent="0" marL="0">
              <a:buNone/>
            </a:pPr>
            <a:r>
              <a:rPr lang="en-US" sz="870" dirty="0">
                <a:solidFill>
                  <a:srgbClr val="1F2937"/>
                </a:solidFill>
              </a:rPr>
              <a:t>• A new vision is not enough. Employees need practical clarity, role-level meaning, and short-term actions that connect the strategy to their work.</a:t>
            </a:r>
            <a:endParaRPr lang="en-US" sz="87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7FB"/>
        </a:solidFill>
      </p:bgPr>
    </p:bg>
    <p:spTree>
      <p:nvGrpSpPr>
        <p:cNvPr id="1" name=""/>
        <p:cNvGrpSpPr/>
        <p:nvPr/>
      </p:nvGrpSpPr>
      <p:grpSpPr>
        <a:xfrm>
          <a:off x="0" y="0"/>
          <a:ext cx="0" cy="0"/>
          <a:chOff x="0" y="0"/>
          <a:chExt cx="0" cy="0"/>
        </a:xfrm>
      </p:grpSpPr>
      <p:sp>
        <p:nvSpPr>
          <p:cNvPr id="2" name="Shape 0"/>
          <p:cNvSpPr/>
          <p:nvPr/>
        </p:nvSpPr>
        <p:spPr>
          <a:xfrm>
            <a:off x="0" y="0"/>
            <a:ext cx="12191695" cy="329184"/>
          </a:xfrm>
          <a:prstGeom prst="rect">
            <a:avLst/>
          </a:prstGeom>
          <a:solidFill>
            <a:srgbClr val="17213F"/>
          </a:solidFill>
          <a:ln w="12700">
            <a:solidFill>
              <a:srgbClr val="17213F"/>
            </a:solidFill>
            <a:prstDash val="solid"/>
          </a:ln>
        </p:spPr>
      </p:sp>
      <p:sp>
        <p:nvSpPr>
          <p:cNvPr id="3" name="Text 1"/>
          <p:cNvSpPr/>
          <p:nvPr/>
        </p:nvSpPr>
        <p:spPr>
          <a:xfrm>
            <a:off x="411480" y="68580"/>
            <a:ext cx="4114800" cy="164592"/>
          </a:xfrm>
          <a:prstGeom prst="rect">
            <a:avLst/>
          </a:prstGeom>
          <a:noFill/>
          <a:ln/>
        </p:spPr>
        <p:txBody>
          <a:bodyPr wrap="square" lIns="0" tIns="0" rIns="0" bIns="0" rtlCol="0" anchor="ctr"/>
          <a:lstStyle/>
          <a:p>
            <a:pPr indent="0" marL="0">
              <a:buNone/>
            </a:pPr>
            <a:r>
              <a:rPr lang="en-US" sz="750" b="1" dirty="0">
                <a:solidFill>
                  <a:srgbClr val="FFFFFF"/>
                </a:solidFill>
                <a:latin typeface="Aptos" pitchFamily="34" charset="0"/>
                <a:ea typeface="Aptos" pitchFamily="34" charset="-122"/>
                <a:cs typeface="Aptos" pitchFamily="34" charset="-120"/>
              </a:rPr>
              <a:t>DEBRIEF</a:t>
            </a:r>
            <a:endParaRPr lang="en-US" sz="750" dirty="0"/>
          </a:p>
        </p:txBody>
      </p:sp>
      <p:sp>
        <p:nvSpPr>
          <p:cNvPr id="4" name="Text 2"/>
          <p:cNvSpPr/>
          <p:nvPr/>
        </p:nvSpPr>
        <p:spPr>
          <a:xfrm>
            <a:off x="8778240" y="68580"/>
            <a:ext cx="3017520" cy="164592"/>
          </a:xfrm>
          <a:prstGeom prst="rect">
            <a:avLst/>
          </a:prstGeom>
          <a:noFill/>
          <a:ln/>
        </p:spPr>
        <p:txBody>
          <a:bodyPr wrap="square" lIns="0" tIns="0" rIns="0" bIns="0" rtlCol="0" anchor="ctr"/>
          <a:lstStyle/>
          <a:p>
            <a:pPr algn="r" indent="0" marL="0">
              <a:buNone/>
            </a:pPr>
            <a:r>
              <a:rPr lang="en-US" sz="750" dirty="0">
                <a:solidFill>
                  <a:srgbClr val="FFFFFF"/>
                </a:solidFill>
              </a:rPr>
              <a:t>Portfolio Training Deck</a:t>
            </a:r>
            <a:endParaRPr lang="en-US" sz="750" dirty="0"/>
          </a:p>
        </p:txBody>
      </p:sp>
      <p:sp>
        <p:nvSpPr>
          <p:cNvPr id="5" name="Shape 3"/>
          <p:cNvSpPr/>
          <p:nvPr/>
        </p:nvSpPr>
        <p:spPr>
          <a:xfrm>
            <a:off x="411480" y="6510528"/>
            <a:ext cx="11384280" cy="9144"/>
          </a:xfrm>
          <a:prstGeom prst="rect">
            <a:avLst/>
          </a:prstGeom>
          <a:solidFill>
            <a:srgbClr val="E5E7EB"/>
          </a:solidFill>
          <a:ln w="12700">
            <a:solidFill>
              <a:srgbClr val="E5E7EB"/>
            </a:solidFill>
            <a:prstDash val="solid"/>
          </a:ln>
        </p:spPr>
      </p:sp>
      <p:sp>
        <p:nvSpPr>
          <p:cNvPr id="6" name="Text 4"/>
          <p:cNvSpPr/>
          <p:nvPr/>
        </p:nvSpPr>
        <p:spPr>
          <a:xfrm>
            <a:off x="594360" y="566928"/>
            <a:ext cx="10789920" cy="384048"/>
          </a:xfrm>
          <a:prstGeom prst="rect">
            <a:avLst/>
          </a:prstGeom>
          <a:noFill/>
          <a:ln/>
        </p:spPr>
        <p:txBody>
          <a:bodyPr wrap="square" lIns="381" tIns="381" rIns="381" bIns="381" rtlCol="0" anchor="ctr">
            <a:normAutofit/>
          </a:bodyPr>
          <a:lstStyle/>
          <a:p>
            <a:pPr indent="0" marL="0">
              <a:buNone/>
            </a:pPr>
            <a:r>
              <a:rPr lang="en-US" sz="2500" b="1" dirty="0">
                <a:solidFill>
                  <a:srgbClr val="17213F"/>
                </a:solidFill>
                <a:latin typeface="Aptos Display" pitchFamily="34" charset="0"/>
                <a:ea typeface="Aptos Display" pitchFamily="34" charset="-122"/>
                <a:cs typeface="Aptos Display" pitchFamily="34" charset="-120"/>
              </a:rPr>
              <a:t>Simulation 1 debrief</a:t>
            </a:r>
            <a:endParaRPr lang="en-US" sz="2500" dirty="0"/>
          </a:p>
        </p:txBody>
      </p:sp>
      <p:sp>
        <p:nvSpPr>
          <p:cNvPr id="7" name="Text 5"/>
          <p:cNvSpPr/>
          <p:nvPr/>
        </p:nvSpPr>
        <p:spPr>
          <a:xfrm>
            <a:off x="612648" y="996696"/>
            <a:ext cx="10698480" cy="237744"/>
          </a:xfrm>
          <a:prstGeom prst="rect">
            <a:avLst/>
          </a:prstGeom>
          <a:noFill/>
          <a:ln/>
        </p:spPr>
        <p:txBody>
          <a:bodyPr wrap="square" lIns="0" tIns="0" rIns="0" bIns="0" rtlCol="0" anchor="ctr">
            <a:normAutofit/>
          </a:bodyPr>
          <a:lstStyle/>
          <a:p>
            <a:pPr indent="0" marL="0">
              <a:buNone/>
            </a:pPr>
            <a:r>
              <a:rPr lang="en-US" sz="1120" dirty="0">
                <a:solidFill>
                  <a:srgbClr val="6B7280"/>
                </a:solidFill>
              </a:rPr>
              <a:t>From vision to behavior</a:t>
            </a:r>
            <a:endParaRPr lang="en-US" sz="1120" dirty="0"/>
          </a:p>
        </p:txBody>
      </p:sp>
      <p:sp>
        <p:nvSpPr>
          <p:cNvPr id="9" name="Shape 6"/>
          <p:cNvSpPr/>
          <p:nvPr/>
        </p:nvSpPr>
        <p:spPr>
          <a:xfrm>
            <a:off x="777240" y="1417320"/>
            <a:ext cx="3383280" cy="1417320"/>
          </a:xfrm>
          <a:prstGeom prst="roundRect">
            <a:avLst>
              <a:gd name="adj" fmla="val 6452"/>
            </a:avLst>
          </a:prstGeom>
          <a:solidFill>
            <a:srgbClr val="FFFFFF"/>
          </a:solidFill>
          <a:ln w="12700">
            <a:solidFill>
              <a:srgbClr val="E5E7EB">
                <a:alpha val="85000"/>
              </a:srgbClr>
            </a:solidFill>
            <a:prstDash val="solid"/>
          </a:ln>
        </p:spPr>
      </p:sp>
      <p:sp>
        <p:nvSpPr>
          <p:cNvPr id="10" name="Text 7"/>
          <p:cNvSpPr/>
          <p:nvPr/>
        </p:nvSpPr>
        <p:spPr>
          <a:xfrm>
            <a:off x="941832" y="1563624"/>
            <a:ext cx="3054096" cy="201168"/>
          </a:xfrm>
          <a:prstGeom prst="rect">
            <a:avLst/>
          </a:prstGeom>
          <a:noFill/>
          <a:ln/>
        </p:spPr>
        <p:txBody>
          <a:bodyPr wrap="square" lIns="0" tIns="0" rIns="0" bIns="0" rtlCol="0" anchor="ctr"/>
          <a:lstStyle/>
          <a:p>
            <a:pPr indent="0" marL="0">
              <a:buNone/>
            </a:pPr>
            <a:r>
              <a:rPr lang="en-US" sz="1030" b="1" dirty="0">
                <a:solidFill>
                  <a:srgbClr val="17213F"/>
                </a:solidFill>
              </a:rPr>
              <a:t>What the change creates</a:t>
            </a:r>
            <a:endParaRPr lang="en-US" sz="1030" dirty="0"/>
          </a:p>
        </p:txBody>
      </p:sp>
      <p:sp>
        <p:nvSpPr>
          <p:cNvPr id="11" name="Text 8"/>
          <p:cNvSpPr/>
          <p:nvPr/>
        </p:nvSpPr>
        <p:spPr>
          <a:xfrm>
            <a:off x="941832" y="1856232"/>
            <a:ext cx="3054096" cy="85039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Excitement, uncertainty, identity questions, and pressure to learn new capabilities.</a:t>
            </a:r>
            <a:endParaRPr lang="en-US" sz="850" dirty="0"/>
          </a:p>
        </p:txBody>
      </p:sp>
      <p:sp>
        <p:nvSpPr>
          <p:cNvPr id="12" name="Shape 9"/>
          <p:cNvSpPr/>
          <p:nvPr/>
        </p:nvSpPr>
        <p:spPr>
          <a:xfrm>
            <a:off x="4434840" y="1417320"/>
            <a:ext cx="3383280" cy="1417320"/>
          </a:xfrm>
          <a:prstGeom prst="roundRect">
            <a:avLst>
              <a:gd name="adj" fmla="val 6452"/>
            </a:avLst>
          </a:prstGeom>
          <a:solidFill>
            <a:srgbClr val="F1EEFF"/>
          </a:solidFill>
          <a:ln w="12700">
            <a:solidFill>
              <a:srgbClr val="E5E7EB">
                <a:alpha val="85000"/>
              </a:srgbClr>
            </a:solidFill>
            <a:prstDash val="solid"/>
          </a:ln>
        </p:spPr>
      </p:sp>
      <p:sp>
        <p:nvSpPr>
          <p:cNvPr id="13" name="Text 10"/>
          <p:cNvSpPr/>
          <p:nvPr/>
        </p:nvSpPr>
        <p:spPr>
          <a:xfrm>
            <a:off x="4599432" y="1563624"/>
            <a:ext cx="3054096" cy="201168"/>
          </a:xfrm>
          <a:prstGeom prst="rect">
            <a:avLst/>
          </a:prstGeom>
          <a:noFill/>
          <a:ln/>
        </p:spPr>
        <p:txBody>
          <a:bodyPr wrap="square" lIns="0" tIns="0" rIns="0" bIns="0" rtlCol="0" anchor="ctr"/>
          <a:lstStyle/>
          <a:p>
            <a:pPr indent="0" marL="0">
              <a:buNone/>
            </a:pPr>
            <a:r>
              <a:rPr lang="en-US" sz="1030" b="1" dirty="0">
                <a:solidFill>
                  <a:srgbClr val="17213F"/>
                </a:solidFill>
              </a:rPr>
              <a:t>What managers must do</a:t>
            </a:r>
            <a:endParaRPr lang="en-US" sz="1030" dirty="0"/>
          </a:p>
        </p:txBody>
      </p:sp>
      <p:sp>
        <p:nvSpPr>
          <p:cNvPr id="14" name="Text 11"/>
          <p:cNvSpPr/>
          <p:nvPr/>
        </p:nvSpPr>
        <p:spPr>
          <a:xfrm>
            <a:off x="4599432" y="1856232"/>
            <a:ext cx="3054096" cy="85039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Connect the strategy to immediate priorities and create space for questions.</a:t>
            </a:r>
            <a:endParaRPr lang="en-US" sz="850" dirty="0"/>
          </a:p>
        </p:txBody>
      </p:sp>
      <p:sp>
        <p:nvSpPr>
          <p:cNvPr id="15" name="Shape 12"/>
          <p:cNvSpPr/>
          <p:nvPr/>
        </p:nvSpPr>
        <p:spPr>
          <a:xfrm>
            <a:off x="8092440" y="1417320"/>
            <a:ext cx="3200400" cy="1417320"/>
          </a:xfrm>
          <a:prstGeom prst="roundRect">
            <a:avLst>
              <a:gd name="adj" fmla="val 6452"/>
            </a:avLst>
          </a:prstGeom>
          <a:solidFill>
            <a:srgbClr val="DDEBFF"/>
          </a:solidFill>
          <a:ln w="12700">
            <a:solidFill>
              <a:srgbClr val="E5E7EB">
                <a:alpha val="85000"/>
              </a:srgbClr>
            </a:solidFill>
            <a:prstDash val="solid"/>
          </a:ln>
        </p:spPr>
      </p:sp>
      <p:sp>
        <p:nvSpPr>
          <p:cNvPr id="16" name="Text 13"/>
          <p:cNvSpPr/>
          <p:nvPr/>
        </p:nvSpPr>
        <p:spPr>
          <a:xfrm>
            <a:off x="8257032" y="1563624"/>
            <a:ext cx="2871216" cy="201168"/>
          </a:xfrm>
          <a:prstGeom prst="rect">
            <a:avLst/>
          </a:prstGeom>
          <a:noFill/>
          <a:ln/>
        </p:spPr>
        <p:txBody>
          <a:bodyPr wrap="square" lIns="0" tIns="0" rIns="0" bIns="0" rtlCol="0" anchor="ctr"/>
          <a:lstStyle/>
          <a:p>
            <a:pPr indent="0" marL="0">
              <a:buNone/>
            </a:pPr>
            <a:r>
              <a:rPr lang="en-US" sz="1030" b="1" dirty="0">
                <a:solidFill>
                  <a:srgbClr val="17213F"/>
                </a:solidFill>
              </a:rPr>
              <a:t>What L&amp;D must support</a:t>
            </a:r>
            <a:endParaRPr lang="en-US" sz="1030" dirty="0"/>
          </a:p>
        </p:txBody>
      </p:sp>
      <p:sp>
        <p:nvSpPr>
          <p:cNvPr id="17" name="Text 14"/>
          <p:cNvSpPr/>
          <p:nvPr/>
        </p:nvSpPr>
        <p:spPr>
          <a:xfrm>
            <a:off x="8257032" y="1856232"/>
            <a:ext cx="2871216" cy="85039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Build capability paths, manager talking points, and feedback loops.</a:t>
            </a:r>
            <a:endParaRPr lang="en-US" sz="850" dirty="0"/>
          </a:p>
        </p:txBody>
      </p:sp>
      <p:sp>
        <p:nvSpPr>
          <p:cNvPr id="18" name="Shape 15"/>
          <p:cNvSpPr/>
          <p:nvPr/>
        </p:nvSpPr>
        <p:spPr>
          <a:xfrm>
            <a:off x="1005840" y="3657600"/>
            <a:ext cx="10104120" cy="1463040"/>
          </a:xfrm>
          <a:prstGeom prst="roundRect">
            <a:avLst>
              <a:gd name="adj" fmla="val 7500"/>
            </a:avLst>
          </a:prstGeom>
          <a:solidFill>
            <a:srgbClr val="FFFFFF"/>
          </a:solidFill>
          <a:ln w="12700">
            <a:solidFill>
              <a:srgbClr val="E5E7EB"/>
            </a:solidFill>
            <a:prstDash val="solid"/>
          </a:ln>
        </p:spPr>
      </p:sp>
      <p:sp>
        <p:nvSpPr>
          <p:cNvPr id="19" name="Shape 16"/>
          <p:cNvSpPr/>
          <p:nvPr/>
        </p:nvSpPr>
        <p:spPr>
          <a:xfrm>
            <a:off x="1005840" y="3657600"/>
            <a:ext cx="91440" cy="1463040"/>
          </a:xfrm>
          <a:prstGeom prst="rect">
            <a:avLst/>
          </a:prstGeom>
          <a:solidFill>
            <a:srgbClr val="DDF7EC"/>
          </a:solidFill>
          <a:ln w="12700">
            <a:solidFill>
              <a:srgbClr val="DDF7EC"/>
            </a:solidFill>
            <a:prstDash val="solid"/>
          </a:ln>
        </p:spPr>
      </p:sp>
      <p:sp>
        <p:nvSpPr>
          <p:cNvPr id="20" name="Text 17"/>
          <p:cNvSpPr/>
          <p:nvPr/>
        </p:nvSpPr>
        <p:spPr>
          <a:xfrm>
            <a:off x="1234440" y="3822192"/>
            <a:ext cx="9692640" cy="228600"/>
          </a:xfrm>
          <a:prstGeom prst="rect">
            <a:avLst/>
          </a:prstGeom>
          <a:noFill/>
          <a:ln/>
        </p:spPr>
        <p:txBody>
          <a:bodyPr wrap="square" lIns="0" tIns="0" rIns="0" bIns="0" rtlCol="0" anchor="ctr"/>
          <a:lstStyle/>
          <a:p>
            <a:pPr indent="0" marL="0">
              <a:buNone/>
            </a:pPr>
            <a:r>
              <a:rPr lang="en-US" sz="1100" b="1" dirty="0">
                <a:solidFill>
                  <a:srgbClr val="17213F"/>
                </a:solidFill>
              </a:rPr>
              <a:t>Facilitator takeaway</a:t>
            </a:r>
            <a:endParaRPr lang="en-US" sz="1100" dirty="0"/>
          </a:p>
        </p:txBody>
      </p:sp>
      <p:sp>
        <p:nvSpPr>
          <p:cNvPr id="21" name="Text 18"/>
          <p:cNvSpPr/>
          <p:nvPr/>
        </p:nvSpPr>
        <p:spPr>
          <a:xfrm>
            <a:off x="1261872" y="4169664"/>
            <a:ext cx="9628632" cy="822960"/>
          </a:xfrm>
          <a:prstGeom prst="rect">
            <a:avLst/>
          </a:prstGeom>
          <a:noFill/>
          <a:ln/>
        </p:spPr>
        <p:txBody>
          <a:bodyPr wrap="square" lIns="254" tIns="254" rIns="254" bIns="254" rtlCol="0" anchor="ctr">
            <a:normAutofit/>
          </a:bodyPr>
          <a:lstStyle/>
          <a:p>
            <a:pPr indent="0" marL="0">
              <a:buNone/>
            </a:pPr>
            <a:r>
              <a:rPr lang="en-US" sz="870" dirty="0">
                <a:solidFill>
                  <a:srgbClr val="1F2937"/>
                </a:solidFill>
              </a:rPr>
              <a:t>Strategic change succeeds when employees understand both the long-term vision and the first practical step they can take this week.</a:t>
            </a:r>
            <a:endParaRPr lang="en-US" sz="87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6F7FB"/>
        </a:solidFill>
      </p:bgPr>
    </p:bg>
    <p:spTree>
      <p:nvGrpSpPr>
        <p:cNvPr id="1" name=""/>
        <p:cNvGrpSpPr/>
        <p:nvPr/>
      </p:nvGrpSpPr>
      <p:grpSpPr>
        <a:xfrm>
          <a:off x="0" y="0"/>
          <a:ext cx="0" cy="0"/>
          <a:chOff x="0" y="0"/>
          <a:chExt cx="0" cy="0"/>
        </a:xfrm>
      </p:grpSpPr>
      <p:sp>
        <p:nvSpPr>
          <p:cNvPr id="2" name="Shape 0"/>
          <p:cNvSpPr/>
          <p:nvPr/>
        </p:nvSpPr>
        <p:spPr>
          <a:xfrm>
            <a:off x="0" y="0"/>
            <a:ext cx="12191695" cy="329184"/>
          </a:xfrm>
          <a:prstGeom prst="rect">
            <a:avLst/>
          </a:prstGeom>
          <a:solidFill>
            <a:srgbClr val="17213F"/>
          </a:solidFill>
          <a:ln w="12700">
            <a:solidFill>
              <a:srgbClr val="17213F"/>
            </a:solidFill>
            <a:prstDash val="solid"/>
          </a:ln>
        </p:spPr>
      </p:sp>
      <p:sp>
        <p:nvSpPr>
          <p:cNvPr id="3" name="Text 1"/>
          <p:cNvSpPr/>
          <p:nvPr/>
        </p:nvSpPr>
        <p:spPr>
          <a:xfrm>
            <a:off x="411480" y="68580"/>
            <a:ext cx="4114800" cy="164592"/>
          </a:xfrm>
          <a:prstGeom prst="rect">
            <a:avLst/>
          </a:prstGeom>
          <a:noFill/>
          <a:ln/>
        </p:spPr>
        <p:txBody>
          <a:bodyPr wrap="square" lIns="0" tIns="0" rIns="0" bIns="0" rtlCol="0" anchor="ctr"/>
          <a:lstStyle/>
          <a:p>
            <a:pPr indent="0" marL="0">
              <a:buNone/>
            </a:pPr>
            <a:r>
              <a:rPr lang="en-US" sz="750" b="1" dirty="0">
                <a:solidFill>
                  <a:srgbClr val="FFFFFF"/>
                </a:solidFill>
                <a:latin typeface="Aptos" pitchFamily="34" charset="0"/>
                <a:ea typeface="Aptos" pitchFamily="34" charset="-122"/>
                <a:cs typeface="Aptos" pitchFamily="34" charset="-120"/>
              </a:rPr>
              <a:t>SIMULATION</a:t>
            </a:r>
            <a:endParaRPr lang="en-US" sz="750" dirty="0"/>
          </a:p>
        </p:txBody>
      </p:sp>
      <p:sp>
        <p:nvSpPr>
          <p:cNvPr id="4" name="Text 2"/>
          <p:cNvSpPr/>
          <p:nvPr/>
        </p:nvSpPr>
        <p:spPr>
          <a:xfrm>
            <a:off x="8778240" y="68580"/>
            <a:ext cx="3017520" cy="164592"/>
          </a:xfrm>
          <a:prstGeom prst="rect">
            <a:avLst/>
          </a:prstGeom>
          <a:noFill/>
          <a:ln/>
        </p:spPr>
        <p:txBody>
          <a:bodyPr wrap="square" lIns="0" tIns="0" rIns="0" bIns="0" rtlCol="0" anchor="ctr"/>
          <a:lstStyle/>
          <a:p>
            <a:pPr algn="r" indent="0" marL="0">
              <a:buNone/>
            </a:pPr>
            <a:r>
              <a:rPr lang="en-US" sz="750" dirty="0">
                <a:solidFill>
                  <a:srgbClr val="FFFFFF"/>
                </a:solidFill>
              </a:rPr>
              <a:t>Portfolio Training Deck</a:t>
            </a:r>
            <a:endParaRPr lang="en-US" sz="750" dirty="0"/>
          </a:p>
        </p:txBody>
      </p:sp>
      <p:sp>
        <p:nvSpPr>
          <p:cNvPr id="5" name="Shape 3"/>
          <p:cNvSpPr/>
          <p:nvPr/>
        </p:nvSpPr>
        <p:spPr>
          <a:xfrm>
            <a:off x="411480" y="6510528"/>
            <a:ext cx="11384280" cy="9144"/>
          </a:xfrm>
          <a:prstGeom prst="rect">
            <a:avLst/>
          </a:prstGeom>
          <a:solidFill>
            <a:srgbClr val="E5E7EB"/>
          </a:solidFill>
          <a:ln w="12700">
            <a:solidFill>
              <a:srgbClr val="E5E7EB"/>
            </a:solidFill>
            <a:prstDash val="solid"/>
          </a:ln>
        </p:spPr>
      </p:sp>
      <p:sp>
        <p:nvSpPr>
          <p:cNvPr id="6" name="Text 4"/>
          <p:cNvSpPr/>
          <p:nvPr/>
        </p:nvSpPr>
        <p:spPr>
          <a:xfrm>
            <a:off x="594360" y="566928"/>
            <a:ext cx="10789920" cy="384048"/>
          </a:xfrm>
          <a:prstGeom prst="rect">
            <a:avLst/>
          </a:prstGeom>
          <a:noFill/>
          <a:ln/>
        </p:spPr>
        <p:txBody>
          <a:bodyPr wrap="square" lIns="381" tIns="381" rIns="381" bIns="381" rtlCol="0" anchor="ctr">
            <a:normAutofit/>
          </a:bodyPr>
          <a:lstStyle/>
          <a:p>
            <a:pPr indent="0" marL="0">
              <a:buNone/>
            </a:pPr>
            <a:r>
              <a:rPr lang="en-US" sz="2500" b="1" dirty="0">
                <a:solidFill>
                  <a:srgbClr val="17213F"/>
                </a:solidFill>
                <a:latin typeface="Aptos Display" pitchFamily="34" charset="0"/>
                <a:ea typeface="Aptos Display" pitchFamily="34" charset="-122"/>
                <a:cs typeface="Aptos Display" pitchFamily="34" charset="-120"/>
              </a:rPr>
              <a:t>Simulation 2: Business model transition</a:t>
            </a:r>
            <a:endParaRPr lang="en-US" sz="2500" dirty="0"/>
          </a:p>
        </p:txBody>
      </p:sp>
      <p:sp>
        <p:nvSpPr>
          <p:cNvPr id="7" name="Text 5"/>
          <p:cNvSpPr/>
          <p:nvPr/>
        </p:nvSpPr>
        <p:spPr>
          <a:xfrm>
            <a:off x="612648" y="996696"/>
            <a:ext cx="10698480" cy="237744"/>
          </a:xfrm>
          <a:prstGeom prst="rect">
            <a:avLst/>
          </a:prstGeom>
          <a:noFill/>
          <a:ln/>
        </p:spPr>
        <p:txBody>
          <a:bodyPr wrap="square" lIns="0" tIns="0" rIns="0" bIns="0" rtlCol="0" anchor="ctr">
            <a:normAutofit/>
          </a:bodyPr>
          <a:lstStyle/>
          <a:p>
            <a:pPr indent="0" marL="0">
              <a:buNone/>
            </a:pPr>
            <a:r>
              <a:rPr lang="en-US" sz="1120" dirty="0">
                <a:solidFill>
                  <a:srgbClr val="6B7280"/>
                </a:solidFill>
              </a:rPr>
              <a:t>Inspired by transition from perpetual licenses to cloud / subscription</a:t>
            </a:r>
            <a:endParaRPr lang="en-US" sz="1120" dirty="0"/>
          </a:p>
        </p:txBody>
      </p:sp>
      <p:sp>
        <p:nvSpPr>
          <p:cNvPr id="9" name="Shape 6"/>
          <p:cNvSpPr/>
          <p:nvPr/>
        </p:nvSpPr>
        <p:spPr>
          <a:xfrm>
            <a:off x="685800" y="1417320"/>
            <a:ext cx="5303520" cy="1188720"/>
          </a:xfrm>
          <a:prstGeom prst="roundRect">
            <a:avLst>
              <a:gd name="adj" fmla="val 7692"/>
            </a:avLst>
          </a:prstGeom>
          <a:solidFill>
            <a:srgbClr val="FFFFFF"/>
          </a:solidFill>
          <a:ln w="12700">
            <a:solidFill>
              <a:srgbClr val="E5E7EB">
                <a:alpha val="85000"/>
              </a:srgbClr>
            </a:solidFill>
            <a:prstDash val="solid"/>
          </a:ln>
        </p:spPr>
      </p:sp>
      <p:sp>
        <p:nvSpPr>
          <p:cNvPr id="10" name="Text 7"/>
          <p:cNvSpPr/>
          <p:nvPr/>
        </p:nvSpPr>
        <p:spPr>
          <a:xfrm>
            <a:off x="850392" y="1563624"/>
            <a:ext cx="4974336" cy="201168"/>
          </a:xfrm>
          <a:prstGeom prst="rect">
            <a:avLst/>
          </a:prstGeom>
          <a:noFill/>
          <a:ln/>
        </p:spPr>
        <p:txBody>
          <a:bodyPr wrap="square" lIns="0" tIns="0" rIns="0" bIns="0" rtlCol="0" anchor="ctr"/>
          <a:lstStyle/>
          <a:p>
            <a:pPr indent="0" marL="0">
              <a:buNone/>
            </a:pPr>
            <a:r>
              <a:rPr lang="en-US" sz="1030" b="1" dirty="0">
                <a:solidFill>
                  <a:srgbClr val="17213F"/>
                </a:solidFill>
              </a:rPr>
              <a:t>Scenario</a:t>
            </a:r>
            <a:endParaRPr lang="en-US" sz="1030" dirty="0"/>
          </a:p>
        </p:txBody>
      </p:sp>
      <p:sp>
        <p:nvSpPr>
          <p:cNvPr id="11" name="Text 8"/>
          <p:cNvSpPr/>
          <p:nvPr/>
        </p:nvSpPr>
        <p:spPr>
          <a:xfrm>
            <a:off x="850392" y="1856232"/>
            <a:ext cx="4974336" cy="62179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The company transitions from one-time product purchases to a subscription-based cloud model. Leadership expects more recurring revenue and more frequent product updates.</a:t>
            </a:r>
            <a:endParaRPr lang="en-US" sz="850" dirty="0"/>
          </a:p>
        </p:txBody>
      </p:sp>
      <p:sp>
        <p:nvSpPr>
          <p:cNvPr id="12" name="Shape 9"/>
          <p:cNvSpPr/>
          <p:nvPr/>
        </p:nvSpPr>
        <p:spPr>
          <a:xfrm>
            <a:off x="6263640" y="1417320"/>
            <a:ext cx="5257800" cy="1188720"/>
          </a:xfrm>
          <a:prstGeom prst="roundRect">
            <a:avLst>
              <a:gd name="adj" fmla="val 7692"/>
            </a:avLst>
          </a:prstGeom>
          <a:solidFill>
            <a:srgbClr val="F1EEFF"/>
          </a:solidFill>
          <a:ln w="12700">
            <a:solidFill>
              <a:srgbClr val="E5E7EB">
                <a:alpha val="85000"/>
              </a:srgbClr>
            </a:solidFill>
            <a:prstDash val="solid"/>
          </a:ln>
        </p:spPr>
      </p:sp>
      <p:sp>
        <p:nvSpPr>
          <p:cNvPr id="13" name="Text 10"/>
          <p:cNvSpPr/>
          <p:nvPr/>
        </p:nvSpPr>
        <p:spPr>
          <a:xfrm>
            <a:off x="6428232" y="1563624"/>
            <a:ext cx="4928616" cy="201168"/>
          </a:xfrm>
          <a:prstGeom prst="rect">
            <a:avLst/>
          </a:prstGeom>
          <a:noFill/>
          <a:ln/>
        </p:spPr>
        <p:txBody>
          <a:bodyPr wrap="square" lIns="0" tIns="0" rIns="0" bIns="0" rtlCol="0" anchor="ctr"/>
          <a:lstStyle/>
          <a:p>
            <a:pPr indent="0" marL="0">
              <a:buNone/>
            </a:pPr>
            <a:r>
              <a:rPr lang="en-US" sz="1030" b="1" dirty="0">
                <a:solidFill>
                  <a:srgbClr val="17213F"/>
                </a:solidFill>
              </a:rPr>
              <a:t>Team challenge</a:t>
            </a:r>
            <a:endParaRPr lang="en-US" sz="1030" dirty="0"/>
          </a:p>
        </p:txBody>
      </p:sp>
      <p:sp>
        <p:nvSpPr>
          <p:cNvPr id="14" name="Text 11"/>
          <p:cNvSpPr/>
          <p:nvPr/>
        </p:nvSpPr>
        <p:spPr>
          <a:xfrm>
            <a:off x="6428232" y="1856232"/>
            <a:ext cx="4928616" cy="62179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Sales, support, and customer success teams must explain the new model to customers who are used to the old way of buying and using the product.</a:t>
            </a:r>
            <a:endParaRPr lang="en-US" sz="850" dirty="0"/>
          </a:p>
        </p:txBody>
      </p:sp>
      <p:sp>
        <p:nvSpPr>
          <p:cNvPr id="15" name="Shape 12"/>
          <p:cNvSpPr/>
          <p:nvPr/>
        </p:nvSpPr>
        <p:spPr>
          <a:xfrm>
            <a:off x="777240" y="3063240"/>
            <a:ext cx="5074920" cy="2240280"/>
          </a:xfrm>
          <a:prstGeom prst="roundRect">
            <a:avLst>
              <a:gd name="adj" fmla="val 4898"/>
            </a:avLst>
          </a:prstGeom>
          <a:solidFill>
            <a:srgbClr val="FFFFFF"/>
          </a:solidFill>
          <a:ln w="12700">
            <a:solidFill>
              <a:srgbClr val="E5E7EB"/>
            </a:solidFill>
            <a:prstDash val="solid"/>
          </a:ln>
        </p:spPr>
      </p:sp>
      <p:sp>
        <p:nvSpPr>
          <p:cNvPr id="16" name="Shape 13"/>
          <p:cNvSpPr/>
          <p:nvPr/>
        </p:nvSpPr>
        <p:spPr>
          <a:xfrm>
            <a:off x="777240" y="3063240"/>
            <a:ext cx="91440" cy="2240280"/>
          </a:xfrm>
          <a:prstGeom prst="rect">
            <a:avLst/>
          </a:prstGeom>
          <a:solidFill>
            <a:srgbClr val="DDEBFF"/>
          </a:solidFill>
          <a:ln w="12700">
            <a:solidFill>
              <a:srgbClr val="DDEBFF"/>
            </a:solidFill>
            <a:prstDash val="solid"/>
          </a:ln>
        </p:spPr>
      </p:sp>
      <p:sp>
        <p:nvSpPr>
          <p:cNvPr id="17" name="Text 14"/>
          <p:cNvSpPr/>
          <p:nvPr/>
        </p:nvSpPr>
        <p:spPr>
          <a:xfrm>
            <a:off x="1005840" y="3227832"/>
            <a:ext cx="4663440" cy="228600"/>
          </a:xfrm>
          <a:prstGeom prst="rect">
            <a:avLst/>
          </a:prstGeom>
          <a:noFill/>
          <a:ln/>
        </p:spPr>
        <p:txBody>
          <a:bodyPr wrap="square" lIns="0" tIns="0" rIns="0" bIns="0" rtlCol="0" anchor="ctr"/>
          <a:lstStyle/>
          <a:p>
            <a:pPr indent="0" marL="0">
              <a:buNone/>
            </a:pPr>
            <a:r>
              <a:rPr lang="en-US" sz="1100" b="1" dirty="0">
                <a:solidFill>
                  <a:srgbClr val="17213F"/>
                </a:solidFill>
              </a:rPr>
              <a:t>Discussion questions</a:t>
            </a:r>
            <a:endParaRPr lang="en-US" sz="1100" dirty="0"/>
          </a:p>
        </p:txBody>
      </p:sp>
      <p:sp>
        <p:nvSpPr>
          <p:cNvPr id="18" name="Text 15"/>
          <p:cNvSpPr/>
          <p:nvPr/>
        </p:nvSpPr>
        <p:spPr>
          <a:xfrm>
            <a:off x="1033272" y="3575304"/>
            <a:ext cx="4599432" cy="1600200"/>
          </a:xfrm>
          <a:prstGeom prst="rect">
            <a:avLst/>
          </a:prstGeom>
          <a:noFill/>
          <a:ln/>
        </p:spPr>
        <p:txBody>
          <a:bodyPr wrap="square" lIns="254" tIns="254" rIns="254" bIns="254" rtlCol="0" anchor="ctr">
            <a:normAutofit/>
          </a:bodyPr>
          <a:lstStyle/>
          <a:p>
            <a:pPr indent="0" marL="0">
              <a:buNone/>
            </a:pPr>
            <a:r>
              <a:rPr lang="en-US" sz="870" dirty="0">
                <a:solidFill>
                  <a:srgbClr val="1F2937"/>
                </a:solidFill>
              </a:rPr>
              <a:t>• What objections will customers raise?</a:t>
            </a:r>
            <a:endParaRPr lang="en-US" sz="870" dirty="0"/>
          </a:p>
          <a:p>
            <a:pPr indent="0" marL="0">
              <a:buNone/>
            </a:pPr>
            <a:r>
              <a:rPr lang="en-US" sz="870" dirty="0">
                <a:solidFill>
                  <a:srgbClr val="1F2937"/>
                </a:solidFill>
              </a:rPr>
              <a:t>• What do customer-facing teams need to learn?</a:t>
            </a:r>
            <a:endParaRPr lang="en-US" sz="870" dirty="0"/>
          </a:p>
          <a:p>
            <a:pPr indent="0" marL="0">
              <a:buNone/>
            </a:pPr>
            <a:r>
              <a:rPr lang="en-US" sz="870" dirty="0">
                <a:solidFill>
                  <a:srgbClr val="1F2937"/>
                </a:solidFill>
              </a:rPr>
              <a:t>• What internal processes will change?</a:t>
            </a:r>
            <a:endParaRPr lang="en-US" sz="870" dirty="0"/>
          </a:p>
          <a:p>
            <a:pPr indent="0" marL="0">
              <a:buNone/>
            </a:pPr>
            <a:r>
              <a:rPr lang="en-US" sz="870" dirty="0">
                <a:solidFill>
                  <a:srgbClr val="1F2937"/>
                </a:solidFill>
              </a:rPr>
              <a:t>• How should managers support teams?</a:t>
            </a:r>
            <a:endParaRPr lang="en-US" sz="870" dirty="0"/>
          </a:p>
        </p:txBody>
      </p:sp>
      <p:sp>
        <p:nvSpPr>
          <p:cNvPr id="19" name="Shape 16"/>
          <p:cNvSpPr/>
          <p:nvPr/>
        </p:nvSpPr>
        <p:spPr>
          <a:xfrm>
            <a:off x="6355080" y="3063240"/>
            <a:ext cx="5074920" cy="2240280"/>
          </a:xfrm>
          <a:prstGeom prst="roundRect">
            <a:avLst>
              <a:gd name="adj" fmla="val 4898"/>
            </a:avLst>
          </a:prstGeom>
          <a:solidFill>
            <a:srgbClr val="FFFFFF"/>
          </a:solidFill>
          <a:ln w="12700">
            <a:solidFill>
              <a:srgbClr val="E5E7EB"/>
            </a:solidFill>
            <a:prstDash val="solid"/>
          </a:ln>
        </p:spPr>
      </p:sp>
      <p:sp>
        <p:nvSpPr>
          <p:cNvPr id="20" name="Shape 17"/>
          <p:cNvSpPr/>
          <p:nvPr/>
        </p:nvSpPr>
        <p:spPr>
          <a:xfrm>
            <a:off x="6355080" y="3063240"/>
            <a:ext cx="91440" cy="2240280"/>
          </a:xfrm>
          <a:prstGeom prst="rect">
            <a:avLst/>
          </a:prstGeom>
          <a:solidFill>
            <a:srgbClr val="DDF7EC"/>
          </a:solidFill>
          <a:ln w="12700">
            <a:solidFill>
              <a:srgbClr val="DDF7EC"/>
            </a:solidFill>
            <a:prstDash val="solid"/>
          </a:ln>
        </p:spPr>
      </p:sp>
      <p:sp>
        <p:nvSpPr>
          <p:cNvPr id="21" name="Text 18"/>
          <p:cNvSpPr/>
          <p:nvPr/>
        </p:nvSpPr>
        <p:spPr>
          <a:xfrm>
            <a:off x="6583680" y="3227832"/>
            <a:ext cx="4663440" cy="228600"/>
          </a:xfrm>
          <a:prstGeom prst="rect">
            <a:avLst/>
          </a:prstGeom>
          <a:noFill/>
          <a:ln/>
        </p:spPr>
        <p:txBody>
          <a:bodyPr wrap="square" lIns="0" tIns="0" rIns="0" bIns="0" rtlCol="0" anchor="ctr"/>
          <a:lstStyle/>
          <a:p>
            <a:pPr indent="0" marL="0">
              <a:buNone/>
            </a:pPr>
            <a:r>
              <a:rPr lang="en-US" sz="1100" b="1" dirty="0">
                <a:solidFill>
                  <a:srgbClr val="17213F"/>
                </a:solidFill>
              </a:rPr>
              <a:t>Learning point</a:t>
            </a:r>
            <a:endParaRPr lang="en-US" sz="1100" dirty="0"/>
          </a:p>
        </p:txBody>
      </p:sp>
      <p:sp>
        <p:nvSpPr>
          <p:cNvPr id="22" name="Text 19"/>
          <p:cNvSpPr/>
          <p:nvPr/>
        </p:nvSpPr>
        <p:spPr>
          <a:xfrm>
            <a:off x="6611112" y="3575304"/>
            <a:ext cx="4599432" cy="1600200"/>
          </a:xfrm>
          <a:prstGeom prst="rect">
            <a:avLst/>
          </a:prstGeom>
          <a:noFill/>
          <a:ln/>
        </p:spPr>
        <p:txBody>
          <a:bodyPr wrap="square" lIns="254" tIns="254" rIns="254" bIns="254" rtlCol="0" anchor="ctr">
            <a:normAutofit/>
          </a:bodyPr>
          <a:lstStyle/>
          <a:p>
            <a:pPr indent="0" marL="0">
              <a:buNone/>
            </a:pPr>
            <a:r>
              <a:rPr lang="en-US" sz="870" dirty="0">
                <a:solidFill>
                  <a:srgbClr val="1F2937"/>
                </a:solidFill>
              </a:rPr>
              <a:t>• Business model change requires more than product training. Teams need messaging, objection handling, process clarity, and confidence.</a:t>
            </a:r>
            <a:endParaRPr lang="en-US" sz="87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7FB"/>
        </a:solidFill>
      </p:bgPr>
    </p:bg>
    <p:spTree>
      <p:nvGrpSpPr>
        <p:cNvPr id="1" name=""/>
        <p:cNvGrpSpPr/>
        <p:nvPr/>
      </p:nvGrpSpPr>
      <p:grpSpPr>
        <a:xfrm>
          <a:off x="0" y="0"/>
          <a:ext cx="0" cy="0"/>
          <a:chOff x="0" y="0"/>
          <a:chExt cx="0" cy="0"/>
        </a:xfrm>
      </p:grpSpPr>
      <p:sp>
        <p:nvSpPr>
          <p:cNvPr id="2" name="Shape 0"/>
          <p:cNvSpPr/>
          <p:nvPr/>
        </p:nvSpPr>
        <p:spPr>
          <a:xfrm>
            <a:off x="0" y="0"/>
            <a:ext cx="12191695" cy="329184"/>
          </a:xfrm>
          <a:prstGeom prst="rect">
            <a:avLst/>
          </a:prstGeom>
          <a:solidFill>
            <a:srgbClr val="17213F"/>
          </a:solidFill>
          <a:ln w="12700">
            <a:solidFill>
              <a:srgbClr val="17213F"/>
            </a:solidFill>
            <a:prstDash val="solid"/>
          </a:ln>
        </p:spPr>
      </p:sp>
      <p:sp>
        <p:nvSpPr>
          <p:cNvPr id="3" name="Text 1"/>
          <p:cNvSpPr/>
          <p:nvPr/>
        </p:nvSpPr>
        <p:spPr>
          <a:xfrm>
            <a:off x="411480" y="68580"/>
            <a:ext cx="4114800" cy="164592"/>
          </a:xfrm>
          <a:prstGeom prst="rect">
            <a:avLst/>
          </a:prstGeom>
          <a:noFill/>
          <a:ln/>
        </p:spPr>
        <p:txBody>
          <a:bodyPr wrap="square" lIns="0" tIns="0" rIns="0" bIns="0" rtlCol="0" anchor="ctr"/>
          <a:lstStyle/>
          <a:p>
            <a:pPr indent="0" marL="0">
              <a:buNone/>
            </a:pPr>
            <a:r>
              <a:rPr lang="en-US" sz="750" b="1" dirty="0">
                <a:solidFill>
                  <a:srgbClr val="FFFFFF"/>
                </a:solidFill>
                <a:latin typeface="Aptos" pitchFamily="34" charset="0"/>
                <a:ea typeface="Aptos" pitchFamily="34" charset="-122"/>
                <a:cs typeface="Aptos" pitchFamily="34" charset="-120"/>
              </a:rPr>
              <a:t>DEBRIEF</a:t>
            </a:r>
            <a:endParaRPr lang="en-US" sz="750" dirty="0"/>
          </a:p>
        </p:txBody>
      </p:sp>
      <p:sp>
        <p:nvSpPr>
          <p:cNvPr id="4" name="Text 2"/>
          <p:cNvSpPr/>
          <p:nvPr/>
        </p:nvSpPr>
        <p:spPr>
          <a:xfrm>
            <a:off x="8778240" y="68580"/>
            <a:ext cx="3017520" cy="164592"/>
          </a:xfrm>
          <a:prstGeom prst="rect">
            <a:avLst/>
          </a:prstGeom>
          <a:noFill/>
          <a:ln/>
        </p:spPr>
        <p:txBody>
          <a:bodyPr wrap="square" lIns="0" tIns="0" rIns="0" bIns="0" rtlCol="0" anchor="ctr"/>
          <a:lstStyle/>
          <a:p>
            <a:pPr algn="r" indent="0" marL="0">
              <a:buNone/>
            </a:pPr>
            <a:r>
              <a:rPr lang="en-US" sz="750" dirty="0">
                <a:solidFill>
                  <a:srgbClr val="FFFFFF"/>
                </a:solidFill>
              </a:rPr>
              <a:t>Portfolio Training Deck</a:t>
            </a:r>
            <a:endParaRPr lang="en-US" sz="750" dirty="0"/>
          </a:p>
        </p:txBody>
      </p:sp>
      <p:sp>
        <p:nvSpPr>
          <p:cNvPr id="5" name="Shape 3"/>
          <p:cNvSpPr/>
          <p:nvPr/>
        </p:nvSpPr>
        <p:spPr>
          <a:xfrm>
            <a:off x="411480" y="6510528"/>
            <a:ext cx="11384280" cy="9144"/>
          </a:xfrm>
          <a:prstGeom prst="rect">
            <a:avLst/>
          </a:prstGeom>
          <a:solidFill>
            <a:srgbClr val="E5E7EB"/>
          </a:solidFill>
          <a:ln w="12700">
            <a:solidFill>
              <a:srgbClr val="E5E7EB"/>
            </a:solidFill>
            <a:prstDash val="solid"/>
          </a:ln>
        </p:spPr>
      </p:sp>
      <p:sp>
        <p:nvSpPr>
          <p:cNvPr id="6" name="Text 4"/>
          <p:cNvSpPr/>
          <p:nvPr/>
        </p:nvSpPr>
        <p:spPr>
          <a:xfrm>
            <a:off x="594360" y="566928"/>
            <a:ext cx="10789920" cy="384048"/>
          </a:xfrm>
          <a:prstGeom prst="rect">
            <a:avLst/>
          </a:prstGeom>
          <a:noFill/>
          <a:ln/>
        </p:spPr>
        <p:txBody>
          <a:bodyPr wrap="square" lIns="381" tIns="381" rIns="381" bIns="381" rtlCol="0" anchor="ctr">
            <a:normAutofit/>
          </a:bodyPr>
          <a:lstStyle/>
          <a:p>
            <a:pPr indent="0" marL="0">
              <a:buNone/>
            </a:pPr>
            <a:r>
              <a:rPr lang="en-US" sz="2500" b="1" dirty="0">
                <a:solidFill>
                  <a:srgbClr val="17213F"/>
                </a:solidFill>
                <a:latin typeface="Aptos Display" pitchFamily="34" charset="0"/>
                <a:ea typeface="Aptos Display" pitchFamily="34" charset="-122"/>
                <a:cs typeface="Aptos Display" pitchFamily="34" charset="-120"/>
              </a:rPr>
              <a:t>Simulation 2 debrief</a:t>
            </a:r>
            <a:endParaRPr lang="en-US" sz="2500" dirty="0"/>
          </a:p>
        </p:txBody>
      </p:sp>
      <p:sp>
        <p:nvSpPr>
          <p:cNvPr id="7" name="Text 5"/>
          <p:cNvSpPr/>
          <p:nvPr/>
        </p:nvSpPr>
        <p:spPr>
          <a:xfrm>
            <a:off x="612648" y="996696"/>
            <a:ext cx="10698480" cy="237744"/>
          </a:xfrm>
          <a:prstGeom prst="rect">
            <a:avLst/>
          </a:prstGeom>
          <a:noFill/>
          <a:ln/>
        </p:spPr>
        <p:txBody>
          <a:bodyPr wrap="square" lIns="0" tIns="0" rIns="0" bIns="0" rtlCol="0" anchor="ctr">
            <a:normAutofit/>
          </a:bodyPr>
          <a:lstStyle/>
          <a:p>
            <a:pPr indent="0" marL="0">
              <a:buNone/>
            </a:pPr>
            <a:r>
              <a:rPr lang="en-US" sz="1120" dirty="0">
                <a:solidFill>
                  <a:srgbClr val="6B7280"/>
                </a:solidFill>
              </a:rPr>
              <a:t>Turning a business shift into enablement needs</a:t>
            </a:r>
            <a:endParaRPr lang="en-US" sz="1120" dirty="0"/>
          </a:p>
        </p:txBody>
      </p:sp>
      <p:sp>
        <p:nvSpPr>
          <p:cNvPr id="9" name="Shape 6"/>
          <p:cNvSpPr/>
          <p:nvPr/>
        </p:nvSpPr>
        <p:spPr>
          <a:xfrm>
            <a:off x="777240" y="1600200"/>
            <a:ext cx="2468880" cy="2057400"/>
          </a:xfrm>
          <a:prstGeom prst="roundRect">
            <a:avLst>
              <a:gd name="adj" fmla="val 4444"/>
            </a:avLst>
          </a:prstGeom>
          <a:solidFill>
            <a:srgbClr val="FFFFFF"/>
          </a:solidFill>
          <a:ln w="12700">
            <a:solidFill>
              <a:srgbClr val="E5E7EB">
                <a:alpha val="85000"/>
              </a:srgbClr>
            </a:solidFill>
            <a:prstDash val="solid"/>
          </a:ln>
        </p:spPr>
      </p:sp>
      <p:sp>
        <p:nvSpPr>
          <p:cNvPr id="10" name="Text 7"/>
          <p:cNvSpPr/>
          <p:nvPr/>
        </p:nvSpPr>
        <p:spPr>
          <a:xfrm>
            <a:off x="941832" y="1746504"/>
            <a:ext cx="2139696" cy="201168"/>
          </a:xfrm>
          <a:prstGeom prst="rect">
            <a:avLst/>
          </a:prstGeom>
          <a:noFill/>
          <a:ln/>
        </p:spPr>
        <p:txBody>
          <a:bodyPr wrap="square" lIns="0" tIns="0" rIns="0" bIns="0" rtlCol="0" anchor="ctr"/>
          <a:lstStyle/>
          <a:p>
            <a:pPr indent="0" marL="0">
              <a:buNone/>
            </a:pPr>
            <a:r>
              <a:rPr lang="en-US" sz="1030" b="1" dirty="0">
                <a:solidFill>
                  <a:srgbClr val="17213F"/>
                </a:solidFill>
              </a:rPr>
              <a:t>Customer impact</a:t>
            </a:r>
            <a:endParaRPr lang="en-US" sz="1030" dirty="0"/>
          </a:p>
        </p:txBody>
      </p:sp>
      <p:sp>
        <p:nvSpPr>
          <p:cNvPr id="11" name="Text 8"/>
          <p:cNvSpPr/>
          <p:nvPr/>
        </p:nvSpPr>
        <p:spPr>
          <a:xfrm>
            <a:off x="941832" y="2039112"/>
            <a:ext cx="2139696" cy="149047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Pricing, access, updates, support, and value explanation.</a:t>
            </a:r>
            <a:endParaRPr lang="en-US" sz="850" dirty="0"/>
          </a:p>
        </p:txBody>
      </p:sp>
      <p:sp>
        <p:nvSpPr>
          <p:cNvPr id="12" name="Shape 9"/>
          <p:cNvSpPr/>
          <p:nvPr/>
        </p:nvSpPr>
        <p:spPr>
          <a:xfrm>
            <a:off x="3611880" y="1600200"/>
            <a:ext cx="2468880" cy="2057400"/>
          </a:xfrm>
          <a:prstGeom prst="roundRect">
            <a:avLst>
              <a:gd name="adj" fmla="val 4444"/>
            </a:avLst>
          </a:prstGeom>
          <a:solidFill>
            <a:srgbClr val="F1EEFF"/>
          </a:solidFill>
          <a:ln w="12700">
            <a:solidFill>
              <a:srgbClr val="E5E7EB">
                <a:alpha val="85000"/>
              </a:srgbClr>
            </a:solidFill>
            <a:prstDash val="solid"/>
          </a:ln>
        </p:spPr>
      </p:sp>
      <p:sp>
        <p:nvSpPr>
          <p:cNvPr id="13" name="Text 10"/>
          <p:cNvSpPr/>
          <p:nvPr/>
        </p:nvSpPr>
        <p:spPr>
          <a:xfrm>
            <a:off x="3776472" y="1746504"/>
            <a:ext cx="2139696" cy="201168"/>
          </a:xfrm>
          <a:prstGeom prst="rect">
            <a:avLst/>
          </a:prstGeom>
          <a:noFill/>
          <a:ln/>
        </p:spPr>
        <p:txBody>
          <a:bodyPr wrap="square" lIns="0" tIns="0" rIns="0" bIns="0" rtlCol="0" anchor="ctr"/>
          <a:lstStyle/>
          <a:p>
            <a:pPr indent="0" marL="0">
              <a:buNone/>
            </a:pPr>
            <a:r>
              <a:rPr lang="en-US" sz="1030" b="1" dirty="0">
                <a:solidFill>
                  <a:srgbClr val="17213F"/>
                </a:solidFill>
              </a:rPr>
              <a:t>Employee impact</a:t>
            </a:r>
            <a:endParaRPr lang="en-US" sz="1030" dirty="0"/>
          </a:p>
        </p:txBody>
      </p:sp>
      <p:sp>
        <p:nvSpPr>
          <p:cNvPr id="14" name="Text 11"/>
          <p:cNvSpPr/>
          <p:nvPr/>
        </p:nvSpPr>
        <p:spPr>
          <a:xfrm>
            <a:off x="3776472" y="2039112"/>
            <a:ext cx="2139696" cy="149047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New workflows, new success metrics, and new customer conversations.</a:t>
            </a:r>
            <a:endParaRPr lang="en-US" sz="850" dirty="0"/>
          </a:p>
        </p:txBody>
      </p:sp>
      <p:sp>
        <p:nvSpPr>
          <p:cNvPr id="15" name="Shape 12"/>
          <p:cNvSpPr/>
          <p:nvPr/>
        </p:nvSpPr>
        <p:spPr>
          <a:xfrm>
            <a:off x="6446520" y="1600200"/>
            <a:ext cx="2468880" cy="2057400"/>
          </a:xfrm>
          <a:prstGeom prst="roundRect">
            <a:avLst>
              <a:gd name="adj" fmla="val 4444"/>
            </a:avLst>
          </a:prstGeom>
          <a:solidFill>
            <a:srgbClr val="FFFFFF"/>
          </a:solidFill>
          <a:ln w="12700">
            <a:solidFill>
              <a:srgbClr val="E5E7EB">
                <a:alpha val="85000"/>
              </a:srgbClr>
            </a:solidFill>
            <a:prstDash val="solid"/>
          </a:ln>
        </p:spPr>
      </p:sp>
      <p:sp>
        <p:nvSpPr>
          <p:cNvPr id="16" name="Text 13"/>
          <p:cNvSpPr/>
          <p:nvPr/>
        </p:nvSpPr>
        <p:spPr>
          <a:xfrm>
            <a:off x="6611112" y="1746504"/>
            <a:ext cx="2139696" cy="201168"/>
          </a:xfrm>
          <a:prstGeom prst="rect">
            <a:avLst/>
          </a:prstGeom>
          <a:noFill/>
          <a:ln/>
        </p:spPr>
        <p:txBody>
          <a:bodyPr wrap="square" lIns="0" tIns="0" rIns="0" bIns="0" rtlCol="0" anchor="ctr"/>
          <a:lstStyle/>
          <a:p>
            <a:pPr indent="0" marL="0">
              <a:buNone/>
            </a:pPr>
            <a:r>
              <a:rPr lang="en-US" sz="1030" b="1" dirty="0">
                <a:solidFill>
                  <a:srgbClr val="17213F"/>
                </a:solidFill>
              </a:rPr>
              <a:t>Manager impact</a:t>
            </a:r>
            <a:endParaRPr lang="en-US" sz="1030" dirty="0"/>
          </a:p>
        </p:txBody>
      </p:sp>
      <p:sp>
        <p:nvSpPr>
          <p:cNvPr id="17" name="Text 14"/>
          <p:cNvSpPr/>
          <p:nvPr/>
        </p:nvSpPr>
        <p:spPr>
          <a:xfrm>
            <a:off x="6611112" y="2039112"/>
            <a:ext cx="2139696" cy="149047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Coaching, objection handling, adoption tracking, and team readiness.</a:t>
            </a:r>
            <a:endParaRPr lang="en-US" sz="850" dirty="0"/>
          </a:p>
        </p:txBody>
      </p:sp>
      <p:sp>
        <p:nvSpPr>
          <p:cNvPr id="18" name="Shape 15"/>
          <p:cNvSpPr/>
          <p:nvPr/>
        </p:nvSpPr>
        <p:spPr>
          <a:xfrm>
            <a:off x="9281160" y="1600200"/>
            <a:ext cx="2468880" cy="2057400"/>
          </a:xfrm>
          <a:prstGeom prst="roundRect">
            <a:avLst>
              <a:gd name="adj" fmla="val 4444"/>
            </a:avLst>
          </a:prstGeom>
          <a:solidFill>
            <a:srgbClr val="F1EEFF"/>
          </a:solidFill>
          <a:ln w="12700">
            <a:solidFill>
              <a:srgbClr val="E5E7EB">
                <a:alpha val="85000"/>
              </a:srgbClr>
            </a:solidFill>
            <a:prstDash val="solid"/>
          </a:ln>
        </p:spPr>
      </p:sp>
      <p:sp>
        <p:nvSpPr>
          <p:cNvPr id="19" name="Text 16"/>
          <p:cNvSpPr/>
          <p:nvPr/>
        </p:nvSpPr>
        <p:spPr>
          <a:xfrm>
            <a:off x="9445752" y="1746504"/>
            <a:ext cx="2139696" cy="201168"/>
          </a:xfrm>
          <a:prstGeom prst="rect">
            <a:avLst/>
          </a:prstGeom>
          <a:noFill/>
          <a:ln/>
        </p:spPr>
        <p:txBody>
          <a:bodyPr wrap="square" lIns="0" tIns="0" rIns="0" bIns="0" rtlCol="0" anchor="ctr"/>
          <a:lstStyle/>
          <a:p>
            <a:pPr indent="0" marL="0">
              <a:buNone/>
            </a:pPr>
            <a:r>
              <a:rPr lang="en-US" sz="1030" b="1" dirty="0">
                <a:solidFill>
                  <a:srgbClr val="17213F"/>
                </a:solidFill>
              </a:rPr>
              <a:t>L&amp;D response</a:t>
            </a:r>
            <a:endParaRPr lang="en-US" sz="1030" dirty="0"/>
          </a:p>
        </p:txBody>
      </p:sp>
      <p:sp>
        <p:nvSpPr>
          <p:cNvPr id="20" name="Text 17"/>
          <p:cNvSpPr/>
          <p:nvPr/>
        </p:nvSpPr>
        <p:spPr>
          <a:xfrm>
            <a:off x="9445752" y="2039112"/>
            <a:ext cx="2139696" cy="149047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Role-based learning paths, scripts, FAQs, simulations, and dashboards.</a:t>
            </a:r>
            <a:endParaRPr lang="en-US" sz="850" dirty="0"/>
          </a:p>
        </p:txBody>
      </p:sp>
      <p:sp>
        <p:nvSpPr>
          <p:cNvPr id="21" name="Shape 18"/>
          <p:cNvSpPr/>
          <p:nvPr/>
        </p:nvSpPr>
        <p:spPr>
          <a:xfrm>
            <a:off x="1188720" y="4617720"/>
            <a:ext cx="9829800" cy="685800"/>
          </a:xfrm>
          <a:prstGeom prst="roundRect">
            <a:avLst>
              <a:gd name="adj" fmla="val 13333"/>
            </a:avLst>
          </a:prstGeom>
          <a:solidFill>
            <a:srgbClr val="DDF7EC"/>
          </a:solidFill>
          <a:ln w="12700">
            <a:solidFill>
              <a:srgbClr val="E5E7EB">
                <a:alpha val="85000"/>
              </a:srgbClr>
            </a:solidFill>
            <a:prstDash val="solid"/>
          </a:ln>
        </p:spPr>
      </p:sp>
      <p:sp>
        <p:nvSpPr>
          <p:cNvPr id="22" name="Text 19"/>
          <p:cNvSpPr/>
          <p:nvPr/>
        </p:nvSpPr>
        <p:spPr>
          <a:xfrm>
            <a:off x="1353312" y="4764024"/>
            <a:ext cx="9500616" cy="201168"/>
          </a:xfrm>
          <a:prstGeom prst="rect">
            <a:avLst/>
          </a:prstGeom>
          <a:noFill/>
          <a:ln/>
        </p:spPr>
        <p:txBody>
          <a:bodyPr wrap="square" lIns="0" tIns="0" rIns="0" bIns="0" rtlCol="0" anchor="ctr"/>
          <a:lstStyle/>
          <a:p>
            <a:pPr indent="0" marL="0">
              <a:buNone/>
            </a:pPr>
            <a:r>
              <a:rPr lang="en-US" sz="1030" b="1" dirty="0">
                <a:solidFill>
                  <a:srgbClr val="17213F"/>
                </a:solidFill>
              </a:rPr>
              <a:t>Key takeaway</a:t>
            </a:r>
            <a:endParaRPr lang="en-US" sz="1030" dirty="0"/>
          </a:p>
        </p:txBody>
      </p:sp>
      <p:sp>
        <p:nvSpPr>
          <p:cNvPr id="23" name="Text 20"/>
          <p:cNvSpPr/>
          <p:nvPr/>
        </p:nvSpPr>
        <p:spPr>
          <a:xfrm>
            <a:off x="1353312" y="5056632"/>
            <a:ext cx="9500616" cy="11887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A transformation becomes real when teams can explain it, sell it, support it, and measure adoption.</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6F7FB"/>
        </a:solidFill>
      </p:bgPr>
    </p:bg>
    <p:spTree>
      <p:nvGrpSpPr>
        <p:cNvPr id="1" name=""/>
        <p:cNvGrpSpPr/>
        <p:nvPr/>
      </p:nvGrpSpPr>
      <p:grpSpPr>
        <a:xfrm>
          <a:off x="0" y="0"/>
          <a:ext cx="0" cy="0"/>
          <a:chOff x="0" y="0"/>
          <a:chExt cx="0" cy="0"/>
        </a:xfrm>
      </p:grpSpPr>
      <p:sp>
        <p:nvSpPr>
          <p:cNvPr id="2" name="Shape 0"/>
          <p:cNvSpPr/>
          <p:nvPr/>
        </p:nvSpPr>
        <p:spPr>
          <a:xfrm>
            <a:off x="0" y="0"/>
            <a:ext cx="12191695" cy="329184"/>
          </a:xfrm>
          <a:prstGeom prst="rect">
            <a:avLst/>
          </a:prstGeom>
          <a:solidFill>
            <a:srgbClr val="17213F"/>
          </a:solidFill>
          <a:ln w="12700">
            <a:solidFill>
              <a:srgbClr val="17213F"/>
            </a:solidFill>
            <a:prstDash val="solid"/>
          </a:ln>
        </p:spPr>
      </p:sp>
      <p:sp>
        <p:nvSpPr>
          <p:cNvPr id="3" name="Text 1"/>
          <p:cNvSpPr/>
          <p:nvPr/>
        </p:nvSpPr>
        <p:spPr>
          <a:xfrm>
            <a:off x="411480" y="68580"/>
            <a:ext cx="4114800" cy="164592"/>
          </a:xfrm>
          <a:prstGeom prst="rect">
            <a:avLst/>
          </a:prstGeom>
          <a:noFill/>
          <a:ln/>
        </p:spPr>
        <p:txBody>
          <a:bodyPr wrap="square" lIns="0" tIns="0" rIns="0" bIns="0" rtlCol="0" anchor="ctr"/>
          <a:lstStyle/>
          <a:p>
            <a:pPr indent="0" marL="0">
              <a:buNone/>
            </a:pPr>
            <a:r>
              <a:rPr lang="en-US" sz="750" b="1" dirty="0">
                <a:solidFill>
                  <a:srgbClr val="FFFFFF"/>
                </a:solidFill>
                <a:latin typeface="Aptos" pitchFamily="34" charset="0"/>
                <a:ea typeface="Aptos" pitchFamily="34" charset="-122"/>
                <a:cs typeface="Aptos" pitchFamily="34" charset="-120"/>
              </a:rPr>
              <a:t>WEEK 5</a:t>
            </a:r>
            <a:endParaRPr lang="en-US" sz="750" dirty="0"/>
          </a:p>
        </p:txBody>
      </p:sp>
      <p:sp>
        <p:nvSpPr>
          <p:cNvPr id="4" name="Text 2"/>
          <p:cNvSpPr/>
          <p:nvPr/>
        </p:nvSpPr>
        <p:spPr>
          <a:xfrm>
            <a:off x="8778240" y="68580"/>
            <a:ext cx="3017520" cy="164592"/>
          </a:xfrm>
          <a:prstGeom prst="rect">
            <a:avLst/>
          </a:prstGeom>
          <a:noFill/>
          <a:ln/>
        </p:spPr>
        <p:txBody>
          <a:bodyPr wrap="square" lIns="0" tIns="0" rIns="0" bIns="0" rtlCol="0" anchor="ctr"/>
          <a:lstStyle/>
          <a:p>
            <a:pPr algn="r" indent="0" marL="0">
              <a:buNone/>
            </a:pPr>
            <a:r>
              <a:rPr lang="en-US" sz="750" dirty="0">
                <a:solidFill>
                  <a:srgbClr val="FFFFFF"/>
                </a:solidFill>
              </a:rPr>
              <a:t>Portfolio Training Deck</a:t>
            </a:r>
            <a:endParaRPr lang="en-US" sz="750" dirty="0"/>
          </a:p>
        </p:txBody>
      </p:sp>
      <p:sp>
        <p:nvSpPr>
          <p:cNvPr id="5" name="Shape 3"/>
          <p:cNvSpPr/>
          <p:nvPr/>
        </p:nvSpPr>
        <p:spPr>
          <a:xfrm>
            <a:off x="411480" y="6510528"/>
            <a:ext cx="11384280" cy="9144"/>
          </a:xfrm>
          <a:prstGeom prst="rect">
            <a:avLst/>
          </a:prstGeom>
          <a:solidFill>
            <a:srgbClr val="E5E7EB"/>
          </a:solidFill>
          <a:ln w="12700">
            <a:solidFill>
              <a:srgbClr val="E5E7EB"/>
            </a:solidFill>
            <a:prstDash val="solid"/>
          </a:ln>
        </p:spPr>
      </p:sp>
      <p:sp>
        <p:nvSpPr>
          <p:cNvPr id="6" name="Text 4"/>
          <p:cNvSpPr/>
          <p:nvPr/>
        </p:nvSpPr>
        <p:spPr>
          <a:xfrm>
            <a:off x="594360" y="566928"/>
            <a:ext cx="10789920" cy="384048"/>
          </a:xfrm>
          <a:prstGeom prst="rect">
            <a:avLst/>
          </a:prstGeom>
          <a:noFill/>
          <a:ln/>
        </p:spPr>
        <p:txBody>
          <a:bodyPr wrap="square" lIns="381" tIns="381" rIns="381" bIns="381" rtlCol="0" anchor="ctr">
            <a:normAutofit/>
          </a:bodyPr>
          <a:lstStyle/>
          <a:p>
            <a:pPr indent="0" marL="0">
              <a:buNone/>
            </a:pPr>
            <a:r>
              <a:rPr lang="en-US" sz="2500" b="1" dirty="0">
                <a:solidFill>
                  <a:srgbClr val="17213F"/>
                </a:solidFill>
                <a:latin typeface="Aptos Display" pitchFamily="34" charset="0"/>
                <a:ea typeface="Aptos Display" pitchFamily="34" charset="-122"/>
                <a:cs typeface="Aptos Display" pitchFamily="34" charset="-120"/>
              </a:rPr>
              <a:t>Week 5: Adoption, feedback &amp; continuous improvement</a:t>
            </a:r>
            <a:endParaRPr lang="en-US" sz="2500" dirty="0"/>
          </a:p>
        </p:txBody>
      </p:sp>
      <p:sp>
        <p:nvSpPr>
          <p:cNvPr id="7" name="Text 5"/>
          <p:cNvSpPr/>
          <p:nvPr/>
        </p:nvSpPr>
        <p:spPr>
          <a:xfrm>
            <a:off x="612648" y="996696"/>
            <a:ext cx="10698480" cy="237744"/>
          </a:xfrm>
          <a:prstGeom prst="rect">
            <a:avLst/>
          </a:prstGeom>
          <a:noFill/>
          <a:ln/>
        </p:spPr>
        <p:txBody>
          <a:bodyPr wrap="square" lIns="0" tIns="0" rIns="0" bIns="0" rtlCol="0" anchor="ctr">
            <a:normAutofit/>
          </a:bodyPr>
          <a:lstStyle/>
          <a:p>
            <a:pPr indent="0" marL="0">
              <a:buNone/>
            </a:pPr>
            <a:r>
              <a:rPr lang="en-US" sz="1120" dirty="0">
                <a:solidFill>
                  <a:srgbClr val="6B7280"/>
                </a:solidFill>
              </a:rPr>
              <a:t>Measuring whether the change is actually taking hold</a:t>
            </a:r>
            <a:endParaRPr lang="en-US" sz="1120" dirty="0"/>
          </a:p>
        </p:txBody>
      </p:sp>
      <p:sp>
        <p:nvSpPr>
          <p:cNvPr id="9" name="Shape 6"/>
          <p:cNvSpPr/>
          <p:nvPr/>
        </p:nvSpPr>
        <p:spPr>
          <a:xfrm>
            <a:off x="685800" y="1417320"/>
            <a:ext cx="5212080" cy="2560320"/>
          </a:xfrm>
          <a:prstGeom prst="roundRect">
            <a:avLst>
              <a:gd name="adj" fmla="val 4286"/>
            </a:avLst>
          </a:prstGeom>
          <a:solidFill>
            <a:srgbClr val="FFFFFF"/>
          </a:solidFill>
          <a:ln w="12700">
            <a:solidFill>
              <a:srgbClr val="E5E7EB"/>
            </a:solidFill>
            <a:prstDash val="solid"/>
          </a:ln>
        </p:spPr>
      </p:sp>
      <p:sp>
        <p:nvSpPr>
          <p:cNvPr id="10" name="Shape 7"/>
          <p:cNvSpPr/>
          <p:nvPr/>
        </p:nvSpPr>
        <p:spPr>
          <a:xfrm>
            <a:off x="685800" y="1417320"/>
            <a:ext cx="91440" cy="2560320"/>
          </a:xfrm>
          <a:prstGeom prst="rect">
            <a:avLst/>
          </a:prstGeom>
          <a:solidFill>
            <a:srgbClr val="DDEBFF"/>
          </a:solidFill>
          <a:ln w="12700">
            <a:solidFill>
              <a:srgbClr val="DDEBFF"/>
            </a:solidFill>
            <a:prstDash val="solid"/>
          </a:ln>
        </p:spPr>
      </p:sp>
      <p:sp>
        <p:nvSpPr>
          <p:cNvPr id="11" name="Text 8"/>
          <p:cNvSpPr/>
          <p:nvPr/>
        </p:nvSpPr>
        <p:spPr>
          <a:xfrm>
            <a:off x="914400" y="1581912"/>
            <a:ext cx="4800600" cy="228600"/>
          </a:xfrm>
          <a:prstGeom prst="rect">
            <a:avLst/>
          </a:prstGeom>
          <a:noFill/>
          <a:ln/>
        </p:spPr>
        <p:txBody>
          <a:bodyPr wrap="square" lIns="0" tIns="0" rIns="0" bIns="0" rtlCol="0" anchor="ctr"/>
          <a:lstStyle/>
          <a:p>
            <a:pPr indent="0" marL="0">
              <a:buNone/>
            </a:pPr>
            <a:r>
              <a:rPr lang="en-US" sz="1100" b="1" dirty="0">
                <a:solidFill>
                  <a:srgbClr val="17213F"/>
                </a:solidFill>
              </a:rPr>
              <a:t>What to measure</a:t>
            </a:r>
            <a:endParaRPr lang="en-US" sz="1100" dirty="0"/>
          </a:p>
        </p:txBody>
      </p:sp>
      <p:sp>
        <p:nvSpPr>
          <p:cNvPr id="12" name="Text 9"/>
          <p:cNvSpPr/>
          <p:nvPr/>
        </p:nvSpPr>
        <p:spPr>
          <a:xfrm>
            <a:off x="941832" y="1929384"/>
            <a:ext cx="4736592" cy="1920240"/>
          </a:xfrm>
          <a:prstGeom prst="rect">
            <a:avLst/>
          </a:prstGeom>
          <a:noFill/>
          <a:ln/>
        </p:spPr>
        <p:txBody>
          <a:bodyPr wrap="square" lIns="254" tIns="254" rIns="254" bIns="254" rtlCol="0" anchor="ctr">
            <a:normAutofit/>
          </a:bodyPr>
          <a:lstStyle/>
          <a:p>
            <a:pPr indent="0" marL="0">
              <a:buNone/>
            </a:pPr>
            <a:r>
              <a:rPr lang="en-US" sz="870" dirty="0">
                <a:solidFill>
                  <a:srgbClr val="1F2937"/>
                </a:solidFill>
              </a:rPr>
              <a:t>• Change understanding</a:t>
            </a:r>
            <a:endParaRPr lang="en-US" sz="870" dirty="0"/>
          </a:p>
          <a:p>
            <a:pPr indent="0" marL="0">
              <a:buNone/>
            </a:pPr>
            <a:r>
              <a:rPr lang="en-US" sz="870" dirty="0">
                <a:solidFill>
                  <a:srgbClr val="1F2937"/>
                </a:solidFill>
              </a:rPr>
              <a:t>• Role clarity</a:t>
            </a:r>
            <a:endParaRPr lang="en-US" sz="870" dirty="0"/>
          </a:p>
          <a:p>
            <a:pPr indent="0" marL="0">
              <a:buNone/>
            </a:pPr>
            <a:r>
              <a:rPr lang="en-US" sz="870" dirty="0">
                <a:solidFill>
                  <a:srgbClr val="1F2937"/>
                </a:solidFill>
              </a:rPr>
              <a:t>• Manager confidence</a:t>
            </a:r>
            <a:endParaRPr lang="en-US" sz="870" dirty="0"/>
          </a:p>
          <a:p>
            <a:pPr indent="0" marL="0">
              <a:buNone/>
            </a:pPr>
            <a:r>
              <a:rPr lang="en-US" sz="870" dirty="0">
                <a:solidFill>
                  <a:srgbClr val="1F2937"/>
                </a:solidFill>
              </a:rPr>
              <a:t>• New skill adoption</a:t>
            </a:r>
            <a:endParaRPr lang="en-US" sz="870" dirty="0"/>
          </a:p>
          <a:p>
            <a:pPr indent="0" marL="0">
              <a:buNone/>
            </a:pPr>
            <a:r>
              <a:rPr lang="en-US" sz="870" dirty="0">
                <a:solidFill>
                  <a:srgbClr val="1F2937"/>
                </a:solidFill>
              </a:rPr>
              <a:t>• Customer-facing readiness</a:t>
            </a:r>
            <a:endParaRPr lang="en-US" sz="870" dirty="0"/>
          </a:p>
          <a:p>
            <a:pPr indent="0" marL="0">
              <a:buNone/>
            </a:pPr>
            <a:r>
              <a:rPr lang="en-US" sz="870" dirty="0">
                <a:solidFill>
                  <a:srgbClr val="1F2937"/>
                </a:solidFill>
              </a:rPr>
              <a:t>• Resistance themes</a:t>
            </a:r>
            <a:endParaRPr lang="en-US" sz="870" dirty="0"/>
          </a:p>
          <a:p>
            <a:pPr indent="0" marL="0">
              <a:buNone/>
            </a:pPr>
            <a:r>
              <a:rPr lang="en-US" sz="870" dirty="0">
                <a:solidFill>
                  <a:srgbClr val="1F2937"/>
                </a:solidFill>
              </a:rPr>
              <a:t>• Use of learning resources</a:t>
            </a:r>
            <a:endParaRPr lang="en-US" sz="870" dirty="0"/>
          </a:p>
        </p:txBody>
      </p:sp>
      <p:sp>
        <p:nvSpPr>
          <p:cNvPr id="13" name="Shape 10"/>
          <p:cNvSpPr/>
          <p:nvPr/>
        </p:nvSpPr>
        <p:spPr>
          <a:xfrm>
            <a:off x="6309360" y="1417320"/>
            <a:ext cx="5212080" cy="2560320"/>
          </a:xfrm>
          <a:prstGeom prst="roundRect">
            <a:avLst>
              <a:gd name="adj" fmla="val 4286"/>
            </a:avLst>
          </a:prstGeom>
          <a:solidFill>
            <a:srgbClr val="FFFFFF"/>
          </a:solidFill>
          <a:ln w="12700">
            <a:solidFill>
              <a:srgbClr val="E5E7EB"/>
            </a:solidFill>
            <a:prstDash val="solid"/>
          </a:ln>
        </p:spPr>
      </p:sp>
      <p:sp>
        <p:nvSpPr>
          <p:cNvPr id="14" name="Shape 11"/>
          <p:cNvSpPr/>
          <p:nvPr/>
        </p:nvSpPr>
        <p:spPr>
          <a:xfrm>
            <a:off x="6309360" y="1417320"/>
            <a:ext cx="91440" cy="2560320"/>
          </a:xfrm>
          <a:prstGeom prst="rect">
            <a:avLst/>
          </a:prstGeom>
          <a:solidFill>
            <a:srgbClr val="F1EEFF"/>
          </a:solidFill>
          <a:ln w="12700">
            <a:solidFill>
              <a:srgbClr val="F1EEFF"/>
            </a:solidFill>
            <a:prstDash val="solid"/>
          </a:ln>
        </p:spPr>
      </p:sp>
      <p:sp>
        <p:nvSpPr>
          <p:cNvPr id="15" name="Text 12"/>
          <p:cNvSpPr/>
          <p:nvPr/>
        </p:nvSpPr>
        <p:spPr>
          <a:xfrm>
            <a:off x="6537960" y="1581912"/>
            <a:ext cx="4800600" cy="228600"/>
          </a:xfrm>
          <a:prstGeom prst="rect">
            <a:avLst/>
          </a:prstGeom>
          <a:noFill/>
          <a:ln/>
        </p:spPr>
        <p:txBody>
          <a:bodyPr wrap="square" lIns="0" tIns="0" rIns="0" bIns="0" rtlCol="0" anchor="ctr"/>
          <a:lstStyle/>
          <a:p>
            <a:pPr indent="0" marL="0">
              <a:buNone/>
            </a:pPr>
            <a:r>
              <a:rPr lang="en-US" sz="1100" b="1" dirty="0">
                <a:solidFill>
                  <a:srgbClr val="17213F"/>
                </a:solidFill>
              </a:rPr>
              <a:t>How to improve</a:t>
            </a:r>
            <a:endParaRPr lang="en-US" sz="1100" dirty="0"/>
          </a:p>
        </p:txBody>
      </p:sp>
      <p:sp>
        <p:nvSpPr>
          <p:cNvPr id="16" name="Text 13"/>
          <p:cNvSpPr/>
          <p:nvPr/>
        </p:nvSpPr>
        <p:spPr>
          <a:xfrm>
            <a:off x="6565392" y="1929384"/>
            <a:ext cx="4736592" cy="1920240"/>
          </a:xfrm>
          <a:prstGeom prst="rect">
            <a:avLst/>
          </a:prstGeom>
          <a:noFill/>
          <a:ln/>
        </p:spPr>
        <p:txBody>
          <a:bodyPr wrap="square" lIns="254" tIns="254" rIns="254" bIns="254" rtlCol="0" anchor="ctr">
            <a:normAutofit/>
          </a:bodyPr>
          <a:lstStyle/>
          <a:p>
            <a:pPr indent="0" marL="0">
              <a:buNone/>
            </a:pPr>
            <a:r>
              <a:rPr lang="en-US" sz="870" dirty="0">
                <a:solidFill>
                  <a:srgbClr val="1F2937"/>
                </a:solidFill>
              </a:rPr>
              <a:t>• Pulse surveys</a:t>
            </a:r>
            <a:endParaRPr lang="en-US" sz="870" dirty="0"/>
          </a:p>
          <a:p>
            <a:pPr indent="0" marL="0">
              <a:buNone/>
            </a:pPr>
            <a:r>
              <a:rPr lang="en-US" sz="870" dirty="0">
                <a:solidFill>
                  <a:srgbClr val="1F2937"/>
                </a:solidFill>
              </a:rPr>
              <a:t>• Manager check-ins</a:t>
            </a:r>
            <a:endParaRPr lang="en-US" sz="870" dirty="0"/>
          </a:p>
          <a:p>
            <a:pPr indent="0" marL="0">
              <a:buNone/>
            </a:pPr>
            <a:r>
              <a:rPr lang="en-US" sz="870" dirty="0">
                <a:solidFill>
                  <a:srgbClr val="1F2937"/>
                </a:solidFill>
              </a:rPr>
              <a:t>• Adoption dashboards</a:t>
            </a:r>
            <a:endParaRPr lang="en-US" sz="870" dirty="0"/>
          </a:p>
          <a:p>
            <a:pPr indent="0" marL="0">
              <a:buNone/>
            </a:pPr>
            <a:r>
              <a:rPr lang="en-US" sz="870" dirty="0">
                <a:solidFill>
                  <a:srgbClr val="1F2937"/>
                </a:solidFill>
              </a:rPr>
              <a:t>• Feedback themes</a:t>
            </a:r>
            <a:endParaRPr lang="en-US" sz="870" dirty="0"/>
          </a:p>
          <a:p>
            <a:pPr indent="0" marL="0">
              <a:buNone/>
            </a:pPr>
            <a:r>
              <a:rPr lang="en-US" sz="870" dirty="0">
                <a:solidFill>
                  <a:srgbClr val="1F2937"/>
                </a:solidFill>
              </a:rPr>
              <a:t>• Follow-up learning sprints</a:t>
            </a:r>
            <a:endParaRPr lang="en-US" sz="870" dirty="0"/>
          </a:p>
          <a:p>
            <a:pPr indent="0" marL="0">
              <a:buNone/>
            </a:pPr>
            <a:r>
              <a:rPr lang="en-US" sz="870" dirty="0">
                <a:solidFill>
                  <a:srgbClr val="1F2937"/>
                </a:solidFill>
              </a:rPr>
              <a:t>• Updates to FAQs and knowledge hub</a:t>
            </a:r>
            <a:endParaRPr lang="en-US" sz="870" dirty="0"/>
          </a:p>
        </p:txBody>
      </p:sp>
      <p:sp>
        <p:nvSpPr>
          <p:cNvPr id="17" name="Shape 14"/>
          <p:cNvSpPr/>
          <p:nvPr/>
        </p:nvSpPr>
        <p:spPr>
          <a:xfrm>
            <a:off x="1005840" y="4572000"/>
            <a:ext cx="10195560" cy="685800"/>
          </a:xfrm>
          <a:prstGeom prst="roundRect">
            <a:avLst>
              <a:gd name="adj" fmla="val 13333"/>
            </a:avLst>
          </a:prstGeom>
          <a:solidFill>
            <a:srgbClr val="DDF7EC"/>
          </a:solidFill>
          <a:ln w="12700">
            <a:solidFill>
              <a:srgbClr val="E5E7EB">
                <a:alpha val="85000"/>
              </a:srgbClr>
            </a:solidFill>
            <a:prstDash val="solid"/>
          </a:ln>
        </p:spPr>
      </p:sp>
      <p:sp>
        <p:nvSpPr>
          <p:cNvPr id="18" name="Text 15"/>
          <p:cNvSpPr/>
          <p:nvPr/>
        </p:nvSpPr>
        <p:spPr>
          <a:xfrm>
            <a:off x="1170432" y="4718304"/>
            <a:ext cx="9866376" cy="201168"/>
          </a:xfrm>
          <a:prstGeom prst="rect">
            <a:avLst/>
          </a:prstGeom>
          <a:noFill/>
          <a:ln/>
        </p:spPr>
        <p:txBody>
          <a:bodyPr wrap="square" lIns="0" tIns="0" rIns="0" bIns="0" rtlCol="0" anchor="ctr"/>
          <a:lstStyle/>
          <a:p>
            <a:pPr indent="0" marL="0">
              <a:buNone/>
            </a:pPr>
            <a:r>
              <a:rPr lang="en-US" sz="1030" b="1" dirty="0">
                <a:solidFill>
                  <a:srgbClr val="17213F"/>
                </a:solidFill>
              </a:rPr>
              <a:t>Output</a:t>
            </a:r>
            <a:endParaRPr lang="en-US" sz="1030" dirty="0"/>
          </a:p>
        </p:txBody>
      </p:sp>
      <p:sp>
        <p:nvSpPr>
          <p:cNvPr id="19" name="Text 16"/>
          <p:cNvSpPr/>
          <p:nvPr/>
        </p:nvSpPr>
        <p:spPr>
          <a:xfrm>
            <a:off x="1170432" y="5010912"/>
            <a:ext cx="9866376" cy="11887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Team Adoption Plan with metrics, owners, support actions, and follow-up timeline.</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7FB"/>
        </a:solidFill>
      </p:bgPr>
    </p:bg>
    <p:spTree>
      <p:nvGrpSpPr>
        <p:cNvPr id="1" name=""/>
        <p:cNvGrpSpPr/>
        <p:nvPr/>
      </p:nvGrpSpPr>
      <p:grpSpPr>
        <a:xfrm>
          <a:off x="0" y="0"/>
          <a:ext cx="0" cy="0"/>
          <a:chOff x="0" y="0"/>
          <a:chExt cx="0" cy="0"/>
        </a:xfrm>
      </p:grpSpPr>
      <p:sp>
        <p:nvSpPr>
          <p:cNvPr id="2" name="Shape 0"/>
          <p:cNvSpPr/>
          <p:nvPr/>
        </p:nvSpPr>
        <p:spPr>
          <a:xfrm>
            <a:off x="0" y="0"/>
            <a:ext cx="12191695" cy="329184"/>
          </a:xfrm>
          <a:prstGeom prst="rect">
            <a:avLst/>
          </a:prstGeom>
          <a:solidFill>
            <a:srgbClr val="17213F"/>
          </a:solidFill>
          <a:ln w="12700">
            <a:solidFill>
              <a:srgbClr val="17213F"/>
            </a:solidFill>
            <a:prstDash val="solid"/>
          </a:ln>
        </p:spPr>
      </p:sp>
      <p:sp>
        <p:nvSpPr>
          <p:cNvPr id="3" name="Text 1"/>
          <p:cNvSpPr/>
          <p:nvPr/>
        </p:nvSpPr>
        <p:spPr>
          <a:xfrm>
            <a:off x="411480" y="68580"/>
            <a:ext cx="4114800" cy="164592"/>
          </a:xfrm>
          <a:prstGeom prst="rect">
            <a:avLst/>
          </a:prstGeom>
          <a:noFill/>
          <a:ln/>
        </p:spPr>
        <p:txBody>
          <a:bodyPr wrap="square" lIns="0" tIns="0" rIns="0" bIns="0" rtlCol="0" anchor="ctr"/>
          <a:lstStyle/>
          <a:p>
            <a:pPr indent="0" marL="0">
              <a:buNone/>
            </a:pPr>
            <a:r>
              <a:rPr lang="en-US" sz="750" b="1" dirty="0">
                <a:solidFill>
                  <a:srgbClr val="FFFFFF"/>
                </a:solidFill>
                <a:latin typeface="Aptos" pitchFamily="34" charset="0"/>
                <a:ea typeface="Aptos" pitchFamily="34" charset="-122"/>
                <a:cs typeface="Aptos" pitchFamily="34" charset="-120"/>
              </a:rPr>
              <a:t>MEASUREMENT</a:t>
            </a:r>
            <a:endParaRPr lang="en-US" sz="750" dirty="0"/>
          </a:p>
        </p:txBody>
      </p:sp>
      <p:sp>
        <p:nvSpPr>
          <p:cNvPr id="4" name="Text 2"/>
          <p:cNvSpPr/>
          <p:nvPr/>
        </p:nvSpPr>
        <p:spPr>
          <a:xfrm>
            <a:off x="8778240" y="68580"/>
            <a:ext cx="3017520" cy="164592"/>
          </a:xfrm>
          <a:prstGeom prst="rect">
            <a:avLst/>
          </a:prstGeom>
          <a:noFill/>
          <a:ln/>
        </p:spPr>
        <p:txBody>
          <a:bodyPr wrap="square" lIns="0" tIns="0" rIns="0" bIns="0" rtlCol="0" anchor="ctr"/>
          <a:lstStyle/>
          <a:p>
            <a:pPr algn="r" indent="0" marL="0">
              <a:buNone/>
            </a:pPr>
            <a:r>
              <a:rPr lang="en-US" sz="750" dirty="0">
                <a:solidFill>
                  <a:srgbClr val="FFFFFF"/>
                </a:solidFill>
              </a:rPr>
              <a:t>Portfolio Training Deck</a:t>
            </a:r>
            <a:endParaRPr lang="en-US" sz="750" dirty="0"/>
          </a:p>
        </p:txBody>
      </p:sp>
      <p:sp>
        <p:nvSpPr>
          <p:cNvPr id="5" name="Shape 3"/>
          <p:cNvSpPr/>
          <p:nvPr/>
        </p:nvSpPr>
        <p:spPr>
          <a:xfrm>
            <a:off x="411480" y="6510528"/>
            <a:ext cx="11384280" cy="9144"/>
          </a:xfrm>
          <a:prstGeom prst="rect">
            <a:avLst/>
          </a:prstGeom>
          <a:solidFill>
            <a:srgbClr val="E5E7EB"/>
          </a:solidFill>
          <a:ln w="12700">
            <a:solidFill>
              <a:srgbClr val="E5E7EB"/>
            </a:solidFill>
            <a:prstDash val="solid"/>
          </a:ln>
        </p:spPr>
      </p:sp>
      <p:sp>
        <p:nvSpPr>
          <p:cNvPr id="6" name="Text 4"/>
          <p:cNvSpPr/>
          <p:nvPr/>
        </p:nvSpPr>
        <p:spPr>
          <a:xfrm>
            <a:off x="594360" y="566928"/>
            <a:ext cx="10789920" cy="384048"/>
          </a:xfrm>
          <a:prstGeom prst="rect">
            <a:avLst/>
          </a:prstGeom>
          <a:noFill/>
          <a:ln/>
        </p:spPr>
        <p:txBody>
          <a:bodyPr wrap="square" lIns="381" tIns="381" rIns="381" bIns="381" rtlCol="0" anchor="ctr">
            <a:normAutofit/>
          </a:bodyPr>
          <a:lstStyle/>
          <a:p>
            <a:pPr indent="0" marL="0">
              <a:buNone/>
            </a:pPr>
            <a:r>
              <a:rPr lang="en-US" sz="2500" b="1" dirty="0">
                <a:solidFill>
                  <a:srgbClr val="17213F"/>
                </a:solidFill>
                <a:latin typeface="Aptos Display" pitchFamily="34" charset="0"/>
                <a:ea typeface="Aptos Display" pitchFamily="34" charset="-122"/>
                <a:cs typeface="Aptos Display" pitchFamily="34" charset="-120"/>
              </a:rPr>
              <a:t>Change readiness pulse survey</a:t>
            </a:r>
            <a:endParaRPr lang="en-US" sz="2500" dirty="0"/>
          </a:p>
        </p:txBody>
      </p:sp>
      <p:sp>
        <p:nvSpPr>
          <p:cNvPr id="7" name="Text 5"/>
          <p:cNvSpPr/>
          <p:nvPr/>
        </p:nvSpPr>
        <p:spPr>
          <a:xfrm>
            <a:off x="612648" y="996696"/>
            <a:ext cx="10698480" cy="237744"/>
          </a:xfrm>
          <a:prstGeom prst="rect">
            <a:avLst/>
          </a:prstGeom>
          <a:noFill/>
          <a:ln/>
        </p:spPr>
        <p:txBody>
          <a:bodyPr wrap="square" lIns="0" tIns="0" rIns="0" bIns="0" rtlCol="0" anchor="ctr">
            <a:normAutofit/>
          </a:bodyPr>
          <a:lstStyle/>
          <a:p>
            <a:pPr indent="0" marL="0">
              <a:buNone/>
            </a:pPr>
            <a:r>
              <a:rPr lang="en-US" sz="1120" dirty="0">
                <a:solidFill>
                  <a:srgbClr val="6B7280"/>
                </a:solidFill>
              </a:rPr>
              <a:t>A simple survey before, during, and after rollout</a:t>
            </a:r>
            <a:endParaRPr lang="en-US" sz="1120" dirty="0"/>
          </a:p>
        </p:txBody>
      </p:sp>
      <p:sp>
        <p:nvSpPr>
          <p:cNvPr id="9" name="Shape 6"/>
          <p:cNvSpPr/>
          <p:nvPr/>
        </p:nvSpPr>
        <p:spPr>
          <a:xfrm>
            <a:off x="685800" y="1371600"/>
            <a:ext cx="5303520" cy="3291840"/>
          </a:xfrm>
          <a:prstGeom prst="roundRect">
            <a:avLst>
              <a:gd name="adj" fmla="val 3333"/>
            </a:avLst>
          </a:prstGeom>
          <a:solidFill>
            <a:srgbClr val="FFFFFF"/>
          </a:solidFill>
          <a:ln w="12700">
            <a:solidFill>
              <a:srgbClr val="E5E7EB"/>
            </a:solidFill>
            <a:prstDash val="solid"/>
          </a:ln>
        </p:spPr>
      </p:sp>
      <p:sp>
        <p:nvSpPr>
          <p:cNvPr id="10" name="Shape 7"/>
          <p:cNvSpPr/>
          <p:nvPr/>
        </p:nvSpPr>
        <p:spPr>
          <a:xfrm>
            <a:off x="685800" y="1371600"/>
            <a:ext cx="91440" cy="3291840"/>
          </a:xfrm>
          <a:prstGeom prst="rect">
            <a:avLst/>
          </a:prstGeom>
          <a:solidFill>
            <a:srgbClr val="A69BE8"/>
          </a:solidFill>
          <a:ln w="12700">
            <a:solidFill>
              <a:srgbClr val="A69BE8"/>
            </a:solidFill>
            <a:prstDash val="solid"/>
          </a:ln>
        </p:spPr>
      </p:sp>
      <p:sp>
        <p:nvSpPr>
          <p:cNvPr id="11" name="Text 8"/>
          <p:cNvSpPr/>
          <p:nvPr/>
        </p:nvSpPr>
        <p:spPr>
          <a:xfrm>
            <a:off x="914400" y="1536192"/>
            <a:ext cx="4892040" cy="228600"/>
          </a:xfrm>
          <a:prstGeom prst="rect">
            <a:avLst/>
          </a:prstGeom>
          <a:noFill/>
          <a:ln/>
        </p:spPr>
        <p:txBody>
          <a:bodyPr wrap="square" lIns="0" tIns="0" rIns="0" bIns="0" rtlCol="0" anchor="ctr"/>
          <a:lstStyle/>
          <a:p>
            <a:pPr indent="0" marL="0">
              <a:buNone/>
            </a:pPr>
            <a:r>
              <a:rPr lang="en-US" sz="1100" b="1" dirty="0">
                <a:solidFill>
                  <a:srgbClr val="17213F"/>
                </a:solidFill>
              </a:rPr>
              <a:t>Survey items: 1–5 scale</a:t>
            </a:r>
            <a:endParaRPr lang="en-US" sz="1100" dirty="0"/>
          </a:p>
        </p:txBody>
      </p:sp>
      <p:sp>
        <p:nvSpPr>
          <p:cNvPr id="12" name="Text 9"/>
          <p:cNvSpPr/>
          <p:nvPr/>
        </p:nvSpPr>
        <p:spPr>
          <a:xfrm>
            <a:off x="941832" y="1883664"/>
            <a:ext cx="4828032" cy="2651760"/>
          </a:xfrm>
          <a:prstGeom prst="rect">
            <a:avLst/>
          </a:prstGeom>
          <a:noFill/>
          <a:ln/>
        </p:spPr>
        <p:txBody>
          <a:bodyPr wrap="square" lIns="254" tIns="254" rIns="254" bIns="254" rtlCol="0" anchor="ctr">
            <a:normAutofit/>
          </a:bodyPr>
          <a:lstStyle/>
          <a:p>
            <a:pPr indent="0" marL="0">
              <a:buNone/>
            </a:pPr>
            <a:r>
              <a:rPr lang="en-US" sz="870" dirty="0">
                <a:solidFill>
                  <a:srgbClr val="1F2937"/>
                </a:solidFill>
              </a:rPr>
              <a:t>• I understand why the change is happening</a:t>
            </a:r>
            <a:endParaRPr lang="en-US" sz="870" dirty="0"/>
          </a:p>
          <a:p>
            <a:pPr indent="0" marL="0">
              <a:buNone/>
            </a:pPr>
            <a:r>
              <a:rPr lang="en-US" sz="870" dirty="0">
                <a:solidFill>
                  <a:srgbClr val="1F2937"/>
                </a:solidFill>
              </a:rPr>
              <a:t>• I understand how the change affects my role</a:t>
            </a:r>
            <a:endParaRPr lang="en-US" sz="870" dirty="0"/>
          </a:p>
          <a:p>
            <a:pPr indent="0" marL="0">
              <a:buNone/>
            </a:pPr>
            <a:r>
              <a:rPr lang="en-US" sz="870" dirty="0">
                <a:solidFill>
                  <a:srgbClr val="1F2937"/>
                </a:solidFill>
              </a:rPr>
              <a:t>• I know what skills I need to build</a:t>
            </a:r>
            <a:endParaRPr lang="en-US" sz="870" dirty="0"/>
          </a:p>
          <a:p>
            <a:pPr indent="0" marL="0">
              <a:buNone/>
            </a:pPr>
            <a:r>
              <a:rPr lang="en-US" sz="870" dirty="0">
                <a:solidFill>
                  <a:srgbClr val="1F2937"/>
                </a:solidFill>
              </a:rPr>
              <a:t>• I know where to find support resources</a:t>
            </a:r>
            <a:endParaRPr lang="en-US" sz="870" dirty="0"/>
          </a:p>
          <a:p>
            <a:pPr indent="0" marL="0">
              <a:buNone/>
            </a:pPr>
            <a:r>
              <a:rPr lang="en-US" sz="870" dirty="0">
                <a:solidFill>
                  <a:srgbClr val="1F2937"/>
                </a:solidFill>
              </a:rPr>
              <a:t>• My manager can explain the change clearly</a:t>
            </a:r>
            <a:endParaRPr lang="en-US" sz="870" dirty="0"/>
          </a:p>
          <a:p>
            <a:pPr indent="0" marL="0">
              <a:buNone/>
            </a:pPr>
            <a:r>
              <a:rPr lang="en-US" sz="870" dirty="0">
                <a:solidFill>
                  <a:srgbClr val="1F2937"/>
                </a:solidFill>
              </a:rPr>
              <a:t>• I feel confident applying the new way of working</a:t>
            </a:r>
            <a:endParaRPr lang="en-US" sz="870" dirty="0"/>
          </a:p>
        </p:txBody>
      </p:sp>
      <p:sp>
        <p:nvSpPr>
          <p:cNvPr id="13" name="Shape 10"/>
          <p:cNvSpPr/>
          <p:nvPr/>
        </p:nvSpPr>
        <p:spPr>
          <a:xfrm>
            <a:off x="6355080" y="1371600"/>
            <a:ext cx="5074920" cy="3291840"/>
          </a:xfrm>
          <a:prstGeom prst="roundRect">
            <a:avLst>
              <a:gd name="adj" fmla="val 3333"/>
            </a:avLst>
          </a:prstGeom>
          <a:solidFill>
            <a:srgbClr val="FFFFFF"/>
          </a:solidFill>
          <a:ln w="12700">
            <a:solidFill>
              <a:srgbClr val="E5E7EB"/>
            </a:solidFill>
            <a:prstDash val="solid"/>
          </a:ln>
        </p:spPr>
      </p:sp>
      <p:sp>
        <p:nvSpPr>
          <p:cNvPr id="14" name="Shape 11"/>
          <p:cNvSpPr/>
          <p:nvPr/>
        </p:nvSpPr>
        <p:spPr>
          <a:xfrm>
            <a:off x="6355080" y="1371600"/>
            <a:ext cx="91440" cy="3291840"/>
          </a:xfrm>
          <a:prstGeom prst="rect">
            <a:avLst/>
          </a:prstGeom>
          <a:solidFill>
            <a:srgbClr val="DDEBFF"/>
          </a:solidFill>
          <a:ln w="12700">
            <a:solidFill>
              <a:srgbClr val="DDEBFF"/>
            </a:solidFill>
            <a:prstDash val="solid"/>
          </a:ln>
        </p:spPr>
      </p:sp>
      <p:sp>
        <p:nvSpPr>
          <p:cNvPr id="15" name="Text 12"/>
          <p:cNvSpPr/>
          <p:nvPr/>
        </p:nvSpPr>
        <p:spPr>
          <a:xfrm>
            <a:off x="6583680" y="1536192"/>
            <a:ext cx="4663440" cy="228600"/>
          </a:xfrm>
          <a:prstGeom prst="rect">
            <a:avLst/>
          </a:prstGeom>
          <a:noFill/>
          <a:ln/>
        </p:spPr>
        <p:txBody>
          <a:bodyPr wrap="square" lIns="0" tIns="0" rIns="0" bIns="0" rtlCol="0" anchor="ctr"/>
          <a:lstStyle/>
          <a:p>
            <a:pPr indent="0" marL="0">
              <a:buNone/>
            </a:pPr>
            <a:r>
              <a:rPr lang="en-US" sz="1100" b="1" dirty="0">
                <a:solidFill>
                  <a:srgbClr val="17213F"/>
                </a:solidFill>
              </a:rPr>
              <a:t>Open questions</a:t>
            </a:r>
            <a:endParaRPr lang="en-US" sz="1100" dirty="0"/>
          </a:p>
        </p:txBody>
      </p:sp>
      <p:sp>
        <p:nvSpPr>
          <p:cNvPr id="16" name="Text 13"/>
          <p:cNvSpPr/>
          <p:nvPr/>
        </p:nvSpPr>
        <p:spPr>
          <a:xfrm>
            <a:off x="6611112" y="1883664"/>
            <a:ext cx="4599432" cy="2651760"/>
          </a:xfrm>
          <a:prstGeom prst="rect">
            <a:avLst/>
          </a:prstGeom>
          <a:noFill/>
          <a:ln/>
        </p:spPr>
        <p:txBody>
          <a:bodyPr wrap="square" lIns="254" tIns="254" rIns="254" bIns="254" rtlCol="0" anchor="ctr">
            <a:normAutofit/>
          </a:bodyPr>
          <a:lstStyle/>
          <a:p>
            <a:pPr indent="0" marL="0">
              <a:buNone/>
            </a:pPr>
            <a:r>
              <a:rPr lang="en-US" sz="870" dirty="0">
                <a:solidFill>
                  <a:srgbClr val="1F2937"/>
                </a:solidFill>
              </a:rPr>
              <a:t>• What part of the change is still unclear?</a:t>
            </a:r>
            <a:endParaRPr lang="en-US" sz="870" dirty="0"/>
          </a:p>
          <a:p>
            <a:pPr indent="0" marL="0">
              <a:buNone/>
            </a:pPr>
            <a:r>
              <a:rPr lang="en-US" sz="870" dirty="0">
                <a:solidFill>
                  <a:srgbClr val="1F2937"/>
                </a:solidFill>
              </a:rPr>
              <a:t>• What support would help you adopt the change?</a:t>
            </a:r>
            <a:endParaRPr lang="en-US" sz="870" dirty="0"/>
          </a:p>
          <a:p>
            <a:pPr indent="0" marL="0">
              <a:buNone/>
            </a:pPr>
            <a:r>
              <a:rPr lang="en-US" sz="870" dirty="0">
                <a:solidFill>
                  <a:srgbClr val="1F2937"/>
                </a:solidFill>
              </a:rPr>
              <a:t>• What customer or team questions are coming up repeatedly?</a:t>
            </a:r>
            <a:endParaRPr lang="en-US" sz="870" dirty="0"/>
          </a:p>
          <a:p>
            <a:pPr indent="0" marL="0">
              <a:buNone/>
            </a:pPr>
            <a:r>
              <a:rPr lang="en-US" sz="870" dirty="0">
                <a:solidFill>
                  <a:srgbClr val="1F2937"/>
                </a:solidFill>
              </a:rPr>
              <a:t>• What should leaders or L&amp;D clarify next?</a:t>
            </a:r>
            <a:endParaRPr lang="en-US" sz="87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6F7FB"/>
        </a:solidFill>
      </p:bgPr>
    </p:bg>
    <p:spTree>
      <p:nvGrpSpPr>
        <p:cNvPr id="1" name=""/>
        <p:cNvGrpSpPr/>
        <p:nvPr/>
      </p:nvGrpSpPr>
      <p:grpSpPr>
        <a:xfrm>
          <a:off x="0" y="0"/>
          <a:ext cx="0" cy="0"/>
          <a:chOff x="0" y="0"/>
          <a:chExt cx="0" cy="0"/>
        </a:xfrm>
      </p:grpSpPr>
      <p:sp>
        <p:nvSpPr>
          <p:cNvPr id="2" name="Shape 0"/>
          <p:cNvSpPr/>
          <p:nvPr/>
        </p:nvSpPr>
        <p:spPr>
          <a:xfrm>
            <a:off x="0" y="0"/>
            <a:ext cx="12191695" cy="329184"/>
          </a:xfrm>
          <a:prstGeom prst="rect">
            <a:avLst/>
          </a:prstGeom>
          <a:solidFill>
            <a:srgbClr val="17213F"/>
          </a:solidFill>
          <a:ln w="12700">
            <a:solidFill>
              <a:srgbClr val="17213F"/>
            </a:solidFill>
            <a:prstDash val="solid"/>
          </a:ln>
        </p:spPr>
      </p:sp>
      <p:sp>
        <p:nvSpPr>
          <p:cNvPr id="3" name="Text 1"/>
          <p:cNvSpPr/>
          <p:nvPr/>
        </p:nvSpPr>
        <p:spPr>
          <a:xfrm>
            <a:off x="411480" y="68580"/>
            <a:ext cx="4114800" cy="164592"/>
          </a:xfrm>
          <a:prstGeom prst="rect">
            <a:avLst/>
          </a:prstGeom>
          <a:noFill/>
          <a:ln/>
        </p:spPr>
        <p:txBody>
          <a:bodyPr wrap="square" lIns="0" tIns="0" rIns="0" bIns="0" rtlCol="0" anchor="ctr"/>
          <a:lstStyle/>
          <a:p>
            <a:pPr indent="0" marL="0">
              <a:buNone/>
            </a:pPr>
            <a:r>
              <a:rPr lang="en-US" sz="750" b="1" dirty="0">
                <a:solidFill>
                  <a:srgbClr val="FFFFFF"/>
                </a:solidFill>
                <a:latin typeface="Aptos" pitchFamily="34" charset="0"/>
                <a:ea typeface="Aptos" pitchFamily="34" charset="-122"/>
                <a:cs typeface="Aptos" pitchFamily="34" charset="-120"/>
              </a:rPr>
              <a:t>MEASUREMENT</a:t>
            </a:r>
            <a:endParaRPr lang="en-US" sz="750" dirty="0"/>
          </a:p>
        </p:txBody>
      </p:sp>
      <p:sp>
        <p:nvSpPr>
          <p:cNvPr id="4" name="Text 2"/>
          <p:cNvSpPr/>
          <p:nvPr/>
        </p:nvSpPr>
        <p:spPr>
          <a:xfrm>
            <a:off x="8778240" y="68580"/>
            <a:ext cx="3017520" cy="164592"/>
          </a:xfrm>
          <a:prstGeom prst="rect">
            <a:avLst/>
          </a:prstGeom>
          <a:noFill/>
          <a:ln/>
        </p:spPr>
        <p:txBody>
          <a:bodyPr wrap="square" lIns="0" tIns="0" rIns="0" bIns="0" rtlCol="0" anchor="ctr"/>
          <a:lstStyle/>
          <a:p>
            <a:pPr algn="r" indent="0" marL="0">
              <a:buNone/>
            </a:pPr>
            <a:r>
              <a:rPr lang="en-US" sz="750" dirty="0">
                <a:solidFill>
                  <a:srgbClr val="FFFFFF"/>
                </a:solidFill>
              </a:rPr>
              <a:t>Portfolio Training Deck</a:t>
            </a:r>
            <a:endParaRPr lang="en-US" sz="750" dirty="0"/>
          </a:p>
        </p:txBody>
      </p:sp>
      <p:sp>
        <p:nvSpPr>
          <p:cNvPr id="5" name="Shape 3"/>
          <p:cNvSpPr/>
          <p:nvPr/>
        </p:nvSpPr>
        <p:spPr>
          <a:xfrm>
            <a:off x="411480" y="6510528"/>
            <a:ext cx="11384280" cy="9144"/>
          </a:xfrm>
          <a:prstGeom prst="rect">
            <a:avLst/>
          </a:prstGeom>
          <a:solidFill>
            <a:srgbClr val="E5E7EB"/>
          </a:solidFill>
          <a:ln w="12700">
            <a:solidFill>
              <a:srgbClr val="E5E7EB"/>
            </a:solidFill>
            <a:prstDash val="solid"/>
          </a:ln>
        </p:spPr>
      </p:sp>
      <p:sp>
        <p:nvSpPr>
          <p:cNvPr id="6" name="Text 4"/>
          <p:cNvSpPr/>
          <p:nvPr/>
        </p:nvSpPr>
        <p:spPr>
          <a:xfrm>
            <a:off x="594360" y="566928"/>
            <a:ext cx="10789920" cy="384048"/>
          </a:xfrm>
          <a:prstGeom prst="rect">
            <a:avLst/>
          </a:prstGeom>
          <a:noFill/>
          <a:ln/>
        </p:spPr>
        <p:txBody>
          <a:bodyPr wrap="square" lIns="381" tIns="381" rIns="381" bIns="381" rtlCol="0" anchor="ctr">
            <a:normAutofit/>
          </a:bodyPr>
          <a:lstStyle/>
          <a:p>
            <a:pPr indent="0" marL="0">
              <a:buNone/>
            </a:pPr>
            <a:r>
              <a:rPr lang="en-US" sz="2500" b="1" dirty="0">
                <a:solidFill>
                  <a:srgbClr val="17213F"/>
                </a:solidFill>
                <a:latin typeface="Aptos Display" pitchFamily="34" charset="0"/>
                <a:ea typeface="Aptos Display" pitchFamily="34" charset="-122"/>
                <a:cs typeface="Aptos Display" pitchFamily="34" charset="-120"/>
              </a:rPr>
              <a:t>Change adoption dashboard</a:t>
            </a:r>
            <a:endParaRPr lang="en-US" sz="2500" dirty="0"/>
          </a:p>
        </p:txBody>
      </p:sp>
      <p:sp>
        <p:nvSpPr>
          <p:cNvPr id="7" name="Text 5"/>
          <p:cNvSpPr/>
          <p:nvPr/>
        </p:nvSpPr>
        <p:spPr>
          <a:xfrm>
            <a:off x="612648" y="996696"/>
            <a:ext cx="10698480" cy="237744"/>
          </a:xfrm>
          <a:prstGeom prst="rect">
            <a:avLst/>
          </a:prstGeom>
          <a:noFill/>
          <a:ln/>
        </p:spPr>
        <p:txBody>
          <a:bodyPr wrap="square" lIns="0" tIns="0" rIns="0" bIns="0" rtlCol="0" anchor="ctr">
            <a:normAutofit/>
          </a:bodyPr>
          <a:lstStyle/>
          <a:p>
            <a:pPr indent="0" marL="0">
              <a:buNone/>
            </a:pPr>
            <a:r>
              <a:rPr lang="en-US" sz="1120" dirty="0">
                <a:solidFill>
                  <a:srgbClr val="6B7280"/>
                </a:solidFill>
              </a:rPr>
              <a:t>Learning impact should be measured beyond attendance</a:t>
            </a:r>
            <a:endParaRPr lang="en-US" sz="1120" dirty="0"/>
          </a:p>
        </p:txBody>
      </p:sp>
      <p:sp>
        <p:nvSpPr>
          <p:cNvPr id="9" name="Shape 6"/>
          <p:cNvSpPr/>
          <p:nvPr/>
        </p:nvSpPr>
        <p:spPr>
          <a:xfrm>
            <a:off x="685800" y="1371600"/>
            <a:ext cx="3246120" cy="960120"/>
          </a:xfrm>
          <a:prstGeom prst="roundRect">
            <a:avLst>
              <a:gd name="adj" fmla="val 9524"/>
            </a:avLst>
          </a:prstGeom>
          <a:solidFill>
            <a:srgbClr val="F1EEFF"/>
          </a:solidFill>
          <a:ln w="12700">
            <a:solidFill>
              <a:srgbClr val="E5E7EB">
                <a:alpha val="85000"/>
              </a:srgbClr>
            </a:solidFill>
            <a:prstDash val="solid"/>
          </a:ln>
        </p:spPr>
      </p:sp>
      <p:sp>
        <p:nvSpPr>
          <p:cNvPr id="10" name="Text 7"/>
          <p:cNvSpPr/>
          <p:nvPr/>
        </p:nvSpPr>
        <p:spPr>
          <a:xfrm>
            <a:off x="850392" y="1517904"/>
            <a:ext cx="2916936" cy="201168"/>
          </a:xfrm>
          <a:prstGeom prst="rect">
            <a:avLst/>
          </a:prstGeom>
          <a:noFill/>
          <a:ln/>
        </p:spPr>
        <p:txBody>
          <a:bodyPr wrap="square" lIns="0" tIns="0" rIns="0" bIns="0" rtlCol="0" anchor="ctr"/>
          <a:lstStyle/>
          <a:p>
            <a:pPr indent="0" marL="0">
              <a:buNone/>
            </a:pPr>
            <a:r>
              <a:rPr lang="en-US" sz="1030" b="1" dirty="0">
                <a:solidFill>
                  <a:srgbClr val="17213F"/>
                </a:solidFill>
              </a:rPr>
              <a:t>Employees enrolled</a:t>
            </a:r>
            <a:endParaRPr lang="en-US" sz="1030" dirty="0"/>
          </a:p>
        </p:txBody>
      </p:sp>
      <p:sp>
        <p:nvSpPr>
          <p:cNvPr id="11" name="Text 8"/>
          <p:cNvSpPr/>
          <p:nvPr/>
        </p:nvSpPr>
        <p:spPr>
          <a:xfrm>
            <a:off x="850392" y="1810512"/>
            <a:ext cx="2916936" cy="39319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480</a:t>
            </a:r>
            <a:endParaRPr lang="en-US" sz="850" dirty="0"/>
          </a:p>
        </p:txBody>
      </p:sp>
      <p:sp>
        <p:nvSpPr>
          <p:cNvPr id="12" name="Shape 9"/>
          <p:cNvSpPr/>
          <p:nvPr/>
        </p:nvSpPr>
        <p:spPr>
          <a:xfrm>
            <a:off x="4480560" y="1371600"/>
            <a:ext cx="3246120" cy="960120"/>
          </a:xfrm>
          <a:prstGeom prst="roundRect">
            <a:avLst>
              <a:gd name="adj" fmla="val 9524"/>
            </a:avLst>
          </a:prstGeom>
          <a:solidFill>
            <a:srgbClr val="FFFFFF"/>
          </a:solidFill>
          <a:ln w="12700">
            <a:solidFill>
              <a:srgbClr val="E5E7EB">
                <a:alpha val="85000"/>
              </a:srgbClr>
            </a:solidFill>
            <a:prstDash val="solid"/>
          </a:ln>
        </p:spPr>
      </p:sp>
      <p:sp>
        <p:nvSpPr>
          <p:cNvPr id="13" name="Text 10"/>
          <p:cNvSpPr/>
          <p:nvPr/>
        </p:nvSpPr>
        <p:spPr>
          <a:xfrm>
            <a:off x="4645152" y="1517904"/>
            <a:ext cx="2916936" cy="201168"/>
          </a:xfrm>
          <a:prstGeom prst="rect">
            <a:avLst/>
          </a:prstGeom>
          <a:noFill/>
          <a:ln/>
        </p:spPr>
        <p:txBody>
          <a:bodyPr wrap="square" lIns="0" tIns="0" rIns="0" bIns="0" rtlCol="0" anchor="ctr"/>
          <a:lstStyle/>
          <a:p>
            <a:pPr indent="0" marL="0">
              <a:buNone/>
            </a:pPr>
            <a:r>
              <a:rPr lang="en-US" sz="1030" b="1" dirty="0">
                <a:solidFill>
                  <a:srgbClr val="17213F"/>
                </a:solidFill>
              </a:rPr>
              <a:t>Completion rate</a:t>
            </a:r>
            <a:endParaRPr lang="en-US" sz="1030" dirty="0"/>
          </a:p>
        </p:txBody>
      </p:sp>
      <p:sp>
        <p:nvSpPr>
          <p:cNvPr id="14" name="Text 11"/>
          <p:cNvSpPr/>
          <p:nvPr/>
        </p:nvSpPr>
        <p:spPr>
          <a:xfrm>
            <a:off x="4645152" y="1810512"/>
            <a:ext cx="2916936" cy="39319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86%</a:t>
            </a:r>
            <a:endParaRPr lang="en-US" sz="850" dirty="0"/>
          </a:p>
        </p:txBody>
      </p:sp>
      <p:sp>
        <p:nvSpPr>
          <p:cNvPr id="15" name="Shape 12"/>
          <p:cNvSpPr/>
          <p:nvPr/>
        </p:nvSpPr>
        <p:spPr>
          <a:xfrm>
            <a:off x="8275320" y="1371600"/>
            <a:ext cx="3246120" cy="960120"/>
          </a:xfrm>
          <a:prstGeom prst="roundRect">
            <a:avLst>
              <a:gd name="adj" fmla="val 9524"/>
            </a:avLst>
          </a:prstGeom>
          <a:solidFill>
            <a:srgbClr val="DDF7EC"/>
          </a:solidFill>
          <a:ln w="12700">
            <a:solidFill>
              <a:srgbClr val="E5E7EB">
                <a:alpha val="85000"/>
              </a:srgbClr>
            </a:solidFill>
            <a:prstDash val="solid"/>
          </a:ln>
        </p:spPr>
      </p:sp>
      <p:sp>
        <p:nvSpPr>
          <p:cNvPr id="16" name="Text 13"/>
          <p:cNvSpPr/>
          <p:nvPr/>
        </p:nvSpPr>
        <p:spPr>
          <a:xfrm>
            <a:off x="8439912" y="1517904"/>
            <a:ext cx="2916936" cy="201168"/>
          </a:xfrm>
          <a:prstGeom prst="rect">
            <a:avLst/>
          </a:prstGeom>
          <a:noFill/>
          <a:ln/>
        </p:spPr>
        <p:txBody>
          <a:bodyPr wrap="square" lIns="0" tIns="0" rIns="0" bIns="0" rtlCol="0" anchor="ctr"/>
          <a:lstStyle/>
          <a:p>
            <a:pPr indent="0" marL="0">
              <a:buNone/>
            </a:pPr>
            <a:r>
              <a:rPr lang="en-US" sz="1030" b="1" dirty="0">
                <a:solidFill>
                  <a:srgbClr val="17213F"/>
                </a:solidFill>
              </a:rPr>
              <a:t>Change clarity</a:t>
            </a:r>
            <a:endParaRPr lang="en-US" sz="1030" dirty="0"/>
          </a:p>
        </p:txBody>
      </p:sp>
      <p:sp>
        <p:nvSpPr>
          <p:cNvPr id="17" name="Text 14"/>
          <p:cNvSpPr/>
          <p:nvPr/>
        </p:nvSpPr>
        <p:spPr>
          <a:xfrm>
            <a:off x="8439912" y="1810512"/>
            <a:ext cx="2916936" cy="39319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2.9 → 4.2</a:t>
            </a:r>
            <a:endParaRPr lang="en-US" sz="850" dirty="0"/>
          </a:p>
        </p:txBody>
      </p:sp>
      <p:sp>
        <p:nvSpPr>
          <p:cNvPr id="18" name="Shape 15"/>
          <p:cNvSpPr/>
          <p:nvPr/>
        </p:nvSpPr>
        <p:spPr>
          <a:xfrm>
            <a:off x="685800" y="2788920"/>
            <a:ext cx="3246120" cy="960120"/>
          </a:xfrm>
          <a:prstGeom prst="roundRect">
            <a:avLst>
              <a:gd name="adj" fmla="val 9524"/>
            </a:avLst>
          </a:prstGeom>
          <a:solidFill>
            <a:srgbClr val="F1EEFF"/>
          </a:solidFill>
          <a:ln w="12700">
            <a:solidFill>
              <a:srgbClr val="E5E7EB">
                <a:alpha val="85000"/>
              </a:srgbClr>
            </a:solidFill>
            <a:prstDash val="solid"/>
          </a:ln>
        </p:spPr>
      </p:sp>
      <p:sp>
        <p:nvSpPr>
          <p:cNvPr id="19" name="Text 16"/>
          <p:cNvSpPr/>
          <p:nvPr/>
        </p:nvSpPr>
        <p:spPr>
          <a:xfrm>
            <a:off x="850392" y="2935224"/>
            <a:ext cx="2916936" cy="201168"/>
          </a:xfrm>
          <a:prstGeom prst="rect">
            <a:avLst/>
          </a:prstGeom>
          <a:noFill/>
          <a:ln/>
        </p:spPr>
        <p:txBody>
          <a:bodyPr wrap="square" lIns="0" tIns="0" rIns="0" bIns="0" rtlCol="0" anchor="ctr"/>
          <a:lstStyle/>
          <a:p>
            <a:pPr indent="0" marL="0">
              <a:buNone/>
            </a:pPr>
            <a:r>
              <a:rPr lang="en-US" sz="1030" b="1" dirty="0">
                <a:solidFill>
                  <a:srgbClr val="17213F"/>
                </a:solidFill>
              </a:rPr>
              <a:t>Manager confidence</a:t>
            </a:r>
            <a:endParaRPr lang="en-US" sz="1030" dirty="0"/>
          </a:p>
        </p:txBody>
      </p:sp>
      <p:sp>
        <p:nvSpPr>
          <p:cNvPr id="20" name="Text 17"/>
          <p:cNvSpPr/>
          <p:nvPr/>
        </p:nvSpPr>
        <p:spPr>
          <a:xfrm>
            <a:off x="850392" y="3227832"/>
            <a:ext cx="2916936" cy="39319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3.0 → 4.3</a:t>
            </a:r>
            <a:endParaRPr lang="en-US" sz="850" dirty="0"/>
          </a:p>
        </p:txBody>
      </p:sp>
      <p:sp>
        <p:nvSpPr>
          <p:cNvPr id="21" name="Shape 18"/>
          <p:cNvSpPr/>
          <p:nvPr/>
        </p:nvSpPr>
        <p:spPr>
          <a:xfrm>
            <a:off x="4480560" y="2788920"/>
            <a:ext cx="3246120" cy="960120"/>
          </a:xfrm>
          <a:prstGeom prst="roundRect">
            <a:avLst>
              <a:gd name="adj" fmla="val 9524"/>
            </a:avLst>
          </a:prstGeom>
          <a:solidFill>
            <a:srgbClr val="FFFFFF"/>
          </a:solidFill>
          <a:ln w="12700">
            <a:solidFill>
              <a:srgbClr val="E5E7EB">
                <a:alpha val="85000"/>
              </a:srgbClr>
            </a:solidFill>
            <a:prstDash val="solid"/>
          </a:ln>
        </p:spPr>
      </p:sp>
      <p:sp>
        <p:nvSpPr>
          <p:cNvPr id="22" name="Text 19"/>
          <p:cNvSpPr/>
          <p:nvPr/>
        </p:nvSpPr>
        <p:spPr>
          <a:xfrm>
            <a:off x="4645152" y="2935224"/>
            <a:ext cx="2916936" cy="201168"/>
          </a:xfrm>
          <a:prstGeom prst="rect">
            <a:avLst/>
          </a:prstGeom>
          <a:noFill/>
          <a:ln/>
        </p:spPr>
        <p:txBody>
          <a:bodyPr wrap="square" lIns="0" tIns="0" rIns="0" bIns="0" rtlCol="0" anchor="ctr"/>
          <a:lstStyle/>
          <a:p>
            <a:pPr indent="0" marL="0">
              <a:buNone/>
            </a:pPr>
            <a:r>
              <a:rPr lang="en-US" sz="1030" b="1" dirty="0">
                <a:solidFill>
                  <a:srgbClr val="17213F"/>
                </a:solidFill>
              </a:rPr>
              <a:t>Role impact maps</a:t>
            </a:r>
            <a:endParaRPr lang="en-US" sz="1030" dirty="0"/>
          </a:p>
        </p:txBody>
      </p:sp>
      <p:sp>
        <p:nvSpPr>
          <p:cNvPr id="23" name="Text 20"/>
          <p:cNvSpPr/>
          <p:nvPr/>
        </p:nvSpPr>
        <p:spPr>
          <a:xfrm>
            <a:off x="4645152" y="3227832"/>
            <a:ext cx="2916936" cy="39319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72 submitted</a:t>
            </a:r>
            <a:endParaRPr lang="en-US" sz="850" dirty="0"/>
          </a:p>
        </p:txBody>
      </p:sp>
      <p:sp>
        <p:nvSpPr>
          <p:cNvPr id="24" name="Shape 21"/>
          <p:cNvSpPr/>
          <p:nvPr/>
        </p:nvSpPr>
        <p:spPr>
          <a:xfrm>
            <a:off x="8275320" y="2788920"/>
            <a:ext cx="3246120" cy="960120"/>
          </a:xfrm>
          <a:prstGeom prst="roundRect">
            <a:avLst>
              <a:gd name="adj" fmla="val 9524"/>
            </a:avLst>
          </a:prstGeom>
          <a:solidFill>
            <a:srgbClr val="DDF7EC"/>
          </a:solidFill>
          <a:ln w="12700">
            <a:solidFill>
              <a:srgbClr val="E5E7EB">
                <a:alpha val="85000"/>
              </a:srgbClr>
            </a:solidFill>
            <a:prstDash val="solid"/>
          </a:ln>
        </p:spPr>
      </p:sp>
      <p:sp>
        <p:nvSpPr>
          <p:cNvPr id="25" name="Text 22"/>
          <p:cNvSpPr/>
          <p:nvPr/>
        </p:nvSpPr>
        <p:spPr>
          <a:xfrm>
            <a:off x="8439912" y="2935224"/>
            <a:ext cx="2916936" cy="201168"/>
          </a:xfrm>
          <a:prstGeom prst="rect">
            <a:avLst/>
          </a:prstGeom>
          <a:noFill/>
          <a:ln/>
        </p:spPr>
        <p:txBody>
          <a:bodyPr wrap="square" lIns="0" tIns="0" rIns="0" bIns="0" rtlCol="0" anchor="ctr"/>
          <a:lstStyle/>
          <a:p>
            <a:pPr indent="0" marL="0">
              <a:buNone/>
            </a:pPr>
            <a:r>
              <a:rPr lang="en-US" sz="1030" b="1" dirty="0">
                <a:solidFill>
                  <a:srgbClr val="17213F"/>
                </a:solidFill>
              </a:rPr>
              <a:t>Knowledge hub visits</a:t>
            </a:r>
            <a:endParaRPr lang="en-US" sz="1030" dirty="0"/>
          </a:p>
        </p:txBody>
      </p:sp>
      <p:sp>
        <p:nvSpPr>
          <p:cNvPr id="26" name="Text 23"/>
          <p:cNvSpPr/>
          <p:nvPr/>
        </p:nvSpPr>
        <p:spPr>
          <a:xfrm>
            <a:off x="8439912" y="3227832"/>
            <a:ext cx="2916936" cy="39319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1,850</a:t>
            </a:r>
            <a:endParaRPr lang="en-US" sz="850" dirty="0"/>
          </a:p>
        </p:txBody>
      </p:sp>
      <p:sp>
        <p:nvSpPr>
          <p:cNvPr id="27" name="Shape 24"/>
          <p:cNvSpPr/>
          <p:nvPr/>
        </p:nvSpPr>
        <p:spPr>
          <a:xfrm>
            <a:off x="914400" y="4572000"/>
            <a:ext cx="10287000" cy="822960"/>
          </a:xfrm>
          <a:prstGeom prst="roundRect">
            <a:avLst>
              <a:gd name="adj" fmla="val 13333"/>
            </a:avLst>
          </a:prstGeom>
          <a:solidFill>
            <a:srgbClr val="FFFFFF"/>
          </a:solidFill>
          <a:ln w="12700">
            <a:solidFill>
              <a:srgbClr val="E5E7EB"/>
            </a:solidFill>
            <a:prstDash val="solid"/>
          </a:ln>
        </p:spPr>
      </p:sp>
      <p:sp>
        <p:nvSpPr>
          <p:cNvPr id="28" name="Shape 25"/>
          <p:cNvSpPr/>
          <p:nvPr/>
        </p:nvSpPr>
        <p:spPr>
          <a:xfrm>
            <a:off x="914400" y="4572000"/>
            <a:ext cx="91440" cy="822960"/>
          </a:xfrm>
          <a:prstGeom prst="rect">
            <a:avLst/>
          </a:prstGeom>
          <a:solidFill>
            <a:srgbClr val="DDEBFF"/>
          </a:solidFill>
          <a:ln w="12700">
            <a:solidFill>
              <a:srgbClr val="DDEBFF"/>
            </a:solidFill>
            <a:prstDash val="solid"/>
          </a:ln>
        </p:spPr>
      </p:sp>
      <p:sp>
        <p:nvSpPr>
          <p:cNvPr id="29" name="Text 26"/>
          <p:cNvSpPr/>
          <p:nvPr/>
        </p:nvSpPr>
        <p:spPr>
          <a:xfrm>
            <a:off x="1143000" y="4736592"/>
            <a:ext cx="9875520" cy="228600"/>
          </a:xfrm>
          <a:prstGeom prst="rect">
            <a:avLst/>
          </a:prstGeom>
          <a:noFill/>
          <a:ln/>
        </p:spPr>
        <p:txBody>
          <a:bodyPr wrap="square" lIns="0" tIns="0" rIns="0" bIns="0" rtlCol="0" anchor="ctr"/>
          <a:lstStyle/>
          <a:p>
            <a:pPr indent="0" marL="0">
              <a:buNone/>
            </a:pPr>
            <a:r>
              <a:rPr lang="en-US" sz="1100" b="1" dirty="0">
                <a:solidFill>
                  <a:srgbClr val="17213F"/>
                </a:solidFill>
              </a:rPr>
              <a:t>Recommended actions</a:t>
            </a:r>
            <a:endParaRPr lang="en-US" sz="1100" dirty="0"/>
          </a:p>
        </p:txBody>
      </p:sp>
      <p:sp>
        <p:nvSpPr>
          <p:cNvPr id="30" name="Text 27"/>
          <p:cNvSpPr/>
          <p:nvPr/>
        </p:nvSpPr>
        <p:spPr>
          <a:xfrm>
            <a:off x="1170432" y="5084064"/>
            <a:ext cx="9811512" cy="182880"/>
          </a:xfrm>
          <a:prstGeom prst="rect">
            <a:avLst/>
          </a:prstGeom>
          <a:noFill/>
          <a:ln/>
        </p:spPr>
        <p:txBody>
          <a:bodyPr wrap="square" lIns="254" tIns="254" rIns="254" bIns="254" rtlCol="0" anchor="ctr">
            <a:normAutofit/>
          </a:bodyPr>
          <a:lstStyle/>
          <a:p>
            <a:pPr indent="0" marL="0">
              <a:buNone/>
            </a:pPr>
            <a:r>
              <a:rPr lang="en-US" sz="870" dirty="0">
                <a:solidFill>
                  <a:srgbClr val="1F2937"/>
                </a:solidFill>
              </a:rPr>
              <a:t>Run follow-up sessions for low-readiness teams; update FAQ based on repeated questions; add manager coaching for teams with low confidence.</a:t>
            </a:r>
            <a:endParaRPr lang="en-US" sz="87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7FB"/>
        </a:solidFill>
      </p:bgPr>
    </p:bg>
    <p:spTree>
      <p:nvGrpSpPr>
        <p:cNvPr id="1" name=""/>
        <p:cNvGrpSpPr/>
        <p:nvPr/>
      </p:nvGrpSpPr>
      <p:grpSpPr>
        <a:xfrm>
          <a:off x="0" y="0"/>
          <a:ext cx="0" cy="0"/>
          <a:chOff x="0" y="0"/>
          <a:chExt cx="0" cy="0"/>
        </a:xfrm>
      </p:grpSpPr>
      <p:sp>
        <p:nvSpPr>
          <p:cNvPr id="2" name="Shape 0"/>
          <p:cNvSpPr/>
          <p:nvPr/>
        </p:nvSpPr>
        <p:spPr>
          <a:xfrm>
            <a:off x="0" y="0"/>
            <a:ext cx="12191695" cy="329184"/>
          </a:xfrm>
          <a:prstGeom prst="rect">
            <a:avLst/>
          </a:prstGeom>
          <a:solidFill>
            <a:srgbClr val="17213F"/>
          </a:solidFill>
          <a:ln w="12700">
            <a:solidFill>
              <a:srgbClr val="17213F"/>
            </a:solidFill>
            <a:prstDash val="solid"/>
          </a:ln>
        </p:spPr>
      </p:sp>
      <p:sp>
        <p:nvSpPr>
          <p:cNvPr id="3" name="Text 1"/>
          <p:cNvSpPr/>
          <p:nvPr/>
        </p:nvSpPr>
        <p:spPr>
          <a:xfrm>
            <a:off x="411480" y="68580"/>
            <a:ext cx="4114800" cy="164592"/>
          </a:xfrm>
          <a:prstGeom prst="rect">
            <a:avLst/>
          </a:prstGeom>
          <a:noFill/>
          <a:ln/>
        </p:spPr>
        <p:txBody>
          <a:bodyPr wrap="square" lIns="0" tIns="0" rIns="0" bIns="0" rtlCol="0" anchor="ctr"/>
          <a:lstStyle/>
          <a:p>
            <a:pPr indent="0" marL="0">
              <a:buNone/>
            </a:pPr>
            <a:r>
              <a:rPr lang="en-US" sz="750" b="1" dirty="0">
                <a:solidFill>
                  <a:srgbClr val="FFFFFF"/>
                </a:solidFill>
                <a:latin typeface="Aptos" pitchFamily="34" charset="0"/>
                <a:ea typeface="Aptos" pitchFamily="34" charset="-122"/>
                <a:cs typeface="Aptos" pitchFamily="34" charset="-120"/>
              </a:rPr>
              <a:t>COMMUNICATION</a:t>
            </a:r>
            <a:endParaRPr lang="en-US" sz="750" dirty="0"/>
          </a:p>
        </p:txBody>
      </p:sp>
      <p:sp>
        <p:nvSpPr>
          <p:cNvPr id="4" name="Text 2"/>
          <p:cNvSpPr/>
          <p:nvPr/>
        </p:nvSpPr>
        <p:spPr>
          <a:xfrm>
            <a:off x="8778240" y="68580"/>
            <a:ext cx="3017520" cy="164592"/>
          </a:xfrm>
          <a:prstGeom prst="rect">
            <a:avLst/>
          </a:prstGeom>
          <a:noFill/>
          <a:ln/>
        </p:spPr>
        <p:txBody>
          <a:bodyPr wrap="square" lIns="0" tIns="0" rIns="0" bIns="0" rtlCol="0" anchor="ctr"/>
          <a:lstStyle/>
          <a:p>
            <a:pPr algn="r" indent="0" marL="0">
              <a:buNone/>
            </a:pPr>
            <a:r>
              <a:rPr lang="en-US" sz="750" dirty="0">
                <a:solidFill>
                  <a:srgbClr val="FFFFFF"/>
                </a:solidFill>
              </a:rPr>
              <a:t>Portfolio Training Deck</a:t>
            </a:r>
            <a:endParaRPr lang="en-US" sz="750" dirty="0"/>
          </a:p>
        </p:txBody>
      </p:sp>
      <p:sp>
        <p:nvSpPr>
          <p:cNvPr id="5" name="Shape 3"/>
          <p:cNvSpPr/>
          <p:nvPr/>
        </p:nvSpPr>
        <p:spPr>
          <a:xfrm>
            <a:off x="411480" y="6510528"/>
            <a:ext cx="11384280" cy="9144"/>
          </a:xfrm>
          <a:prstGeom prst="rect">
            <a:avLst/>
          </a:prstGeom>
          <a:solidFill>
            <a:srgbClr val="E5E7EB"/>
          </a:solidFill>
          <a:ln w="12700">
            <a:solidFill>
              <a:srgbClr val="E5E7EB"/>
            </a:solidFill>
            <a:prstDash val="solid"/>
          </a:ln>
        </p:spPr>
      </p:sp>
      <p:sp>
        <p:nvSpPr>
          <p:cNvPr id="6" name="Text 4"/>
          <p:cNvSpPr/>
          <p:nvPr/>
        </p:nvSpPr>
        <p:spPr>
          <a:xfrm>
            <a:off x="594360" y="566928"/>
            <a:ext cx="10789920" cy="384048"/>
          </a:xfrm>
          <a:prstGeom prst="rect">
            <a:avLst/>
          </a:prstGeom>
          <a:noFill/>
          <a:ln/>
        </p:spPr>
        <p:txBody>
          <a:bodyPr wrap="square" lIns="381" tIns="381" rIns="381" bIns="381" rtlCol="0" anchor="ctr">
            <a:normAutofit/>
          </a:bodyPr>
          <a:lstStyle/>
          <a:p>
            <a:pPr indent="0" marL="0">
              <a:buNone/>
            </a:pPr>
            <a:r>
              <a:rPr lang="en-US" sz="2500" b="1" dirty="0">
                <a:solidFill>
                  <a:srgbClr val="17213F"/>
                </a:solidFill>
                <a:latin typeface="Aptos Display" pitchFamily="34" charset="0"/>
                <a:ea typeface="Aptos Display" pitchFamily="34" charset="-122"/>
                <a:cs typeface="Aptos Display" pitchFamily="34" charset="-120"/>
              </a:rPr>
              <a:t>Communication plan</a:t>
            </a:r>
            <a:endParaRPr lang="en-US" sz="2500" dirty="0"/>
          </a:p>
        </p:txBody>
      </p:sp>
      <p:sp>
        <p:nvSpPr>
          <p:cNvPr id="7" name="Text 5"/>
          <p:cNvSpPr/>
          <p:nvPr/>
        </p:nvSpPr>
        <p:spPr>
          <a:xfrm>
            <a:off x="612648" y="996696"/>
            <a:ext cx="10698480" cy="237744"/>
          </a:xfrm>
          <a:prstGeom prst="rect">
            <a:avLst/>
          </a:prstGeom>
          <a:noFill/>
          <a:ln/>
        </p:spPr>
        <p:txBody>
          <a:bodyPr wrap="square" lIns="0" tIns="0" rIns="0" bIns="0" rtlCol="0" anchor="ctr">
            <a:normAutofit/>
          </a:bodyPr>
          <a:lstStyle/>
          <a:p>
            <a:pPr indent="0" marL="0">
              <a:buNone/>
            </a:pPr>
            <a:r>
              <a:rPr lang="en-US" sz="1120" dirty="0">
                <a:solidFill>
                  <a:srgbClr val="6B7280"/>
                </a:solidFill>
              </a:rPr>
              <a:t>Clear, consistent messaging reduces uncertainty</a:t>
            </a:r>
            <a:endParaRPr lang="en-US" sz="1120" dirty="0"/>
          </a:p>
        </p:txBody>
      </p:sp>
      <p:sp>
        <p:nvSpPr>
          <p:cNvPr id="9" name="Shape 6"/>
          <p:cNvSpPr/>
          <p:nvPr/>
        </p:nvSpPr>
        <p:spPr>
          <a:xfrm>
            <a:off x="685800" y="1508760"/>
            <a:ext cx="2029968" cy="1920240"/>
          </a:xfrm>
          <a:prstGeom prst="roundRect">
            <a:avLst>
              <a:gd name="adj" fmla="val 4762"/>
            </a:avLst>
          </a:prstGeom>
          <a:solidFill>
            <a:srgbClr val="FFFFFF"/>
          </a:solidFill>
          <a:ln w="12700">
            <a:solidFill>
              <a:srgbClr val="E5E7EB">
                <a:alpha val="85000"/>
              </a:srgbClr>
            </a:solidFill>
            <a:prstDash val="solid"/>
          </a:ln>
        </p:spPr>
      </p:sp>
      <p:sp>
        <p:nvSpPr>
          <p:cNvPr id="10" name="Text 7"/>
          <p:cNvSpPr/>
          <p:nvPr/>
        </p:nvSpPr>
        <p:spPr>
          <a:xfrm>
            <a:off x="850392" y="1655064"/>
            <a:ext cx="1700784" cy="201168"/>
          </a:xfrm>
          <a:prstGeom prst="rect">
            <a:avLst/>
          </a:prstGeom>
          <a:noFill/>
          <a:ln/>
        </p:spPr>
        <p:txBody>
          <a:bodyPr wrap="square" lIns="0" tIns="0" rIns="0" bIns="0" rtlCol="0" anchor="ctr"/>
          <a:lstStyle/>
          <a:p>
            <a:pPr indent="0" marL="0">
              <a:buNone/>
            </a:pPr>
            <a:r>
              <a:rPr lang="en-US" sz="1030" b="1" dirty="0">
                <a:solidFill>
                  <a:srgbClr val="17213F"/>
                </a:solidFill>
              </a:rPr>
              <a:t>Executive message</a:t>
            </a:r>
            <a:endParaRPr lang="en-US" sz="1030" dirty="0"/>
          </a:p>
        </p:txBody>
      </p:sp>
      <p:sp>
        <p:nvSpPr>
          <p:cNvPr id="11" name="Text 8"/>
          <p:cNvSpPr/>
          <p:nvPr/>
        </p:nvSpPr>
        <p:spPr>
          <a:xfrm>
            <a:off x="850392" y="1947672"/>
            <a:ext cx="1700784" cy="135331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Why the change matters strategically</a:t>
            </a:r>
            <a:endParaRPr lang="en-US" sz="850" dirty="0"/>
          </a:p>
        </p:txBody>
      </p:sp>
      <p:sp>
        <p:nvSpPr>
          <p:cNvPr id="12" name="Shape 9"/>
          <p:cNvSpPr/>
          <p:nvPr/>
        </p:nvSpPr>
        <p:spPr>
          <a:xfrm>
            <a:off x="2971800" y="1508760"/>
            <a:ext cx="2029968" cy="1920240"/>
          </a:xfrm>
          <a:prstGeom prst="roundRect">
            <a:avLst>
              <a:gd name="adj" fmla="val 4762"/>
            </a:avLst>
          </a:prstGeom>
          <a:solidFill>
            <a:srgbClr val="F1EEFF"/>
          </a:solidFill>
          <a:ln w="12700">
            <a:solidFill>
              <a:srgbClr val="E5E7EB">
                <a:alpha val="85000"/>
              </a:srgbClr>
            </a:solidFill>
            <a:prstDash val="solid"/>
          </a:ln>
        </p:spPr>
      </p:sp>
      <p:sp>
        <p:nvSpPr>
          <p:cNvPr id="13" name="Text 10"/>
          <p:cNvSpPr/>
          <p:nvPr/>
        </p:nvSpPr>
        <p:spPr>
          <a:xfrm>
            <a:off x="3136392" y="1655064"/>
            <a:ext cx="1700784" cy="201168"/>
          </a:xfrm>
          <a:prstGeom prst="rect">
            <a:avLst/>
          </a:prstGeom>
          <a:noFill/>
          <a:ln/>
        </p:spPr>
        <p:txBody>
          <a:bodyPr wrap="square" lIns="0" tIns="0" rIns="0" bIns="0" rtlCol="0" anchor="ctr"/>
          <a:lstStyle/>
          <a:p>
            <a:pPr indent="0" marL="0">
              <a:buNone/>
            </a:pPr>
            <a:r>
              <a:rPr lang="en-US" sz="1030" b="1" dirty="0">
                <a:solidFill>
                  <a:srgbClr val="17213F"/>
                </a:solidFill>
              </a:rPr>
              <a:t>Manager toolkit</a:t>
            </a:r>
            <a:endParaRPr lang="en-US" sz="1030" dirty="0"/>
          </a:p>
        </p:txBody>
      </p:sp>
      <p:sp>
        <p:nvSpPr>
          <p:cNvPr id="14" name="Text 11"/>
          <p:cNvSpPr/>
          <p:nvPr/>
        </p:nvSpPr>
        <p:spPr>
          <a:xfrm>
            <a:off x="3136392" y="1947672"/>
            <a:ext cx="1700784" cy="135331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How to explain the change to teams</a:t>
            </a:r>
            <a:endParaRPr lang="en-US" sz="850" dirty="0"/>
          </a:p>
        </p:txBody>
      </p:sp>
      <p:sp>
        <p:nvSpPr>
          <p:cNvPr id="15" name="Shape 12"/>
          <p:cNvSpPr/>
          <p:nvPr/>
        </p:nvSpPr>
        <p:spPr>
          <a:xfrm>
            <a:off x="5257800" y="1508760"/>
            <a:ext cx="2029968" cy="1920240"/>
          </a:xfrm>
          <a:prstGeom prst="roundRect">
            <a:avLst>
              <a:gd name="adj" fmla="val 4762"/>
            </a:avLst>
          </a:prstGeom>
          <a:solidFill>
            <a:srgbClr val="FFFFFF"/>
          </a:solidFill>
          <a:ln w="12700">
            <a:solidFill>
              <a:srgbClr val="E5E7EB">
                <a:alpha val="85000"/>
              </a:srgbClr>
            </a:solidFill>
            <a:prstDash val="solid"/>
          </a:ln>
        </p:spPr>
      </p:sp>
      <p:sp>
        <p:nvSpPr>
          <p:cNvPr id="16" name="Text 13"/>
          <p:cNvSpPr/>
          <p:nvPr/>
        </p:nvSpPr>
        <p:spPr>
          <a:xfrm>
            <a:off x="5422392" y="1655064"/>
            <a:ext cx="1700784" cy="201168"/>
          </a:xfrm>
          <a:prstGeom prst="rect">
            <a:avLst/>
          </a:prstGeom>
          <a:noFill/>
          <a:ln/>
        </p:spPr>
        <p:txBody>
          <a:bodyPr wrap="square" lIns="0" tIns="0" rIns="0" bIns="0" rtlCol="0" anchor="ctr"/>
          <a:lstStyle/>
          <a:p>
            <a:pPr indent="0" marL="0">
              <a:buNone/>
            </a:pPr>
            <a:r>
              <a:rPr lang="en-US" sz="1030" b="1" dirty="0">
                <a:solidFill>
                  <a:srgbClr val="17213F"/>
                </a:solidFill>
              </a:rPr>
              <a:t>Employee FAQ</a:t>
            </a:r>
            <a:endParaRPr lang="en-US" sz="1030" dirty="0"/>
          </a:p>
        </p:txBody>
      </p:sp>
      <p:sp>
        <p:nvSpPr>
          <p:cNvPr id="17" name="Text 14"/>
          <p:cNvSpPr/>
          <p:nvPr/>
        </p:nvSpPr>
        <p:spPr>
          <a:xfrm>
            <a:off x="5422392" y="1947672"/>
            <a:ext cx="1700784" cy="135331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What changes for me? What support exists?</a:t>
            </a:r>
            <a:endParaRPr lang="en-US" sz="850" dirty="0"/>
          </a:p>
        </p:txBody>
      </p:sp>
      <p:sp>
        <p:nvSpPr>
          <p:cNvPr id="18" name="Shape 15"/>
          <p:cNvSpPr/>
          <p:nvPr/>
        </p:nvSpPr>
        <p:spPr>
          <a:xfrm>
            <a:off x="7543800" y="1508760"/>
            <a:ext cx="2029968" cy="1920240"/>
          </a:xfrm>
          <a:prstGeom prst="roundRect">
            <a:avLst>
              <a:gd name="adj" fmla="val 4762"/>
            </a:avLst>
          </a:prstGeom>
          <a:solidFill>
            <a:srgbClr val="F1EEFF"/>
          </a:solidFill>
          <a:ln w="12700">
            <a:solidFill>
              <a:srgbClr val="E5E7EB">
                <a:alpha val="85000"/>
              </a:srgbClr>
            </a:solidFill>
            <a:prstDash val="solid"/>
          </a:ln>
        </p:spPr>
      </p:sp>
      <p:sp>
        <p:nvSpPr>
          <p:cNvPr id="19" name="Text 16"/>
          <p:cNvSpPr/>
          <p:nvPr/>
        </p:nvSpPr>
        <p:spPr>
          <a:xfrm>
            <a:off x="7708392" y="1655064"/>
            <a:ext cx="1700784" cy="201168"/>
          </a:xfrm>
          <a:prstGeom prst="rect">
            <a:avLst/>
          </a:prstGeom>
          <a:noFill/>
          <a:ln/>
        </p:spPr>
        <p:txBody>
          <a:bodyPr wrap="square" lIns="0" tIns="0" rIns="0" bIns="0" rtlCol="0" anchor="ctr"/>
          <a:lstStyle/>
          <a:p>
            <a:pPr indent="0" marL="0">
              <a:buNone/>
            </a:pPr>
            <a:r>
              <a:rPr lang="en-US" sz="1030" b="1" dirty="0">
                <a:solidFill>
                  <a:srgbClr val="17213F"/>
                </a:solidFill>
              </a:rPr>
              <a:t>Customer-facing script</a:t>
            </a:r>
            <a:endParaRPr lang="en-US" sz="1030" dirty="0"/>
          </a:p>
        </p:txBody>
      </p:sp>
      <p:sp>
        <p:nvSpPr>
          <p:cNvPr id="20" name="Text 17"/>
          <p:cNvSpPr/>
          <p:nvPr/>
        </p:nvSpPr>
        <p:spPr>
          <a:xfrm>
            <a:off x="7708392" y="1947672"/>
            <a:ext cx="1700784" cy="135331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How to explain the change externally</a:t>
            </a:r>
            <a:endParaRPr lang="en-US" sz="850" dirty="0"/>
          </a:p>
        </p:txBody>
      </p:sp>
      <p:sp>
        <p:nvSpPr>
          <p:cNvPr id="21" name="Shape 18"/>
          <p:cNvSpPr/>
          <p:nvPr/>
        </p:nvSpPr>
        <p:spPr>
          <a:xfrm>
            <a:off x="9829800" y="1508760"/>
            <a:ext cx="2029968" cy="1920240"/>
          </a:xfrm>
          <a:prstGeom prst="roundRect">
            <a:avLst>
              <a:gd name="adj" fmla="val 4762"/>
            </a:avLst>
          </a:prstGeom>
          <a:solidFill>
            <a:srgbClr val="FFFFFF"/>
          </a:solidFill>
          <a:ln w="12700">
            <a:solidFill>
              <a:srgbClr val="E5E7EB">
                <a:alpha val="85000"/>
              </a:srgbClr>
            </a:solidFill>
            <a:prstDash val="solid"/>
          </a:ln>
        </p:spPr>
      </p:sp>
      <p:sp>
        <p:nvSpPr>
          <p:cNvPr id="22" name="Text 19"/>
          <p:cNvSpPr/>
          <p:nvPr/>
        </p:nvSpPr>
        <p:spPr>
          <a:xfrm>
            <a:off x="9994392" y="1655064"/>
            <a:ext cx="1700784" cy="201168"/>
          </a:xfrm>
          <a:prstGeom prst="rect">
            <a:avLst/>
          </a:prstGeom>
          <a:noFill/>
          <a:ln/>
        </p:spPr>
        <p:txBody>
          <a:bodyPr wrap="square" lIns="0" tIns="0" rIns="0" bIns="0" rtlCol="0" anchor="ctr"/>
          <a:lstStyle/>
          <a:p>
            <a:pPr indent="0" marL="0">
              <a:buNone/>
            </a:pPr>
            <a:r>
              <a:rPr lang="en-US" sz="1030" b="1" dirty="0">
                <a:solidFill>
                  <a:srgbClr val="17213F"/>
                </a:solidFill>
              </a:rPr>
              <a:t>Feedback channel</a:t>
            </a:r>
            <a:endParaRPr lang="en-US" sz="1030" dirty="0"/>
          </a:p>
        </p:txBody>
      </p:sp>
      <p:sp>
        <p:nvSpPr>
          <p:cNvPr id="23" name="Text 20"/>
          <p:cNvSpPr/>
          <p:nvPr/>
        </p:nvSpPr>
        <p:spPr>
          <a:xfrm>
            <a:off x="9994392" y="1947672"/>
            <a:ext cx="1700784" cy="135331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Where to ask questions and raise blockers</a:t>
            </a:r>
            <a:endParaRPr lang="en-US" sz="850" dirty="0"/>
          </a:p>
        </p:txBody>
      </p:sp>
      <p:sp>
        <p:nvSpPr>
          <p:cNvPr id="24" name="Shape 21"/>
          <p:cNvSpPr/>
          <p:nvPr/>
        </p:nvSpPr>
        <p:spPr>
          <a:xfrm>
            <a:off x="1143000" y="4617720"/>
            <a:ext cx="9875520" cy="685800"/>
          </a:xfrm>
          <a:prstGeom prst="roundRect">
            <a:avLst>
              <a:gd name="adj" fmla="val 13333"/>
            </a:avLst>
          </a:prstGeom>
          <a:solidFill>
            <a:srgbClr val="DDF7EC"/>
          </a:solidFill>
          <a:ln w="12700">
            <a:solidFill>
              <a:srgbClr val="E5E7EB">
                <a:alpha val="85000"/>
              </a:srgbClr>
            </a:solidFill>
            <a:prstDash val="solid"/>
          </a:ln>
        </p:spPr>
      </p:sp>
      <p:sp>
        <p:nvSpPr>
          <p:cNvPr id="25" name="Text 22"/>
          <p:cNvSpPr/>
          <p:nvPr/>
        </p:nvSpPr>
        <p:spPr>
          <a:xfrm>
            <a:off x="1307592" y="4764024"/>
            <a:ext cx="9546336" cy="201168"/>
          </a:xfrm>
          <a:prstGeom prst="rect">
            <a:avLst/>
          </a:prstGeom>
          <a:noFill/>
          <a:ln/>
        </p:spPr>
        <p:txBody>
          <a:bodyPr wrap="square" lIns="0" tIns="0" rIns="0" bIns="0" rtlCol="0" anchor="ctr"/>
          <a:lstStyle/>
          <a:p>
            <a:pPr indent="0" marL="0">
              <a:buNone/>
            </a:pPr>
            <a:r>
              <a:rPr lang="en-US" sz="1030" b="1" dirty="0">
                <a:solidFill>
                  <a:srgbClr val="17213F"/>
                </a:solidFill>
              </a:rPr>
              <a:t>Message principle</a:t>
            </a:r>
            <a:endParaRPr lang="en-US" sz="1030" dirty="0"/>
          </a:p>
        </p:txBody>
      </p:sp>
      <p:sp>
        <p:nvSpPr>
          <p:cNvPr id="26" name="Text 23"/>
          <p:cNvSpPr/>
          <p:nvPr/>
        </p:nvSpPr>
        <p:spPr>
          <a:xfrm>
            <a:off x="1307592" y="5056632"/>
            <a:ext cx="9546336" cy="11887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Employees need clarity, not slogans: why, what changes, what support exists, and what happens next.</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6F7FB"/>
        </a:solidFill>
      </p:bgPr>
    </p:bg>
    <p:spTree>
      <p:nvGrpSpPr>
        <p:cNvPr id="1" name=""/>
        <p:cNvGrpSpPr/>
        <p:nvPr/>
      </p:nvGrpSpPr>
      <p:grpSpPr>
        <a:xfrm>
          <a:off x="0" y="0"/>
          <a:ext cx="0" cy="0"/>
          <a:chOff x="0" y="0"/>
          <a:chExt cx="0" cy="0"/>
        </a:xfrm>
      </p:grpSpPr>
      <p:sp>
        <p:nvSpPr>
          <p:cNvPr id="2" name="Shape 0"/>
          <p:cNvSpPr/>
          <p:nvPr/>
        </p:nvSpPr>
        <p:spPr>
          <a:xfrm>
            <a:off x="0" y="0"/>
            <a:ext cx="12191695" cy="329184"/>
          </a:xfrm>
          <a:prstGeom prst="rect">
            <a:avLst/>
          </a:prstGeom>
          <a:solidFill>
            <a:srgbClr val="17213F"/>
          </a:solidFill>
          <a:ln w="12700">
            <a:solidFill>
              <a:srgbClr val="17213F"/>
            </a:solidFill>
            <a:prstDash val="solid"/>
          </a:ln>
        </p:spPr>
      </p:sp>
      <p:sp>
        <p:nvSpPr>
          <p:cNvPr id="3" name="Text 1"/>
          <p:cNvSpPr/>
          <p:nvPr/>
        </p:nvSpPr>
        <p:spPr>
          <a:xfrm>
            <a:off x="411480" y="68580"/>
            <a:ext cx="4114800" cy="164592"/>
          </a:xfrm>
          <a:prstGeom prst="rect">
            <a:avLst/>
          </a:prstGeom>
          <a:noFill/>
          <a:ln/>
        </p:spPr>
        <p:txBody>
          <a:bodyPr wrap="square" lIns="0" tIns="0" rIns="0" bIns="0" rtlCol="0" anchor="ctr"/>
          <a:lstStyle/>
          <a:p>
            <a:pPr indent="0" marL="0">
              <a:buNone/>
            </a:pPr>
            <a:r>
              <a:rPr lang="en-US" sz="750" b="1" dirty="0">
                <a:solidFill>
                  <a:srgbClr val="FFFFFF"/>
                </a:solidFill>
                <a:latin typeface="Aptos" pitchFamily="34" charset="0"/>
                <a:ea typeface="Aptos" pitchFamily="34" charset="-122"/>
                <a:cs typeface="Aptos" pitchFamily="34" charset="-120"/>
              </a:rPr>
              <a:t>STAKEHOLDERS</a:t>
            </a:r>
            <a:endParaRPr lang="en-US" sz="750" dirty="0"/>
          </a:p>
        </p:txBody>
      </p:sp>
      <p:sp>
        <p:nvSpPr>
          <p:cNvPr id="4" name="Text 2"/>
          <p:cNvSpPr/>
          <p:nvPr/>
        </p:nvSpPr>
        <p:spPr>
          <a:xfrm>
            <a:off x="8778240" y="68580"/>
            <a:ext cx="3017520" cy="164592"/>
          </a:xfrm>
          <a:prstGeom prst="rect">
            <a:avLst/>
          </a:prstGeom>
          <a:noFill/>
          <a:ln/>
        </p:spPr>
        <p:txBody>
          <a:bodyPr wrap="square" lIns="0" tIns="0" rIns="0" bIns="0" rtlCol="0" anchor="ctr"/>
          <a:lstStyle/>
          <a:p>
            <a:pPr algn="r" indent="0" marL="0">
              <a:buNone/>
            </a:pPr>
            <a:r>
              <a:rPr lang="en-US" sz="750" dirty="0">
                <a:solidFill>
                  <a:srgbClr val="FFFFFF"/>
                </a:solidFill>
              </a:rPr>
              <a:t>Portfolio Training Deck</a:t>
            </a:r>
            <a:endParaRPr lang="en-US" sz="750" dirty="0"/>
          </a:p>
        </p:txBody>
      </p:sp>
      <p:sp>
        <p:nvSpPr>
          <p:cNvPr id="5" name="Shape 3"/>
          <p:cNvSpPr/>
          <p:nvPr/>
        </p:nvSpPr>
        <p:spPr>
          <a:xfrm>
            <a:off x="411480" y="6510528"/>
            <a:ext cx="11384280" cy="9144"/>
          </a:xfrm>
          <a:prstGeom prst="rect">
            <a:avLst/>
          </a:prstGeom>
          <a:solidFill>
            <a:srgbClr val="E5E7EB"/>
          </a:solidFill>
          <a:ln w="12700">
            <a:solidFill>
              <a:srgbClr val="E5E7EB"/>
            </a:solidFill>
            <a:prstDash val="solid"/>
          </a:ln>
        </p:spPr>
      </p:sp>
      <p:sp>
        <p:nvSpPr>
          <p:cNvPr id="6" name="Text 4"/>
          <p:cNvSpPr/>
          <p:nvPr/>
        </p:nvSpPr>
        <p:spPr>
          <a:xfrm>
            <a:off x="594360" y="566928"/>
            <a:ext cx="10789920" cy="384048"/>
          </a:xfrm>
          <a:prstGeom prst="rect">
            <a:avLst/>
          </a:prstGeom>
          <a:noFill/>
          <a:ln/>
        </p:spPr>
        <p:txBody>
          <a:bodyPr wrap="square" lIns="381" tIns="381" rIns="381" bIns="381" rtlCol="0" anchor="ctr">
            <a:normAutofit/>
          </a:bodyPr>
          <a:lstStyle/>
          <a:p>
            <a:pPr indent="0" marL="0">
              <a:buNone/>
            </a:pPr>
            <a:r>
              <a:rPr lang="en-US" sz="2500" b="1" dirty="0">
                <a:solidFill>
                  <a:srgbClr val="17213F"/>
                </a:solidFill>
                <a:latin typeface="Aptos Display" pitchFamily="34" charset="0"/>
                <a:ea typeface="Aptos Display" pitchFamily="34" charset="-122"/>
                <a:cs typeface="Aptos Display" pitchFamily="34" charset="-120"/>
              </a:rPr>
              <a:t>Stakeholder map</a:t>
            </a:r>
            <a:endParaRPr lang="en-US" sz="2500" dirty="0"/>
          </a:p>
        </p:txBody>
      </p:sp>
      <p:sp>
        <p:nvSpPr>
          <p:cNvPr id="7" name="Text 5"/>
          <p:cNvSpPr/>
          <p:nvPr/>
        </p:nvSpPr>
        <p:spPr>
          <a:xfrm>
            <a:off x="612648" y="996696"/>
            <a:ext cx="10698480" cy="237744"/>
          </a:xfrm>
          <a:prstGeom prst="rect">
            <a:avLst/>
          </a:prstGeom>
          <a:noFill/>
          <a:ln/>
        </p:spPr>
        <p:txBody>
          <a:bodyPr wrap="square" lIns="0" tIns="0" rIns="0" bIns="0" rtlCol="0" anchor="ctr">
            <a:normAutofit/>
          </a:bodyPr>
          <a:lstStyle/>
          <a:p>
            <a:pPr indent="0" marL="0">
              <a:buNone/>
            </a:pPr>
            <a:r>
              <a:rPr lang="en-US" sz="1120" dirty="0">
                <a:solidFill>
                  <a:srgbClr val="6B7280"/>
                </a:solidFill>
              </a:rPr>
              <a:t>Who must be involved for the change to land</a:t>
            </a:r>
            <a:endParaRPr lang="en-US" sz="1120" dirty="0"/>
          </a:p>
        </p:txBody>
      </p:sp>
      <p:sp>
        <p:nvSpPr>
          <p:cNvPr id="9" name="Shape 6"/>
          <p:cNvSpPr/>
          <p:nvPr/>
        </p:nvSpPr>
        <p:spPr>
          <a:xfrm>
            <a:off x="731520" y="1463040"/>
            <a:ext cx="3337560" cy="1097280"/>
          </a:xfrm>
          <a:prstGeom prst="roundRect">
            <a:avLst>
              <a:gd name="adj" fmla="val 8333"/>
            </a:avLst>
          </a:prstGeom>
          <a:solidFill>
            <a:srgbClr val="F1EEFF"/>
          </a:solidFill>
          <a:ln w="12700">
            <a:solidFill>
              <a:srgbClr val="E5E7EB">
                <a:alpha val="85000"/>
              </a:srgbClr>
            </a:solidFill>
            <a:prstDash val="solid"/>
          </a:ln>
        </p:spPr>
      </p:sp>
      <p:sp>
        <p:nvSpPr>
          <p:cNvPr id="10" name="Text 7"/>
          <p:cNvSpPr/>
          <p:nvPr/>
        </p:nvSpPr>
        <p:spPr>
          <a:xfrm>
            <a:off x="896112" y="1609344"/>
            <a:ext cx="3008376" cy="201168"/>
          </a:xfrm>
          <a:prstGeom prst="rect">
            <a:avLst/>
          </a:prstGeom>
          <a:noFill/>
          <a:ln/>
        </p:spPr>
        <p:txBody>
          <a:bodyPr wrap="square" lIns="0" tIns="0" rIns="0" bIns="0" rtlCol="0" anchor="ctr"/>
          <a:lstStyle/>
          <a:p>
            <a:pPr indent="0" marL="0">
              <a:buNone/>
            </a:pPr>
            <a:r>
              <a:rPr lang="en-US" sz="1030" b="1" dirty="0">
                <a:solidFill>
                  <a:srgbClr val="17213F"/>
                </a:solidFill>
              </a:rPr>
              <a:t>Executive Sponsor</a:t>
            </a:r>
            <a:endParaRPr lang="en-US" sz="1030" dirty="0"/>
          </a:p>
        </p:txBody>
      </p:sp>
      <p:sp>
        <p:nvSpPr>
          <p:cNvPr id="11" name="Text 8"/>
          <p:cNvSpPr/>
          <p:nvPr/>
        </p:nvSpPr>
        <p:spPr>
          <a:xfrm>
            <a:off x="896112" y="1901952"/>
            <a:ext cx="3008376" cy="53035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Sets direction and reinforces priority</a:t>
            </a:r>
            <a:endParaRPr lang="en-US" sz="850" dirty="0"/>
          </a:p>
        </p:txBody>
      </p:sp>
      <p:sp>
        <p:nvSpPr>
          <p:cNvPr id="12" name="Shape 9"/>
          <p:cNvSpPr/>
          <p:nvPr/>
        </p:nvSpPr>
        <p:spPr>
          <a:xfrm>
            <a:off x="4526280" y="1463040"/>
            <a:ext cx="3337560" cy="1097280"/>
          </a:xfrm>
          <a:prstGeom prst="roundRect">
            <a:avLst>
              <a:gd name="adj" fmla="val 8333"/>
            </a:avLst>
          </a:prstGeom>
          <a:solidFill>
            <a:srgbClr val="FFFFFF"/>
          </a:solidFill>
          <a:ln w="12700">
            <a:solidFill>
              <a:srgbClr val="E5E7EB">
                <a:alpha val="85000"/>
              </a:srgbClr>
            </a:solidFill>
            <a:prstDash val="solid"/>
          </a:ln>
        </p:spPr>
      </p:sp>
      <p:sp>
        <p:nvSpPr>
          <p:cNvPr id="13" name="Text 10"/>
          <p:cNvSpPr/>
          <p:nvPr/>
        </p:nvSpPr>
        <p:spPr>
          <a:xfrm>
            <a:off x="4690872" y="1609344"/>
            <a:ext cx="3008376" cy="201168"/>
          </a:xfrm>
          <a:prstGeom prst="rect">
            <a:avLst/>
          </a:prstGeom>
          <a:noFill/>
          <a:ln/>
        </p:spPr>
        <p:txBody>
          <a:bodyPr wrap="square" lIns="0" tIns="0" rIns="0" bIns="0" rtlCol="0" anchor="ctr"/>
          <a:lstStyle/>
          <a:p>
            <a:pPr indent="0" marL="0">
              <a:buNone/>
            </a:pPr>
            <a:r>
              <a:rPr lang="en-US" sz="1030" b="1" dirty="0">
                <a:solidFill>
                  <a:srgbClr val="17213F"/>
                </a:solidFill>
              </a:rPr>
              <a:t>L&amp;D</a:t>
            </a:r>
            <a:endParaRPr lang="en-US" sz="1030" dirty="0"/>
          </a:p>
        </p:txBody>
      </p:sp>
      <p:sp>
        <p:nvSpPr>
          <p:cNvPr id="14" name="Text 11"/>
          <p:cNvSpPr/>
          <p:nvPr/>
        </p:nvSpPr>
        <p:spPr>
          <a:xfrm>
            <a:off x="4690872" y="1901952"/>
            <a:ext cx="3008376" cy="53035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Designs learning journey and measures adoption</a:t>
            </a:r>
            <a:endParaRPr lang="en-US" sz="850" dirty="0"/>
          </a:p>
        </p:txBody>
      </p:sp>
      <p:sp>
        <p:nvSpPr>
          <p:cNvPr id="15" name="Shape 12"/>
          <p:cNvSpPr/>
          <p:nvPr/>
        </p:nvSpPr>
        <p:spPr>
          <a:xfrm>
            <a:off x="8321040" y="1463040"/>
            <a:ext cx="3337560" cy="1097280"/>
          </a:xfrm>
          <a:prstGeom prst="roundRect">
            <a:avLst>
              <a:gd name="adj" fmla="val 8333"/>
            </a:avLst>
          </a:prstGeom>
          <a:solidFill>
            <a:srgbClr val="F1EEFF"/>
          </a:solidFill>
          <a:ln w="12700">
            <a:solidFill>
              <a:srgbClr val="E5E7EB">
                <a:alpha val="85000"/>
              </a:srgbClr>
            </a:solidFill>
            <a:prstDash val="solid"/>
          </a:ln>
        </p:spPr>
      </p:sp>
      <p:sp>
        <p:nvSpPr>
          <p:cNvPr id="16" name="Text 13"/>
          <p:cNvSpPr/>
          <p:nvPr/>
        </p:nvSpPr>
        <p:spPr>
          <a:xfrm>
            <a:off x="8485632" y="1609344"/>
            <a:ext cx="3008376" cy="201168"/>
          </a:xfrm>
          <a:prstGeom prst="rect">
            <a:avLst/>
          </a:prstGeom>
          <a:noFill/>
          <a:ln/>
        </p:spPr>
        <p:txBody>
          <a:bodyPr wrap="square" lIns="0" tIns="0" rIns="0" bIns="0" rtlCol="0" anchor="ctr"/>
          <a:lstStyle/>
          <a:p>
            <a:pPr indent="0" marL="0">
              <a:buNone/>
            </a:pPr>
            <a:r>
              <a:rPr lang="en-US" sz="1030" b="1" dirty="0">
                <a:solidFill>
                  <a:srgbClr val="17213F"/>
                </a:solidFill>
              </a:rPr>
              <a:t>HRBP</a:t>
            </a:r>
            <a:endParaRPr lang="en-US" sz="1030" dirty="0"/>
          </a:p>
        </p:txBody>
      </p:sp>
      <p:sp>
        <p:nvSpPr>
          <p:cNvPr id="17" name="Text 14"/>
          <p:cNvSpPr/>
          <p:nvPr/>
        </p:nvSpPr>
        <p:spPr>
          <a:xfrm>
            <a:off x="8485632" y="1901952"/>
            <a:ext cx="3008376" cy="53035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Supports managers and identifies people risks</a:t>
            </a:r>
            <a:endParaRPr lang="en-US" sz="850" dirty="0"/>
          </a:p>
        </p:txBody>
      </p:sp>
      <p:sp>
        <p:nvSpPr>
          <p:cNvPr id="18" name="Shape 15"/>
          <p:cNvSpPr/>
          <p:nvPr/>
        </p:nvSpPr>
        <p:spPr>
          <a:xfrm>
            <a:off x="731520" y="2971800"/>
            <a:ext cx="3337560" cy="1097280"/>
          </a:xfrm>
          <a:prstGeom prst="roundRect">
            <a:avLst>
              <a:gd name="adj" fmla="val 8333"/>
            </a:avLst>
          </a:prstGeom>
          <a:solidFill>
            <a:srgbClr val="FFFFFF"/>
          </a:solidFill>
          <a:ln w="12700">
            <a:solidFill>
              <a:srgbClr val="E5E7EB">
                <a:alpha val="85000"/>
              </a:srgbClr>
            </a:solidFill>
            <a:prstDash val="solid"/>
          </a:ln>
        </p:spPr>
      </p:sp>
      <p:sp>
        <p:nvSpPr>
          <p:cNvPr id="19" name="Text 16"/>
          <p:cNvSpPr/>
          <p:nvPr/>
        </p:nvSpPr>
        <p:spPr>
          <a:xfrm>
            <a:off x="896112" y="3118104"/>
            <a:ext cx="3008376" cy="201168"/>
          </a:xfrm>
          <a:prstGeom prst="rect">
            <a:avLst/>
          </a:prstGeom>
          <a:noFill/>
          <a:ln/>
        </p:spPr>
        <p:txBody>
          <a:bodyPr wrap="square" lIns="0" tIns="0" rIns="0" bIns="0" rtlCol="0" anchor="ctr"/>
          <a:lstStyle/>
          <a:p>
            <a:pPr indent="0" marL="0">
              <a:buNone/>
            </a:pPr>
            <a:r>
              <a:rPr lang="en-US" sz="1030" b="1" dirty="0">
                <a:solidFill>
                  <a:srgbClr val="17213F"/>
                </a:solidFill>
              </a:rPr>
              <a:t>Product / Tech</a:t>
            </a:r>
            <a:endParaRPr lang="en-US" sz="1030" dirty="0"/>
          </a:p>
        </p:txBody>
      </p:sp>
      <p:sp>
        <p:nvSpPr>
          <p:cNvPr id="20" name="Text 17"/>
          <p:cNvSpPr/>
          <p:nvPr/>
        </p:nvSpPr>
        <p:spPr>
          <a:xfrm>
            <a:off x="896112" y="3410712"/>
            <a:ext cx="3008376" cy="53035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Explains technical and product changes</a:t>
            </a:r>
            <a:endParaRPr lang="en-US" sz="850" dirty="0"/>
          </a:p>
        </p:txBody>
      </p:sp>
      <p:sp>
        <p:nvSpPr>
          <p:cNvPr id="21" name="Shape 18"/>
          <p:cNvSpPr/>
          <p:nvPr/>
        </p:nvSpPr>
        <p:spPr>
          <a:xfrm>
            <a:off x="4526280" y="2971800"/>
            <a:ext cx="3337560" cy="1097280"/>
          </a:xfrm>
          <a:prstGeom prst="roundRect">
            <a:avLst>
              <a:gd name="adj" fmla="val 8333"/>
            </a:avLst>
          </a:prstGeom>
          <a:solidFill>
            <a:srgbClr val="F1EEFF"/>
          </a:solidFill>
          <a:ln w="12700">
            <a:solidFill>
              <a:srgbClr val="E5E7EB">
                <a:alpha val="85000"/>
              </a:srgbClr>
            </a:solidFill>
            <a:prstDash val="solid"/>
          </a:ln>
        </p:spPr>
      </p:sp>
      <p:sp>
        <p:nvSpPr>
          <p:cNvPr id="22" name="Text 19"/>
          <p:cNvSpPr/>
          <p:nvPr/>
        </p:nvSpPr>
        <p:spPr>
          <a:xfrm>
            <a:off x="4690872" y="3118104"/>
            <a:ext cx="3008376" cy="201168"/>
          </a:xfrm>
          <a:prstGeom prst="rect">
            <a:avLst/>
          </a:prstGeom>
          <a:noFill/>
          <a:ln/>
        </p:spPr>
        <p:txBody>
          <a:bodyPr wrap="square" lIns="0" tIns="0" rIns="0" bIns="0" rtlCol="0" anchor="ctr"/>
          <a:lstStyle/>
          <a:p>
            <a:pPr indent="0" marL="0">
              <a:buNone/>
            </a:pPr>
            <a:r>
              <a:rPr lang="en-US" sz="1030" b="1" dirty="0">
                <a:solidFill>
                  <a:srgbClr val="17213F"/>
                </a:solidFill>
              </a:rPr>
              <a:t>Customer Leaders</a:t>
            </a:r>
            <a:endParaRPr lang="en-US" sz="1030" dirty="0"/>
          </a:p>
        </p:txBody>
      </p:sp>
      <p:sp>
        <p:nvSpPr>
          <p:cNvPr id="23" name="Text 20"/>
          <p:cNvSpPr/>
          <p:nvPr/>
        </p:nvSpPr>
        <p:spPr>
          <a:xfrm>
            <a:off x="4690872" y="3410712"/>
            <a:ext cx="3008376" cy="53035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Adapt customer messaging and workflows</a:t>
            </a:r>
            <a:endParaRPr lang="en-US" sz="850" dirty="0"/>
          </a:p>
        </p:txBody>
      </p:sp>
      <p:sp>
        <p:nvSpPr>
          <p:cNvPr id="24" name="Shape 21"/>
          <p:cNvSpPr/>
          <p:nvPr/>
        </p:nvSpPr>
        <p:spPr>
          <a:xfrm>
            <a:off x="8321040" y="2971800"/>
            <a:ext cx="3337560" cy="1097280"/>
          </a:xfrm>
          <a:prstGeom prst="roundRect">
            <a:avLst>
              <a:gd name="adj" fmla="val 8333"/>
            </a:avLst>
          </a:prstGeom>
          <a:solidFill>
            <a:srgbClr val="FFFFFF"/>
          </a:solidFill>
          <a:ln w="12700">
            <a:solidFill>
              <a:srgbClr val="E5E7EB">
                <a:alpha val="85000"/>
              </a:srgbClr>
            </a:solidFill>
            <a:prstDash val="solid"/>
          </a:ln>
        </p:spPr>
      </p:sp>
      <p:sp>
        <p:nvSpPr>
          <p:cNvPr id="25" name="Text 22"/>
          <p:cNvSpPr/>
          <p:nvPr/>
        </p:nvSpPr>
        <p:spPr>
          <a:xfrm>
            <a:off x="8485632" y="3118104"/>
            <a:ext cx="3008376" cy="201168"/>
          </a:xfrm>
          <a:prstGeom prst="rect">
            <a:avLst/>
          </a:prstGeom>
          <a:noFill/>
          <a:ln/>
        </p:spPr>
        <p:txBody>
          <a:bodyPr wrap="square" lIns="0" tIns="0" rIns="0" bIns="0" rtlCol="0" anchor="ctr"/>
          <a:lstStyle/>
          <a:p>
            <a:pPr indent="0" marL="0">
              <a:buNone/>
            </a:pPr>
            <a:r>
              <a:rPr lang="en-US" sz="1030" b="1" dirty="0">
                <a:solidFill>
                  <a:srgbClr val="17213F"/>
                </a:solidFill>
              </a:rPr>
              <a:t>Internal Comms</a:t>
            </a:r>
            <a:endParaRPr lang="en-US" sz="1030" dirty="0"/>
          </a:p>
        </p:txBody>
      </p:sp>
      <p:sp>
        <p:nvSpPr>
          <p:cNvPr id="26" name="Text 23"/>
          <p:cNvSpPr/>
          <p:nvPr/>
        </p:nvSpPr>
        <p:spPr>
          <a:xfrm>
            <a:off x="8485632" y="3410712"/>
            <a:ext cx="3008376" cy="53035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Creates consistent change messaging</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6F7FB"/>
        </a:solidFill>
      </p:bgPr>
    </p:bg>
    <p:spTree>
      <p:nvGrpSpPr>
        <p:cNvPr id="1" name=""/>
        <p:cNvGrpSpPr/>
        <p:nvPr/>
      </p:nvGrpSpPr>
      <p:grpSpPr>
        <a:xfrm>
          <a:off x="0" y="0"/>
          <a:ext cx="0" cy="0"/>
          <a:chOff x="0" y="0"/>
          <a:chExt cx="0" cy="0"/>
        </a:xfrm>
      </p:grpSpPr>
      <p:sp>
        <p:nvSpPr>
          <p:cNvPr id="2" name="Shape 0"/>
          <p:cNvSpPr/>
          <p:nvPr/>
        </p:nvSpPr>
        <p:spPr>
          <a:xfrm>
            <a:off x="0" y="0"/>
            <a:ext cx="12191695" cy="329184"/>
          </a:xfrm>
          <a:prstGeom prst="rect">
            <a:avLst/>
          </a:prstGeom>
          <a:solidFill>
            <a:srgbClr val="17213F"/>
          </a:solidFill>
          <a:ln w="12700">
            <a:solidFill>
              <a:srgbClr val="17213F"/>
            </a:solidFill>
            <a:prstDash val="solid"/>
          </a:ln>
        </p:spPr>
      </p:sp>
      <p:sp>
        <p:nvSpPr>
          <p:cNvPr id="3" name="Text 1"/>
          <p:cNvSpPr/>
          <p:nvPr/>
        </p:nvSpPr>
        <p:spPr>
          <a:xfrm>
            <a:off x="411480" y="68580"/>
            <a:ext cx="4114800" cy="164592"/>
          </a:xfrm>
          <a:prstGeom prst="rect">
            <a:avLst/>
          </a:prstGeom>
          <a:noFill/>
          <a:ln/>
        </p:spPr>
        <p:txBody>
          <a:bodyPr wrap="square" lIns="0" tIns="0" rIns="0" bIns="0" rtlCol="0" anchor="ctr"/>
          <a:lstStyle/>
          <a:p>
            <a:pPr indent="0" marL="0">
              <a:buNone/>
            </a:pPr>
            <a:r>
              <a:rPr lang="en-US" sz="750" b="1" dirty="0">
                <a:solidFill>
                  <a:srgbClr val="FFFFFF"/>
                </a:solidFill>
                <a:latin typeface="Aptos" pitchFamily="34" charset="0"/>
                <a:ea typeface="Aptos" pitchFamily="34" charset="-122"/>
                <a:cs typeface="Aptos" pitchFamily="34" charset="-120"/>
              </a:rPr>
              <a:t>DELIVERABLES</a:t>
            </a:r>
            <a:endParaRPr lang="en-US" sz="750" dirty="0"/>
          </a:p>
        </p:txBody>
      </p:sp>
      <p:sp>
        <p:nvSpPr>
          <p:cNvPr id="4" name="Text 2"/>
          <p:cNvSpPr/>
          <p:nvPr/>
        </p:nvSpPr>
        <p:spPr>
          <a:xfrm>
            <a:off x="8778240" y="68580"/>
            <a:ext cx="3017520" cy="164592"/>
          </a:xfrm>
          <a:prstGeom prst="rect">
            <a:avLst/>
          </a:prstGeom>
          <a:noFill/>
          <a:ln/>
        </p:spPr>
        <p:txBody>
          <a:bodyPr wrap="square" lIns="0" tIns="0" rIns="0" bIns="0" rtlCol="0" anchor="ctr"/>
          <a:lstStyle/>
          <a:p>
            <a:pPr algn="r" indent="0" marL="0">
              <a:buNone/>
            </a:pPr>
            <a:r>
              <a:rPr lang="en-US" sz="750" dirty="0">
                <a:solidFill>
                  <a:srgbClr val="FFFFFF"/>
                </a:solidFill>
              </a:rPr>
              <a:t>Portfolio Training Deck</a:t>
            </a:r>
            <a:endParaRPr lang="en-US" sz="750" dirty="0"/>
          </a:p>
        </p:txBody>
      </p:sp>
      <p:sp>
        <p:nvSpPr>
          <p:cNvPr id="5" name="Shape 3"/>
          <p:cNvSpPr/>
          <p:nvPr/>
        </p:nvSpPr>
        <p:spPr>
          <a:xfrm>
            <a:off x="411480" y="6510528"/>
            <a:ext cx="11384280" cy="9144"/>
          </a:xfrm>
          <a:prstGeom prst="rect">
            <a:avLst/>
          </a:prstGeom>
          <a:solidFill>
            <a:srgbClr val="E5E7EB"/>
          </a:solidFill>
          <a:ln w="12700">
            <a:solidFill>
              <a:srgbClr val="E5E7EB"/>
            </a:solidFill>
            <a:prstDash val="solid"/>
          </a:ln>
        </p:spPr>
      </p:sp>
      <p:sp>
        <p:nvSpPr>
          <p:cNvPr id="6" name="Text 4"/>
          <p:cNvSpPr/>
          <p:nvPr/>
        </p:nvSpPr>
        <p:spPr>
          <a:xfrm>
            <a:off x="594360" y="566928"/>
            <a:ext cx="10789920" cy="384048"/>
          </a:xfrm>
          <a:prstGeom prst="rect">
            <a:avLst/>
          </a:prstGeom>
          <a:noFill/>
          <a:ln/>
        </p:spPr>
        <p:txBody>
          <a:bodyPr wrap="square" lIns="381" tIns="381" rIns="381" bIns="381" rtlCol="0" anchor="ctr">
            <a:normAutofit/>
          </a:bodyPr>
          <a:lstStyle/>
          <a:p>
            <a:pPr indent="0" marL="0">
              <a:buNone/>
            </a:pPr>
            <a:r>
              <a:rPr lang="en-US" sz="2500" b="1" dirty="0">
                <a:solidFill>
                  <a:srgbClr val="17213F"/>
                </a:solidFill>
                <a:latin typeface="Aptos Display" pitchFamily="34" charset="0"/>
                <a:ea typeface="Aptos Display" pitchFamily="34" charset="-122"/>
                <a:cs typeface="Aptos Display" pitchFamily="34" charset="-120"/>
              </a:rPr>
              <a:t>Learning assets to build</a:t>
            </a:r>
            <a:endParaRPr lang="en-US" sz="2500" dirty="0"/>
          </a:p>
        </p:txBody>
      </p:sp>
      <p:sp>
        <p:nvSpPr>
          <p:cNvPr id="7" name="Text 5"/>
          <p:cNvSpPr/>
          <p:nvPr/>
        </p:nvSpPr>
        <p:spPr>
          <a:xfrm>
            <a:off x="612648" y="996696"/>
            <a:ext cx="10698480" cy="237744"/>
          </a:xfrm>
          <a:prstGeom prst="rect">
            <a:avLst/>
          </a:prstGeom>
          <a:noFill/>
          <a:ln/>
        </p:spPr>
        <p:txBody>
          <a:bodyPr wrap="square" lIns="0" tIns="0" rIns="0" bIns="0" rtlCol="0" anchor="ctr">
            <a:normAutofit/>
          </a:bodyPr>
          <a:lstStyle/>
          <a:p>
            <a:pPr indent="0" marL="0">
              <a:buNone/>
            </a:pPr>
            <a:r>
              <a:rPr lang="en-US" sz="1120" dirty="0">
                <a:solidFill>
                  <a:srgbClr val="6B7280"/>
                </a:solidFill>
              </a:rPr>
              <a:t>A complete change enablement toolkit</a:t>
            </a:r>
            <a:endParaRPr lang="en-US" sz="1120" dirty="0"/>
          </a:p>
        </p:txBody>
      </p:sp>
      <p:sp>
        <p:nvSpPr>
          <p:cNvPr id="9" name="Shape 6"/>
          <p:cNvSpPr/>
          <p:nvPr/>
        </p:nvSpPr>
        <p:spPr>
          <a:xfrm>
            <a:off x="777240" y="1417320"/>
            <a:ext cx="1920240" cy="960120"/>
          </a:xfrm>
          <a:prstGeom prst="roundRect">
            <a:avLst>
              <a:gd name="adj" fmla="val 9524"/>
            </a:avLst>
          </a:prstGeom>
          <a:solidFill>
            <a:srgbClr val="DDEBFF"/>
          </a:solidFill>
          <a:ln w="12700">
            <a:solidFill>
              <a:srgbClr val="E5E7EB">
                <a:alpha val="85000"/>
              </a:srgbClr>
            </a:solidFill>
            <a:prstDash val="solid"/>
          </a:ln>
        </p:spPr>
      </p:sp>
      <p:sp>
        <p:nvSpPr>
          <p:cNvPr id="10" name="Text 7"/>
          <p:cNvSpPr/>
          <p:nvPr/>
        </p:nvSpPr>
        <p:spPr>
          <a:xfrm>
            <a:off x="941832" y="1563624"/>
            <a:ext cx="1591056" cy="201168"/>
          </a:xfrm>
          <a:prstGeom prst="rect">
            <a:avLst/>
          </a:prstGeom>
          <a:noFill/>
          <a:ln/>
        </p:spPr>
        <p:txBody>
          <a:bodyPr wrap="square" lIns="0" tIns="0" rIns="0" bIns="0" rtlCol="0" anchor="ctr"/>
          <a:lstStyle/>
          <a:p>
            <a:pPr indent="0" marL="0">
              <a:buNone/>
            </a:pPr>
            <a:r>
              <a:rPr lang="en-US" sz="1030" b="1" dirty="0">
                <a:solidFill>
                  <a:srgbClr val="17213F"/>
                </a:solidFill>
              </a:rPr>
              <a:t>Facilitator Deck</a:t>
            </a:r>
            <a:endParaRPr lang="en-US" sz="1030" dirty="0"/>
          </a:p>
        </p:txBody>
      </p:sp>
      <p:sp>
        <p:nvSpPr>
          <p:cNvPr id="11" name="Text 8"/>
          <p:cNvSpPr/>
          <p:nvPr/>
        </p:nvSpPr>
        <p:spPr>
          <a:xfrm>
            <a:off x="941832" y="1856232"/>
            <a:ext cx="1591056" cy="393192"/>
          </a:xfrm>
          <a:prstGeom prst="rect">
            <a:avLst/>
          </a:prstGeom>
          <a:noFill/>
          <a:ln/>
        </p:spPr>
        <p:txBody>
          <a:bodyPr wrap="square" lIns="254" tIns="254" rIns="254" bIns="254" rtlCol="0" anchor="t">
            <a:normAutofit/>
          </a:bodyPr>
          <a:lstStyle/>
          <a:p>
            <a:pPr indent="0" marL="0">
              <a:buNone/>
            </a:pPr>
            <a:endParaRPr lang="en-US" sz="850" dirty="0"/>
          </a:p>
        </p:txBody>
      </p:sp>
      <p:sp>
        <p:nvSpPr>
          <p:cNvPr id="12" name="Shape 9"/>
          <p:cNvSpPr/>
          <p:nvPr/>
        </p:nvSpPr>
        <p:spPr>
          <a:xfrm>
            <a:off x="3017520" y="1417320"/>
            <a:ext cx="1920240" cy="960120"/>
          </a:xfrm>
          <a:prstGeom prst="roundRect">
            <a:avLst>
              <a:gd name="adj" fmla="val 9524"/>
            </a:avLst>
          </a:prstGeom>
          <a:solidFill>
            <a:srgbClr val="FFFFFF"/>
          </a:solidFill>
          <a:ln w="12700">
            <a:solidFill>
              <a:srgbClr val="E5E7EB">
                <a:alpha val="85000"/>
              </a:srgbClr>
            </a:solidFill>
            <a:prstDash val="solid"/>
          </a:ln>
        </p:spPr>
      </p:sp>
      <p:sp>
        <p:nvSpPr>
          <p:cNvPr id="13" name="Text 10"/>
          <p:cNvSpPr/>
          <p:nvPr/>
        </p:nvSpPr>
        <p:spPr>
          <a:xfrm>
            <a:off x="3182112" y="1563624"/>
            <a:ext cx="1591056" cy="201168"/>
          </a:xfrm>
          <a:prstGeom prst="rect">
            <a:avLst/>
          </a:prstGeom>
          <a:noFill/>
          <a:ln/>
        </p:spPr>
        <p:txBody>
          <a:bodyPr wrap="square" lIns="0" tIns="0" rIns="0" bIns="0" rtlCol="0" anchor="ctr"/>
          <a:lstStyle/>
          <a:p>
            <a:pPr indent="0" marL="0">
              <a:buNone/>
            </a:pPr>
            <a:r>
              <a:rPr lang="en-US" sz="1030" b="1" dirty="0">
                <a:solidFill>
                  <a:srgbClr val="17213F"/>
                </a:solidFill>
              </a:rPr>
              <a:t>Change Narrative Map</a:t>
            </a:r>
            <a:endParaRPr lang="en-US" sz="1030" dirty="0"/>
          </a:p>
        </p:txBody>
      </p:sp>
      <p:sp>
        <p:nvSpPr>
          <p:cNvPr id="14" name="Text 11"/>
          <p:cNvSpPr/>
          <p:nvPr/>
        </p:nvSpPr>
        <p:spPr>
          <a:xfrm>
            <a:off x="3182112" y="1856232"/>
            <a:ext cx="1591056" cy="393192"/>
          </a:xfrm>
          <a:prstGeom prst="rect">
            <a:avLst/>
          </a:prstGeom>
          <a:noFill/>
          <a:ln/>
        </p:spPr>
        <p:txBody>
          <a:bodyPr wrap="square" lIns="254" tIns="254" rIns="254" bIns="254" rtlCol="0" anchor="t">
            <a:normAutofit/>
          </a:bodyPr>
          <a:lstStyle/>
          <a:p>
            <a:pPr indent="0" marL="0">
              <a:buNone/>
            </a:pPr>
            <a:endParaRPr lang="en-US" sz="850" dirty="0"/>
          </a:p>
        </p:txBody>
      </p:sp>
      <p:sp>
        <p:nvSpPr>
          <p:cNvPr id="15" name="Shape 12"/>
          <p:cNvSpPr/>
          <p:nvPr/>
        </p:nvSpPr>
        <p:spPr>
          <a:xfrm>
            <a:off x="5257800" y="1417320"/>
            <a:ext cx="1920240" cy="960120"/>
          </a:xfrm>
          <a:prstGeom prst="roundRect">
            <a:avLst>
              <a:gd name="adj" fmla="val 9524"/>
            </a:avLst>
          </a:prstGeom>
          <a:solidFill>
            <a:srgbClr val="DDEBFF"/>
          </a:solidFill>
          <a:ln w="12700">
            <a:solidFill>
              <a:srgbClr val="E5E7EB">
                <a:alpha val="85000"/>
              </a:srgbClr>
            </a:solidFill>
            <a:prstDash val="solid"/>
          </a:ln>
        </p:spPr>
      </p:sp>
      <p:sp>
        <p:nvSpPr>
          <p:cNvPr id="16" name="Text 13"/>
          <p:cNvSpPr/>
          <p:nvPr/>
        </p:nvSpPr>
        <p:spPr>
          <a:xfrm>
            <a:off x="5422392" y="1563624"/>
            <a:ext cx="1591056" cy="201168"/>
          </a:xfrm>
          <a:prstGeom prst="rect">
            <a:avLst/>
          </a:prstGeom>
          <a:noFill/>
          <a:ln/>
        </p:spPr>
        <p:txBody>
          <a:bodyPr wrap="square" lIns="0" tIns="0" rIns="0" bIns="0" rtlCol="0" anchor="ctr"/>
          <a:lstStyle/>
          <a:p>
            <a:pPr indent="0" marL="0">
              <a:buNone/>
            </a:pPr>
            <a:r>
              <a:rPr lang="en-US" sz="1030" b="1" dirty="0">
                <a:solidFill>
                  <a:srgbClr val="17213F"/>
                </a:solidFill>
              </a:rPr>
              <a:t>Role Impact Map</a:t>
            </a:r>
            <a:endParaRPr lang="en-US" sz="1030" dirty="0"/>
          </a:p>
        </p:txBody>
      </p:sp>
      <p:sp>
        <p:nvSpPr>
          <p:cNvPr id="17" name="Text 14"/>
          <p:cNvSpPr/>
          <p:nvPr/>
        </p:nvSpPr>
        <p:spPr>
          <a:xfrm>
            <a:off x="5422392" y="1856232"/>
            <a:ext cx="1591056" cy="393192"/>
          </a:xfrm>
          <a:prstGeom prst="rect">
            <a:avLst/>
          </a:prstGeom>
          <a:noFill/>
          <a:ln/>
        </p:spPr>
        <p:txBody>
          <a:bodyPr wrap="square" lIns="254" tIns="254" rIns="254" bIns="254" rtlCol="0" anchor="t">
            <a:normAutofit/>
          </a:bodyPr>
          <a:lstStyle/>
          <a:p>
            <a:pPr indent="0" marL="0">
              <a:buNone/>
            </a:pPr>
            <a:endParaRPr lang="en-US" sz="850" dirty="0"/>
          </a:p>
        </p:txBody>
      </p:sp>
      <p:sp>
        <p:nvSpPr>
          <p:cNvPr id="18" name="Shape 15"/>
          <p:cNvSpPr/>
          <p:nvPr/>
        </p:nvSpPr>
        <p:spPr>
          <a:xfrm>
            <a:off x="7498080" y="1417320"/>
            <a:ext cx="1920240" cy="960120"/>
          </a:xfrm>
          <a:prstGeom prst="roundRect">
            <a:avLst>
              <a:gd name="adj" fmla="val 9524"/>
            </a:avLst>
          </a:prstGeom>
          <a:solidFill>
            <a:srgbClr val="FFFFFF"/>
          </a:solidFill>
          <a:ln w="12700">
            <a:solidFill>
              <a:srgbClr val="E5E7EB">
                <a:alpha val="85000"/>
              </a:srgbClr>
            </a:solidFill>
            <a:prstDash val="solid"/>
          </a:ln>
        </p:spPr>
      </p:sp>
      <p:sp>
        <p:nvSpPr>
          <p:cNvPr id="19" name="Text 16"/>
          <p:cNvSpPr/>
          <p:nvPr/>
        </p:nvSpPr>
        <p:spPr>
          <a:xfrm>
            <a:off x="7662672" y="1563624"/>
            <a:ext cx="1591056" cy="201168"/>
          </a:xfrm>
          <a:prstGeom prst="rect">
            <a:avLst/>
          </a:prstGeom>
          <a:noFill/>
          <a:ln/>
        </p:spPr>
        <p:txBody>
          <a:bodyPr wrap="square" lIns="0" tIns="0" rIns="0" bIns="0" rtlCol="0" anchor="ctr"/>
          <a:lstStyle/>
          <a:p>
            <a:pPr indent="0" marL="0">
              <a:buNone/>
            </a:pPr>
            <a:r>
              <a:rPr lang="en-US" sz="1030" b="1" dirty="0">
                <a:solidFill>
                  <a:srgbClr val="17213F"/>
                </a:solidFill>
              </a:rPr>
              <a:t>Skills Gap Map</a:t>
            </a:r>
            <a:endParaRPr lang="en-US" sz="1030" dirty="0"/>
          </a:p>
        </p:txBody>
      </p:sp>
      <p:sp>
        <p:nvSpPr>
          <p:cNvPr id="20" name="Text 17"/>
          <p:cNvSpPr/>
          <p:nvPr/>
        </p:nvSpPr>
        <p:spPr>
          <a:xfrm>
            <a:off x="7662672" y="1856232"/>
            <a:ext cx="1591056" cy="393192"/>
          </a:xfrm>
          <a:prstGeom prst="rect">
            <a:avLst/>
          </a:prstGeom>
          <a:noFill/>
          <a:ln/>
        </p:spPr>
        <p:txBody>
          <a:bodyPr wrap="square" lIns="254" tIns="254" rIns="254" bIns="254" rtlCol="0" anchor="t">
            <a:normAutofit/>
          </a:bodyPr>
          <a:lstStyle/>
          <a:p>
            <a:pPr indent="0" marL="0">
              <a:buNone/>
            </a:pPr>
            <a:endParaRPr lang="en-US" sz="850" dirty="0"/>
          </a:p>
        </p:txBody>
      </p:sp>
      <p:sp>
        <p:nvSpPr>
          <p:cNvPr id="21" name="Shape 18"/>
          <p:cNvSpPr/>
          <p:nvPr/>
        </p:nvSpPr>
        <p:spPr>
          <a:xfrm>
            <a:off x="9738360" y="1417320"/>
            <a:ext cx="1920240" cy="960120"/>
          </a:xfrm>
          <a:prstGeom prst="roundRect">
            <a:avLst>
              <a:gd name="adj" fmla="val 9524"/>
            </a:avLst>
          </a:prstGeom>
          <a:solidFill>
            <a:srgbClr val="DDEBFF"/>
          </a:solidFill>
          <a:ln w="12700">
            <a:solidFill>
              <a:srgbClr val="E5E7EB">
                <a:alpha val="85000"/>
              </a:srgbClr>
            </a:solidFill>
            <a:prstDash val="solid"/>
          </a:ln>
        </p:spPr>
      </p:sp>
      <p:sp>
        <p:nvSpPr>
          <p:cNvPr id="22" name="Text 19"/>
          <p:cNvSpPr/>
          <p:nvPr/>
        </p:nvSpPr>
        <p:spPr>
          <a:xfrm>
            <a:off x="9902952" y="1563624"/>
            <a:ext cx="1591056" cy="201168"/>
          </a:xfrm>
          <a:prstGeom prst="rect">
            <a:avLst/>
          </a:prstGeom>
          <a:noFill/>
          <a:ln/>
        </p:spPr>
        <p:txBody>
          <a:bodyPr wrap="square" lIns="0" tIns="0" rIns="0" bIns="0" rtlCol="0" anchor="ctr"/>
          <a:lstStyle/>
          <a:p>
            <a:pPr indent="0" marL="0">
              <a:buNone/>
            </a:pPr>
            <a:r>
              <a:rPr lang="en-US" sz="1030" b="1" dirty="0">
                <a:solidFill>
                  <a:srgbClr val="17213F"/>
                </a:solidFill>
              </a:rPr>
              <a:t>Manager Conversation Guide</a:t>
            </a:r>
            <a:endParaRPr lang="en-US" sz="1030" dirty="0"/>
          </a:p>
        </p:txBody>
      </p:sp>
      <p:sp>
        <p:nvSpPr>
          <p:cNvPr id="23" name="Text 20"/>
          <p:cNvSpPr/>
          <p:nvPr/>
        </p:nvSpPr>
        <p:spPr>
          <a:xfrm>
            <a:off x="9902952" y="1856232"/>
            <a:ext cx="1591056" cy="393192"/>
          </a:xfrm>
          <a:prstGeom prst="rect">
            <a:avLst/>
          </a:prstGeom>
          <a:noFill/>
          <a:ln/>
        </p:spPr>
        <p:txBody>
          <a:bodyPr wrap="square" lIns="254" tIns="254" rIns="254" bIns="254" rtlCol="0" anchor="t">
            <a:normAutofit/>
          </a:bodyPr>
          <a:lstStyle/>
          <a:p>
            <a:pPr indent="0" marL="0">
              <a:buNone/>
            </a:pPr>
            <a:endParaRPr lang="en-US" sz="850" dirty="0"/>
          </a:p>
        </p:txBody>
      </p:sp>
      <p:sp>
        <p:nvSpPr>
          <p:cNvPr id="24" name="Shape 21"/>
          <p:cNvSpPr/>
          <p:nvPr/>
        </p:nvSpPr>
        <p:spPr>
          <a:xfrm>
            <a:off x="777240" y="2834640"/>
            <a:ext cx="1920240" cy="960120"/>
          </a:xfrm>
          <a:prstGeom prst="roundRect">
            <a:avLst>
              <a:gd name="adj" fmla="val 9524"/>
            </a:avLst>
          </a:prstGeom>
          <a:solidFill>
            <a:srgbClr val="FFFFFF"/>
          </a:solidFill>
          <a:ln w="12700">
            <a:solidFill>
              <a:srgbClr val="E5E7EB">
                <a:alpha val="85000"/>
              </a:srgbClr>
            </a:solidFill>
            <a:prstDash val="solid"/>
          </a:ln>
        </p:spPr>
      </p:sp>
      <p:sp>
        <p:nvSpPr>
          <p:cNvPr id="25" name="Text 22"/>
          <p:cNvSpPr/>
          <p:nvPr/>
        </p:nvSpPr>
        <p:spPr>
          <a:xfrm>
            <a:off x="941832" y="2980944"/>
            <a:ext cx="1591056" cy="201168"/>
          </a:xfrm>
          <a:prstGeom prst="rect">
            <a:avLst/>
          </a:prstGeom>
          <a:noFill/>
          <a:ln/>
        </p:spPr>
        <p:txBody>
          <a:bodyPr wrap="square" lIns="0" tIns="0" rIns="0" bIns="0" rtlCol="0" anchor="ctr"/>
          <a:lstStyle/>
          <a:p>
            <a:pPr indent="0" marL="0">
              <a:buNone/>
            </a:pPr>
            <a:r>
              <a:rPr lang="en-US" sz="1030" b="1" dirty="0">
                <a:solidFill>
                  <a:srgbClr val="17213F"/>
                </a:solidFill>
              </a:rPr>
              <a:t>Resistance Response Guide</a:t>
            </a:r>
            <a:endParaRPr lang="en-US" sz="1030" dirty="0"/>
          </a:p>
        </p:txBody>
      </p:sp>
      <p:sp>
        <p:nvSpPr>
          <p:cNvPr id="26" name="Text 23"/>
          <p:cNvSpPr/>
          <p:nvPr/>
        </p:nvSpPr>
        <p:spPr>
          <a:xfrm>
            <a:off x="941832" y="3273552"/>
            <a:ext cx="1591056" cy="393192"/>
          </a:xfrm>
          <a:prstGeom prst="rect">
            <a:avLst/>
          </a:prstGeom>
          <a:noFill/>
          <a:ln/>
        </p:spPr>
        <p:txBody>
          <a:bodyPr wrap="square" lIns="254" tIns="254" rIns="254" bIns="254" rtlCol="0" anchor="t">
            <a:normAutofit/>
          </a:bodyPr>
          <a:lstStyle/>
          <a:p>
            <a:pPr indent="0" marL="0">
              <a:buNone/>
            </a:pPr>
            <a:endParaRPr lang="en-US" sz="850" dirty="0"/>
          </a:p>
        </p:txBody>
      </p:sp>
      <p:sp>
        <p:nvSpPr>
          <p:cNvPr id="27" name="Shape 24"/>
          <p:cNvSpPr/>
          <p:nvPr/>
        </p:nvSpPr>
        <p:spPr>
          <a:xfrm>
            <a:off x="3017520" y="2834640"/>
            <a:ext cx="1920240" cy="960120"/>
          </a:xfrm>
          <a:prstGeom prst="roundRect">
            <a:avLst>
              <a:gd name="adj" fmla="val 9524"/>
            </a:avLst>
          </a:prstGeom>
          <a:solidFill>
            <a:srgbClr val="DDEBFF"/>
          </a:solidFill>
          <a:ln w="12700">
            <a:solidFill>
              <a:srgbClr val="E5E7EB">
                <a:alpha val="85000"/>
              </a:srgbClr>
            </a:solidFill>
            <a:prstDash val="solid"/>
          </a:ln>
        </p:spPr>
      </p:sp>
      <p:sp>
        <p:nvSpPr>
          <p:cNvPr id="28" name="Text 25"/>
          <p:cNvSpPr/>
          <p:nvPr/>
        </p:nvSpPr>
        <p:spPr>
          <a:xfrm>
            <a:off x="3182112" y="2980944"/>
            <a:ext cx="1591056" cy="201168"/>
          </a:xfrm>
          <a:prstGeom prst="rect">
            <a:avLst/>
          </a:prstGeom>
          <a:noFill/>
          <a:ln/>
        </p:spPr>
        <p:txBody>
          <a:bodyPr wrap="square" lIns="0" tIns="0" rIns="0" bIns="0" rtlCol="0" anchor="ctr"/>
          <a:lstStyle/>
          <a:p>
            <a:pPr indent="0" marL="0">
              <a:buNone/>
            </a:pPr>
            <a:r>
              <a:rPr lang="en-US" sz="1030" b="1" dirty="0">
                <a:solidFill>
                  <a:srgbClr val="17213F"/>
                </a:solidFill>
              </a:rPr>
              <a:t>Change FAQ</a:t>
            </a:r>
            <a:endParaRPr lang="en-US" sz="1030" dirty="0"/>
          </a:p>
        </p:txBody>
      </p:sp>
      <p:sp>
        <p:nvSpPr>
          <p:cNvPr id="29" name="Text 26"/>
          <p:cNvSpPr/>
          <p:nvPr/>
        </p:nvSpPr>
        <p:spPr>
          <a:xfrm>
            <a:off x="3182112" y="3273552"/>
            <a:ext cx="1591056" cy="393192"/>
          </a:xfrm>
          <a:prstGeom prst="rect">
            <a:avLst/>
          </a:prstGeom>
          <a:noFill/>
          <a:ln/>
        </p:spPr>
        <p:txBody>
          <a:bodyPr wrap="square" lIns="254" tIns="254" rIns="254" bIns="254" rtlCol="0" anchor="t">
            <a:normAutofit/>
          </a:bodyPr>
          <a:lstStyle/>
          <a:p>
            <a:pPr indent="0" marL="0">
              <a:buNone/>
            </a:pPr>
            <a:endParaRPr lang="en-US" sz="850" dirty="0"/>
          </a:p>
        </p:txBody>
      </p:sp>
      <p:sp>
        <p:nvSpPr>
          <p:cNvPr id="30" name="Shape 27"/>
          <p:cNvSpPr/>
          <p:nvPr/>
        </p:nvSpPr>
        <p:spPr>
          <a:xfrm>
            <a:off x="5257800" y="2834640"/>
            <a:ext cx="1920240" cy="960120"/>
          </a:xfrm>
          <a:prstGeom prst="roundRect">
            <a:avLst>
              <a:gd name="adj" fmla="val 9524"/>
            </a:avLst>
          </a:prstGeom>
          <a:solidFill>
            <a:srgbClr val="FFFFFF"/>
          </a:solidFill>
          <a:ln w="12700">
            <a:solidFill>
              <a:srgbClr val="E5E7EB">
                <a:alpha val="85000"/>
              </a:srgbClr>
            </a:solidFill>
            <a:prstDash val="solid"/>
          </a:ln>
        </p:spPr>
      </p:sp>
      <p:sp>
        <p:nvSpPr>
          <p:cNvPr id="31" name="Text 28"/>
          <p:cNvSpPr/>
          <p:nvPr/>
        </p:nvSpPr>
        <p:spPr>
          <a:xfrm>
            <a:off x="5422392" y="2980944"/>
            <a:ext cx="1591056" cy="201168"/>
          </a:xfrm>
          <a:prstGeom prst="rect">
            <a:avLst/>
          </a:prstGeom>
          <a:noFill/>
          <a:ln/>
        </p:spPr>
        <p:txBody>
          <a:bodyPr wrap="square" lIns="0" tIns="0" rIns="0" bIns="0" rtlCol="0" anchor="ctr"/>
          <a:lstStyle/>
          <a:p>
            <a:pPr indent="0" marL="0">
              <a:buNone/>
            </a:pPr>
            <a:r>
              <a:rPr lang="en-US" sz="1030" b="1" dirty="0">
                <a:solidFill>
                  <a:srgbClr val="17213F"/>
                </a:solidFill>
              </a:rPr>
              <a:t>Knowledge Hub</a:t>
            </a:r>
            <a:endParaRPr lang="en-US" sz="1030" dirty="0"/>
          </a:p>
        </p:txBody>
      </p:sp>
      <p:sp>
        <p:nvSpPr>
          <p:cNvPr id="32" name="Text 29"/>
          <p:cNvSpPr/>
          <p:nvPr/>
        </p:nvSpPr>
        <p:spPr>
          <a:xfrm>
            <a:off x="5422392" y="3273552"/>
            <a:ext cx="1591056" cy="393192"/>
          </a:xfrm>
          <a:prstGeom prst="rect">
            <a:avLst/>
          </a:prstGeom>
          <a:noFill/>
          <a:ln/>
        </p:spPr>
        <p:txBody>
          <a:bodyPr wrap="square" lIns="254" tIns="254" rIns="254" bIns="254" rtlCol="0" anchor="t">
            <a:normAutofit/>
          </a:bodyPr>
          <a:lstStyle/>
          <a:p>
            <a:pPr indent="0" marL="0">
              <a:buNone/>
            </a:pPr>
            <a:endParaRPr lang="en-US" sz="850" dirty="0"/>
          </a:p>
        </p:txBody>
      </p:sp>
      <p:sp>
        <p:nvSpPr>
          <p:cNvPr id="33" name="Shape 30"/>
          <p:cNvSpPr/>
          <p:nvPr/>
        </p:nvSpPr>
        <p:spPr>
          <a:xfrm>
            <a:off x="7498080" y="2834640"/>
            <a:ext cx="1920240" cy="960120"/>
          </a:xfrm>
          <a:prstGeom prst="roundRect">
            <a:avLst>
              <a:gd name="adj" fmla="val 9524"/>
            </a:avLst>
          </a:prstGeom>
          <a:solidFill>
            <a:srgbClr val="DDEBFF"/>
          </a:solidFill>
          <a:ln w="12700">
            <a:solidFill>
              <a:srgbClr val="E5E7EB">
                <a:alpha val="85000"/>
              </a:srgbClr>
            </a:solidFill>
            <a:prstDash val="solid"/>
          </a:ln>
        </p:spPr>
      </p:sp>
      <p:sp>
        <p:nvSpPr>
          <p:cNvPr id="34" name="Text 31"/>
          <p:cNvSpPr/>
          <p:nvPr/>
        </p:nvSpPr>
        <p:spPr>
          <a:xfrm>
            <a:off x="7662672" y="2980944"/>
            <a:ext cx="1591056" cy="201168"/>
          </a:xfrm>
          <a:prstGeom prst="rect">
            <a:avLst/>
          </a:prstGeom>
          <a:noFill/>
          <a:ln/>
        </p:spPr>
        <p:txBody>
          <a:bodyPr wrap="square" lIns="0" tIns="0" rIns="0" bIns="0" rtlCol="0" anchor="ctr"/>
          <a:lstStyle/>
          <a:p>
            <a:pPr indent="0" marL="0">
              <a:buNone/>
            </a:pPr>
            <a:r>
              <a:rPr lang="en-US" sz="1030" b="1" dirty="0">
                <a:solidFill>
                  <a:srgbClr val="17213F"/>
                </a:solidFill>
              </a:rPr>
              <a:t>Adoption Dashboard</a:t>
            </a:r>
            <a:endParaRPr lang="en-US" sz="1030" dirty="0"/>
          </a:p>
        </p:txBody>
      </p:sp>
      <p:sp>
        <p:nvSpPr>
          <p:cNvPr id="35" name="Text 32"/>
          <p:cNvSpPr/>
          <p:nvPr/>
        </p:nvSpPr>
        <p:spPr>
          <a:xfrm>
            <a:off x="7662672" y="3273552"/>
            <a:ext cx="1591056" cy="393192"/>
          </a:xfrm>
          <a:prstGeom prst="rect">
            <a:avLst/>
          </a:prstGeom>
          <a:noFill/>
          <a:ln/>
        </p:spPr>
        <p:txBody>
          <a:bodyPr wrap="square" lIns="254" tIns="254" rIns="254" bIns="254" rtlCol="0" anchor="t">
            <a:normAutofit/>
          </a:bodyPr>
          <a:lstStyle/>
          <a:p>
            <a:pPr indent="0" marL="0">
              <a:buNone/>
            </a:pPr>
            <a:endParaRPr lang="en-US" sz="850" dirty="0"/>
          </a:p>
        </p:txBody>
      </p:sp>
      <p:sp>
        <p:nvSpPr>
          <p:cNvPr id="36" name="Shape 33"/>
          <p:cNvSpPr/>
          <p:nvPr/>
        </p:nvSpPr>
        <p:spPr>
          <a:xfrm>
            <a:off x="9738360" y="2834640"/>
            <a:ext cx="1920240" cy="960120"/>
          </a:xfrm>
          <a:prstGeom prst="roundRect">
            <a:avLst>
              <a:gd name="adj" fmla="val 9524"/>
            </a:avLst>
          </a:prstGeom>
          <a:solidFill>
            <a:srgbClr val="FFFFFF"/>
          </a:solidFill>
          <a:ln w="12700">
            <a:solidFill>
              <a:srgbClr val="E5E7EB">
                <a:alpha val="85000"/>
              </a:srgbClr>
            </a:solidFill>
            <a:prstDash val="solid"/>
          </a:ln>
        </p:spPr>
      </p:sp>
      <p:sp>
        <p:nvSpPr>
          <p:cNvPr id="37" name="Text 34"/>
          <p:cNvSpPr/>
          <p:nvPr/>
        </p:nvSpPr>
        <p:spPr>
          <a:xfrm>
            <a:off x="9902952" y="2980944"/>
            <a:ext cx="1591056" cy="201168"/>
          </a:xfrm>
          <a:prstGeom prst="rect">
            <a:avLst/>
          </a:prstGeom>
          <a:noFill/>
          <a:ln/>
        </p:spPr>
        <p:txBody>
          <a:bodyPr wrap="square" lIns="0" tIns="0" rIns="0" bIns="0" rtlCol="0" anchor="ctr"/>
          <a:lstStyle/>
          <a:p>
            <a:pPr indent="0" marL="0">
              <a:buNone/>
            </a:pPr>
            <a:r>
              <a:rPr lang="en-US" sz="1030" b="1" dirty="0">
                <a:solidFill>
                  <a:srgbClr val="17213F"/>
                </a:solidFill>
              </a:rPr>
              <a:t>Team Adoption Plan</a:t>
            </a:r>
            <a:endParaRPr lang="en-US" sz="1030" dirty="0"/>
          </a:p>
        </p:txBody>
      </p:sp>
      <p:sp>
        <p:nvSpPr>
          <p:cNvPr id="38" name="Text 35"/>
          <p:cNvSpPr/>
          <p:nvPr/>
        </p:nvSpPr>
        <p:spPr>
          <a:xfrm>
            <a:off x="9902952" y="3273552"/>
            <a:ext cx="1591056" cy="393192"/>
          </a:xfrm>
          <a:prstGeom prst="rect">
            <a:avLst/>
          </a:prstGeom>
          <a:noFill/>
          <a:ln/>
        </p:spPr>
        <p:txBody>
          <a:bodyPr wrap="square" lIns="254" tIns="254" rIns="254" bIns="254" rtlCol="0" anchor="t">
            <a:normAutofit/>
          </a:bodyPr>
          <a:lstStyle/>
          <a:p>
            <a:pPr indent="0" marL="0">
              <a:buNone/>
            </a:pPr>
            <a:endParaRPr lang="en-US" sz="850" dirty="0"/>
          </a:p>
        </p:txBody>
      </p:sp>
      <p:sp>
        <p:nvSpPr>
          <p:cNvPr id="39" name="Text 36"/>
          <p:cNvSpPr/>
          <p:nvPr/>
        </p:nvSpPr>
        <p:spPr>
          <a:xfrm>
            <a:off x="1143000" y="4709160"/>
            <a:ext cx="9875520" cy="411480"/>
          </a:xfrm>
          <a:prstGeom prst="rect">
            <a:avLst/>
          </a:prstGeom>
          <a:noFill/>
          <a:ln/>
        </p:spPr>
        <p:txBody>
          <a:bodyPr wrap="square" lIns="0" tIns="0" rIns="0" bIns="0" rtlCol="0" anchor="ctr"/>
          <a:lstStyle/>
          <a:p>
            <a:pPr algn="ctr" indent="0" marL="0">
              <a:buNone/>
            </a:pPr>
            <a:r>
              <a:rPr lang="en-US" sz="1300" b="1" dirty="0">
                <a:solidFill>
                  <a:srgbClr val="17213F"/>
                </a:solidFill>
              </a:rPr>
              <a:t>Each asset supports a different step: understanding, translation, capability building, manager enablement, or measurement.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6F7FB"/>
        </a:solidFill>
      </p:bgPr>
    </p:bg>
    <p:spTree>
      <p:nvGrpSpPr>
        <p:cNvPr id="1" name=""/>
        <p:cNvGrpSpPr/>
        <p:nvPr/>
      </p:nvGrpSpPr>
      <p:grpSpPr>
        <a:xfrm>
          <a:off x="0" y="0"/>
          <a:ext cx="0" cy="0"/>
          <a:chOff x="0" y="0"/>
          <a:chExt cx="0" cy="0"/>
        </a:xfrm>
      </p:grpSpPr>
      <p:sp>
        <p:nvSpPr>
          <p:cNvPr id="2" name="Shape 0"/>
          <p:cNvSpPr/>
          <p:nvPr/>
        </p:nvSpPr>
        <p:spPr>
          <a:xfrm>
            <a:off x="0" y="0"/>
            <a:ext cx="12191695" cy="329184"/>
          </a:xfrm>
          <a:prstGeom prst="rect">
            <a:avLst/>
          </a:prstGeom>
          <a:solidFill>
            <a:srgbClr val="17213F"/>
          </a:solidFill>
          <a:ln w="12700">
            <a:solidFill>
              <a:srgbClr val="17213F"/>
            </a:solidFill>
            <a:prstDash val="solid"/>
          </a:ln>
        </p:spPr>
      </p:sp>
      <p:sp>
        <p:nvSpPr>
          <p:cNvPr id="3" name="Text 1"/>
          <p:cNvSpPr/>
          <p:nvPr/>
        </p:nvSpPr>
        <p:spPr>
          <a:xfrm>
            <a:off x="411480" y="68580"/>
            <a:ext cx="4114800" cy="164592"/>
          </a:xfrm>
          <a:prstGeom prst="rect">
            <a:avLst/>
          </a:prstGeom>
          <a:noFill/>
          <a:ln/>
        </p:spPr>
        <p:txBody>
          <a:bodyPr wrap="square" lIns="0" tIns="0" rIns="0" bIns="0" rtlCol="0" anchor="ctr"/>
          <a:lstStyle/>
          <a:p>
            <a:pPr indent="0" marL="0">
              <a:buNone/>
            </a:pPr>
            <a:r>
              <a:rPr lang="en-US" sz="750" b="1" dirty="0">
                <a:solidFill>
                  <a:srgbClr val="FFFFFF"/>
                </a:solidFill>
                <a:latin typeface="Aptos" pitchFamily="34" charset="0"/>
                <a:ea typeface="Aptos" pitchFamily="34" charset="-122"/>
                <a:cs typeface="Aptos" pitchFamily="34" charset="-120"/>
              </a:rPr>
              <a:t>IMPLEMENTATION</a:t>
            </a:r>
            <a:endParaRPr lang="en-US" sz="750" dirty="0"/>
          </a:p>
        </p:txBody>
      </p:sp>
      <p:sp>
        <p:nvSpPr>
          <p:cNvPr id="4" name="Text 2"/>
          <p:cNvSpPr/>
          <p:nvPr/>
        </p:nvSpPr>
        <p:spPr>
          <a:xfrm>
            <a:off x="8778240" y="68580"/>
            <a:ext cx="3017520" cy="164592"/>
          </a:xfrm>
          <a:prstGeom prst="rect">
            <a:avLst/>
          </a:prstGeom>
          <a:noFill/>
          <a:ln/>
        </p:spPr>
        <p:txBody>
          <a:bodyPr wrap="square" lIns="0" tIns="0" rIns="0" bIns="0" rtlCol="0" anchor="ctr"/>
          <a:lstStyle/>
          <a:p>
            <a:pPr algn="r" indent="0" marL="0">
              <a:buNone/>
            </a:pPr>
            <a:r>
              <a:rPr lang="en-US" sz="750" dirty="0">
                <a:solidFill>
                  <a:srgbClr val="FFFFFF"/>
                </a:solidFill>
              </a:rPr>
              <a:t>Portfolio Training Deck</a:t>
            </a:r>
            <a:endParaRPr lang="en-US" sz="750" dirty="0"/>
          </a:p>
        </p:txBody>
      </p:sp>
      <p:sp>
        <p:nvSpPr>
          <p:cNvPr id="5" name="Shape 3"/>
          <p:cNvSpPr/>
          <p:nvPr/>
        </p:nvSpPr>
        <p:spPr>
          <a:xfrm>
            <a:off x="411480" y="6510528"/>
            <a:ext cx="11384280" cy="9144"/>
          </a:xfrm>
          <a:prstGeom prst="rect">
            <a:avLst/>
          </a:prstGeom>
          <a:solidFill>
            <a:srgbClr val="E5E7EB"/>
          </a:solidFill>
          <a:ln w="12700">
            <a:solidFill>
              <a:srgbClr val="E5E7EB"/>
            </a:solidFill>
            <a:prstDash val="solid"/>
          </a:ln>
        </p:spPr>
      </p:sp>
      <p:sp>
        <p:nvSpPr>
          <p:cNvPr id="6" name="Text 4"/>
          <p:cNvSpPr/>
          <p:nvPr/>
        </p:nvSpPr>
        <p:spPr>
          <a:xfrm>
            <a:off x="594360" y="566928"/>
            <a:ext cx="10789920" cy="384048"/>
          </a:xfrm>
          <a:prstGeom prst="rect">
            <a:avLst/>
          </a:prstGeom>
          <a:noFill/>
          <a:ln/>
        </p:spPr>
        <p:txBody>
          <a:bodyPr wrap="square" lIns="381" tIns="381" rIns="381" bIns="381" rtlCol="0" anchor="ctr">
            <a:normAutofit/>
          </a:bodyPr>
          <a:lstStyle/>
          <a:p>
            <a:pPr indent="0" marL="0">
              <a:buNone/>
            </a:pPr>
            <a:r>
              <a:rPr lang="en-US" sz="2500" b="1" dirty="0">
                <a:solidFill>
                  <a:srgbClr val="17213F"/>
                </a:solidFill>
                <a:latin typeface="Aptos Display" pitchFamily="34" charset="0"/>
                <a:ea typeface="Aptos Display" pitchFamily="34" charset="-122"/>
                <a:cs typeface="Aptos Display" pitchFamily="34" charset="-120"/>
              </a:rPr>
              <a:t>Implementation roadmap</a:t>
            </a:r>
            <a:endParaRPr lang="en-US" sz="2500" dirty="0"/>
          </a:p>
        </p:txBody>
      </p:sp>
      <p:sp>
        <p:nvSpPr>
          <p:cNvPr id="7" name="Text 5"/>
          <p:cNvSpPr/>
          <p:nvPr/>
        </p:nvSpPr>
        <p:spPr>
          <a:xfrm>
            <a:off x="612648" y="996696"/>
            <a:ext cx="10698480" cy="237744"/>
          </a:xfrm>
          <a:prstGeom prst="rect">
            <a:avLst/>
          </a:prstGeom>
          <a:noFill/>
          <a:ln/>
        </p:spPr>
        <p:txBody>
          <a:bodyPr wrap="square" lIns="0" tIns="0" rIns="0" bIns="0" rtlCol="0" anchor="ctr">
            <a:normAutofit/>
          </a:bodyPr>
          <a:lstStyle/>
          <a:p>
            <a:pPr indent="0" marL="0">
              <a:buNone/>
            </a:pPr>
            <a:r>
              <a:rPr lang="en-US" sz="1120" dirty="0">
                <a:solidFill>
                  <a:srgbClr val="6B7280"/>
                </a:solidFill>
              </a:rPr>
              <a:t>Pilot → refine → scale → sustain</a:t>
            </a:r>
            <a:endParaRPr lang="en-US" sz="1120" dirty="0"/>
          </a:p>
        </p:txBody>
      </p:sp>
      <p:sp>
        <p:nvSpPr>
          <p:cNvPr id="9" name="Shape 6"/>
          <p:cNvSpPr/>
          <p:nvPr/>
        </p:nvSpPr>
        <p:spPr>
          <a:xfrm>
            <a:off x="777240" y="1600200"/>
            <a:ext cx="1874520" cy="2377440"/>
          </a:xfrm>
          <a:prstGeom prst="roundRect">
            <a:avLst>
              <a:gd name="adj" fmla="val 4878"/>
            </a:avLst>
          </a:prstGeom>
          <a:solidFill>
            <a:srgbClr val="FFFFFF"/>
          </a:solidFill>
          <a:ln w="12700">
            <a:solidFill>
              <a:srgbClr val="E5E7EB">
                <a:alpha val="85000"/>
              </a:srgbClr>
            </a:solidFill>
            <a:prstDash val="solid"/>
          </a:ln>
        </p:spPr>
      </p:sp>
      <p:sp>
        <p:nvSpPr>
          <p:cNvPr id="10" name="Text 7"/>
          <p:cNvSpPr/>
          <p:nvPr/>
        </p:nvSpPr>
        <p:spPr>
          <a:xfrm>
            <a:off x="941832" y="1746504"/>
            <a:ext cx="1545336" cy="201168"/>
          </a:xfrm>
          <a:prstGeom prst="rect">
            <a:avLst/>
          </a:prstGeom>
          <a:noFill/>
          <a:ln/>
        </p:spPr>
        <p:txBody>
          <a:bodyPr wrap="square" lIns="0" tIns="0" rIns="0" bIns="0" rtlCol="0" anchor="ctr"/>
          <a:lstStyle/>
          <a:p>
            <a:pPr indent="0" marL="0">
              <a:buNone/>
            </a:pPr>
            <a:r>
              <a:rPr lang="en-US" sz="1030" b="1" dirty="0">
                <a:solidFill>
                  <a:srgbClr val="17213F"/>
                </a:solidFill>
              </a:rPr>
              <a:t>1. Discovery</a:t>
            </a:r>
            <a:endParaRPr lang="en-US" sz="1030" dirty="0"/>
          </a:p>
        </p:txBody>
      </p:sp>
      <p:sp>
        <p:nvSpPr>
          <p:cNvPr id="11" name="Text 8"/>
          <p:cNvSpPr/>
          <p:nvPr/>
        </p:nvSpPr>
        <p:spPr>
          <a:xfrm>
            <a:off x="941832" y="2039112"/>
            <a:ext cx="1545336" cy="181051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Interview leaders and managers; identify change pain points</a:t>
            </a:r>
            <a:endParaRPr lang="en-US" sz="850" dirty="0"/>
          </a:p>
        </p:txBody>
      </p:sp>
      <p:sp>
        <p:nvSpPr>
          <p:cNvPr id="12" name="Shape 9"/>
          <p:cNvSpPr/>
          <p:nvPr/>
        </p:nvSpPr>
        <p:spPr>
          <a:xfrm>
            <a:off x="3017520" y="1600200"/>
            <a:ext cx="1874520" cy="2377440"/>
          </a:xfrm>
          <a:prstGeom prst="roundRect">
            <a:avLst>
              <a:gd name="adj" fmla="val 4878"/>
            </a:avLst>
          </a:prstGeom>
          <a:solidFill>
            <a:srgbClr val="F1EEFF"/>
          </a:solidFill>
          <a:ln w="12700">
            <a:solidFill>
              <a:srgbClr val="E5E7EB">
                <a:alpha val="85000"/>
              </a:srgbClr>
            </a:solidFill>
            <a:prstDash val="solid"/>
          </a:ln>
        </p:spPr>
      </p:sp>
      <p:sp>
        <p:nvSpPr>
          <p:cNvPr id="13" name="Text 10"/>
          <p:cNvSpPr/>
          <p:nvPr/>
        </p:nvSpPr>
        <p:spPr>
          <a:xfrm>
            <a:off x="3182112" y="1746504"/>
            <a:ext cx="1545336" cy="201168"/>
          </a:xfrm>
          <a:prstGeom prst="rect">
            <a:avLst/>
          </a:prstGeom>
          <a:noFill/>
          <a:ln/>
        </p:spPr>
        <p:txBody>
          <a:bodyPr wrap="square" lIns="0" tIns="0" rIns="0" bIns="0" rtlCol="0" anchor="ctr"/>
          <a:lstStyle/>
          <a:p>
            <a:pPr indent="0" marL="0">
              <a:buNone/>
            </a:pPr>
            <a:r>
              <a:rPr lang="en-US" sz="1030" b="1" dirty="0">
                <a:solidFill>
                  <a:srgbClr val="17213F"/>
                </a:solidFill>
              </a:rPr>
              <a:t>2. Pilot</a:t>
            </a:r>
            <a:endParaRPr lang="en-US" sz="1030" dirty="0"/>
          </a:p>
        </p:txBody>
      </p:sp>
      <p:sp>
        <p:nvSpPr>
          <p:cNvPr id="14" name="Text 11"/>
          <p:cNvSpPr/>
          <p:nvPr/>
        </p:nvSpPr>
        <p:spPr>
          <a:xfrm>
            <a:off x="3182112" y="2039112"/>
            <a:ext cx="1545336" cy="181051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Run program with 40–60 employees and managers</a:t>
            </a:r>
            <a:endParaRPr lang="en-US" sz="850" dirty="0"/>
          </a:p>
        </p:txBody>
      </p:sp>
      <p:sp>
        <p:nvSpPr>
          <p:cNvPr id="15" name="Shape 12"/>
          <p:cNvSpPr/>
          <p:nvPr/>
        </p:nvSpPr>
        <p:spPr>
          <a:xfrm>
            <a:off x="5257800" y="1600200"/>
            <a:ext cx="1874520" cy="2377440"/>
          </a:xfrm>
          <a:prstGeom prst="roundRect">
            <a:avLst>
              <a:gd name="adj" fmla="val 4878"/>
            </a:avLst>
          </a:prstGeom>
          <a:solidFill>
            <a:srgbClr val="FFFFFF"/>
          </a:solidFill>
          <a:ln w="12700">
            <a:solidFill>
              <a:srgbClr val="E5E7EB">
                <a:alpha val="85000"/>
              </a:srgbClr>
            </a:solidFill>
            <a:prstDash val="solid"/>
          </a:ln>
        </p:spPr>
      </p:sp>
      <p:sp>
        <p:nvSpPr>
          <p:cNvPr id="16" name="Text 13"/>
          <p:cNvSpPr/>
          <p:nvPr/>
        </p:nvSpPr>
        <p:spPr>
          <a:xfrm>
            <a:off x="5422392" y="1746504"/>
            <a:ext cx="1545336" cy="201168"/>
          </a:xfrm>
          <a:prstGeom prst="rect">
            <a:avLst/>
          </a:prstGeom>
          <a:noFill/>
          <a:ln/>
        </p:spPr>
        <p:txBody>
          <a:bodyPr wrap="square" lIns="0" tIns="0" rIns="0" bIns="0" rtlCol="0" anchor="ctr"/>
          <a:lstStyle/>
          <a:p>
            <a:pPr indent="0" marL="0">
              <a:buNone/>
            </a:pPr>
            <a:r>
              <a:rPr lang="en-US" sz="1030" b="1" dirty="0">
                <a:solidFill>
                  <a:srgbClr val="17213F"/>
                </a:solidFill>
              </a:rPr>
              <a:t>3. Refine</a:t>
            </a:r>
            <a:endParaRPr lang="en-US" sz="1030" dirty="0"/>
          </a:p>
        </p:txBody>
      </p:sp>
      <p:sp>
        <p:nvSpPr>
          <p:cNvPr id="17" name="Text 14"/>
          <p:cNvSpPr/>
          <p:nvPr/>
        </p:nvSpPr>
        <p:spPr>
          <a:xfrm>
            <a:off x="5422392" y="2039112"/>
            <a:ext cx="1545336" cy="181051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Update content based on feedback and readiness data</a:t>
            </a:r>
            <a:endParaRPr lang="en-US" sz="850" dirty="0"/>
          </a:p>
        </p:txBody>
      </p:sp>
      <p:sp>
        <p:nvSpPr>
          <p:cNvPr id="18" name="Shape 15"/>
          <p:cNvSpPr/>
          <p:nvPr/>
        </p:nvSpPr>
        <p:spPr>
          <a:xfrm>
            <a:off x="7498080" y="1600200"/>
            <a:ext cx="1874520" cy="2377440"/>
          </a:xfrm>
          <a:prstGeom prst="roundRect">
            <a:avLst>
              <a:gd name="adj" fmla="val 4878"/>
            </a:avLst>
          </a:prstGeom>
          <a:solidFill>
            <a:srgbClr val="F1EEFF"/>
          </a:solidFill>
          <a:ln w="12700">
            <a:solidFill>
              <a:srgbClr val="E5E7EB">
                <a:alpha val="85000"/>
              </a:srgbClr>
            </a:solidFill>
            <a:prstDash val="solid"/>
          </a:ln>
        </p:spPr>
      </p:sp>
      <p:sp>
        <p:nvSpPr>
          <p:cNvPr id="19" name="Text 16"/>
          <p:cNvSpPr/>
          <p:nvPr/>
        </p:nvSpPr>
        <p:spPr>
          <a:xfrm>
            <a:off x="7662672" y="1746504"/>
            <a:ext cx="1545336" cy="201168"/>
          </a:xfrm>
          <a:prstGeom prst="rect">
            <a:avLst/>
          </a:prstGeom>
          <a:noFill/>
          <a:ln/>
        </p:spPr>
        <p:txBody>
          <a:bodyPr wrap="square" lIns="0" tIns="0" rIns="0" bIns="0" rtlCol="0" anchor="ctr"/>
          <a:lstStyle/>
          <a:p>
            <a:pPr indent="0" marL="0">
              <a:buNone/>
            </a:pPr>
            <a:r>
              <a:rPr lang="en-US" sz="1030" b="1" dirty="0">
                <a:solidFill>
                  <a:srgbClr val="17213F"/>
                </a:solidFill>
              </a:rPr>
              <a:t>4. Scale</a:t>
            </a:r>
            <a:endParaRPr lang="en-US" sz="1030" dirty="0"/>
          </a:p>
        </p:txBody>
      </p:sp>
      <p:sp>
        <p:nvSpPr>
          <p:cNvPr id="20" name="Text 17"/>
          <p:cNvSpPr/>
          <p:nvPr/>
        </p:nvSpPr>
        <p:spPr>
          <a:xfrm>
            <a:off x="7662672" y="2039112"/>
            <a:ext cx="1545336" cy="181051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Roll out to global teams through LMS and manager forums</a:t>
            </a:r>
            <a:endParaRPr lang="en-US" sz="850" dirty="0"/>
          </a:p>
        </p:txBody>
      </p:sp>
      <p:sp>
        <p:nvSpPr>
          <p:cNvPr id="21" name="Shape 18"/>
          <p:cNvSpPr/>
          <p:nvPr/>
        </p:nvSpPr>
        <p:spPr>
          <a:xfrm>
            <a:off x="9738360" y="1600200"/>
            <a:ext cx="1874520" cy="2377440"/>
          </a:xfrm>
          <a:prstGeom prst="roundRect">
            <a:avLst>
              <a:gd name="adj" fmla="val 4878"/>
            </a:avLst>
          </a:prstGeom>
          <a:solidFill>
            <a:srgbClr val="FFFFFF"/>
          </a:solidFill>
          <a:ln w="12700">
            <a:solidFill>
              <a:srgbClr val="E5E7EB">
                <a:alpha val="85000"/>
              </a:srgbClr>
            </a:solidFill>
            <a:prstDash val="solid"/>
          </a:ln>
        </p:spPr>
      </p:sp>
      <p:sp>
        <p:nvSpPr>
          <p:cNvPr id="22" name="Text 19"/>
          <p:cNvSpPr/>
          <p:nvPr/>
        </p:nvSpPr>
        <p:spPr>
          <a:xfrm>
            <a:off x="9902952" y="1746504"/>
            <a:ext cx="1545336" cy="201168"/>
          </a:xfrm>
          <a:prstGeom prst="rect">
            <a:avLst/>
          </a:prstGeom>
          <a:noFill/>
          <a:ln/>
        </p:spPr>
        <p:txBody>
          <a:bodyPr wrap="square" lIns="0" tIns="0" rIns="0" bIns="0" rtlCol="0" anchor="ctr"/>
          <a:lstStyle/>
          <a:p>
            <a:pPr indent="0" marL="0">
              <a:buNone/>
            </a:pPr>
            <a:r>
              <a:rPr lang="en-US" sz="1030" b="1" dirty="0">
                <a:solidFill>
                  <a:srgbClr val="17213F"/>
                </a:solidFill>
              </a:rPr>
              <a:t>5. Sustain</a:t>
            </a:r>
            <a:endParaRPr lang="en-US" sz="1030" dirty="0"/>
          </a:p>
        </p:txBody>
      </p:sp>
      <p:sp>
        <p:nvSpPr>
          <p:cNvPr id="23" name="Text 20"/>
          <p:cNvSpPr/>
          <p:nvPr/>
        </p:nvSpPr>
        <p:spPr>
          <a:xfrm>
            <a:off x="9902952" y="2039112"/>
            <a:ext cx="1545336" cy="181051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Review dashboard monthly and update hub resources</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6F7FB"/>
        </a:solidFill>
      </p:bgPr>
    </p:bg>
    <p:spTree>
      <p:nvGrpSpPr>
        <p:cNvPr id="1" name=""/>
        <p:cNvGrpSpPr/>
        <p:nvPr/>
      </p:nvGrpSpPr>
      <p:grpSpPr>
        <a:xfrm>
          <a:off x="0" y="0"/>
          <a:ext cx="0" cy="0"/>
          <a:chOff x="0" y="0"/>
          <a:chExt cx="0" cy="0"/>
        </a:xfrm>
      </p:grpSpPr>
      <p:sp>
        <p:nvSpPr>
          <p:cNvPr id="2" name="Shape 0"/>
          <p:cNvSpPr/>
          <p:nvPr/>
        </p:nvSpPr>
        <p:spPr>
          <a:xfrm>
            <a:off x="0" y="0"/>
            <a:ext cx="12191695" cy="329184"/>
          </a:xfrm>
          <a:prstGeom prst="rect">
            <a:avLst/>
          </a:prstGeom>
          <a:solidFill>
            <a:srgbClr val="17213F"/>
          </a:solidFill>
          <a:ln w="12700">
            <a:solidFill>
              <a:srgbClr val="17213F"/>
            </a:solidFill>
            <a:prstDash val="solid"/>
          </a:ln>
        </p:spPr>
      </p:sp>
      <p:sp>
        <p:nvSpPr>
          <p:cNvPr id="3" name="Text 1"/>
          <p:cNvSpPr/>
          <p:nvPr/>
        </p:nvSpPr>
        <p:spPr>
          <a:xfrm>
            <a:off x="411480" y="68580"/>
            <a:ext cx="4114800" cy="164592"/>
          </a:xfrm>
          <a:prstGeom prst="rect">
            <a:avLst/>
          </a:prstGeom>
          <a:noFill/>
          <a:ln/>
        </p:spPr>
        <p:txBody>
          <a:bodyPr wrap="square" lIns="0" tIns="0" rIns="0" bIns="0" rtlCol="0" anchor="ctr"/>
          <a:lstStyle/>
          <a:p>
            <a:pPr indent="0" marL="0">
              <a:buNone/>
            </a:pPr>
            <a:r>
              <a:rPr lang="en-US" sz="750" b="1" dirty="0">
                <a:solidFill>
                  <a:srgbClr val="FFFFFF"/>
                </a:solidFill>
                <a:latin typeface="Aptos" pitchFamily="34" charset="0"/>
                <a:ea typeface="Aptos" pitchFamily="34" charset="-122"/>
                <a:cs typeface="Aptos" pitchFamily="34" charset="-120"/>
              </a:rPr>
              <a:t>RISK MANAGEMENT</a:t>
            </a:r>
            <a:endParaRPr lang="en-US" sz="750" dirty="0"/>
          </a:p>
        </p:txBody>
      </p:sp>
      <p:sp>
        <p:nvSpPr>
          <p:cNvPr id="4" name="Text 2"/>
          <p:cNvSpPr/>
          <p:nvPr/>
        </p:nvSpPr>
        <p:spPr>
          <a:xfrm>
            <a:off x="8778240" y="68580"/>
            <a:ext cx="3017520" cy="164592"/>
          </a:xfrm>
          <a:prstGeom prst="rect">
            <a:avLst/>
          </a:prstGeom>
          <a:noFill/>
          <a:ln/>
        </p:spPr>
        <p:txBody>
          <a:bodyPr wrap="square" lIns="0" tIns="0" rIns="0" bIns="0" rtlCol="0" anchor="ctr"/>
          <a:lstStyle/>
          <a:p>
            <a:pPr algn="r" indent="0" marL="0">
              <a:buNone/>
            </a:pPr>
            <a:r>
              <a:rPr lang="en-US" sz="750" dirty="0">
                <a:solidFill>
                  <a:srgbClr val="FFFFFF"/>
                </a:solidFill>
              </a:rPr>
              <a:t>Portfolio Training Deck</a:t>
            </a:r>
            <a:endParaRPr lang="en-US" sz="750" dirty="0"/>
          </a:p>
        </p:txBody>
      </p:sp>
      <p:sp>
        <p:nvSpPr>
          <p:cNvPr id="5" name="Shape 3"/>
          <p:cNvSpPr/>
          <p:nvPr/>
        </p:nvSpPr>
        <p:spPr>
          <a:xfrm>
            <a:off x="411480" y="6510528"/>
            <a:ext cx="11384280" cy="9144"/>
          </a:xfrm>
          <a:prstGeom prst="rect">
            <a:avLst/>
          </a:prstGeom>
          <a:solidFill>
            <a:srgbClr val="E5E7EB"/>
          </a:solidFill>
          <a:ln w="12700">
            <a:solidFill>
              <a:srgbClr val="E5E7EB"/>
            </a:solidFill>
            <a:prstDash val="solid"/>
          </a:ln>
        </p:spPr>
      </p:sp>
      <p:sp>
        <p:nvSpPr>
          <p:cNvPr id="6" name="Text 4"/>
          <p:cNvSpPr/>
          <p:nvPr/>
        </p:nvSpPr>
        <p:spPr>
          <a:xfrm>
            <a:off x="594360" y="566928"/>
            <a:ext cx="10789920" cy="384048"/>
          </a:xfrm>
          <a:prstGeom prst="rect">
            <a:avLst/>
          </a:prstGeom>
          <a:noFill/>
          <a:ln/>
        </p:spPr>
        <p:txBody>
          <a:bodyPr wrap="square" lIns="381" tIns="381" rIns="381" bIns="381" rtlCol="0" anchor="ctr">
            <a:normAutofit/>
          </a:bodyPr>
          <a:lstStyle/>
          <a:p>
            <a:pPr indent="0" marL="0">
              <a:buNone/>
            </a:pPr>
            <a:r>
              <a:rPr lang="en-US" sz="2500" b="1" dirty="0">
                <a:solidFill>
                  <a:srgbClr val="17213F"/>
                </a:solidFill>
                <a:latin typeface="Aptos Display" pitchFamily="34" charset="0"/>
                <a:ea typeface="Aptos Display" pitchFamily="34" charset="-122"/>
                <a:cs typeface="Aptos Display" pitchFamily="34" charset="-120"/>
              </a:rPr>
              <a:t>Risks &amp; mitigation</a:t>
            </a:r>
            <a:endParaRPr lang="en-US" sz="2500" dirty="0"/>
          </a:p>
        </p:txBody>
      </p:sp>
      <p:sp>
        <p:nvSpPr>
          <p:cNvPr id="7" name="Text 5"/>
          <p:cNvSpPr/>
          <p:nvPr/>
        </p:nvSpPr>
        <p:spPr>
          <a:xfrm>
            <a:off x="612648" y="996696"/>
            <a:ext cx="10698480" cy="237744"/>
          </a:xfrm>
          <a:prstGeom prst="rect">
            <a:avLst/>
          </a:prstGeom>
          <a:noFill/>
          <a:ln/>
        </p:spPr>
        <p:txBody>
          <a:bodyPr wrap="square" lIns="0" tIns="0" rIns="0" bIns="0" rtlCol="0" anchor="ctr">
            <a:normAutofit/>
          </a:bodyPr>
          <a:lstStyle/>
          <a:p>
            <a:pPr indent="0" marL="0">
              <a:buNone/>
            </a:pPr>
            <a:r>
              <a:rPr lang="en-US" sz="1120" dirty="0">
                <a:solidFill>
                  <a:srgbClr val="6B7280"/>
                </a:solidFill>
              </a:rPr>
              <a:t>Common risks in strategic change enablement</a:t>
            </a:r>
            <a:endParaRPr lang="en-US" sz="1120" dirty="0"/>
          </a:p>
        </p:txBody>
      </p:sp>
      <p:sp>
        <p:nvSpPr>
          <p:cNvPr id="9" name="Shape 6"/>
          <p:cNvSpPr/>
          <p:nvPr/>
        </p:nvSpPr>
        <p:spPr>
          <a:xfrm>
            <a:off x="731520" y="1325880"/>
            <a:ext cx="5120640" cy="960120"/>
          </a:xfrm>
          <a:prstGeom prst="roundRect">
            <a:avLst>
              <a:gd name="adj" fmla="val 9524"/>
            </a:avLst>
          </a:prstGeom>
          <a:solidFill>
            <a:srgbClr val="FFFFFF"/>
          </a:solidFill>
          <a:ln w="12700">
            <a:solidFill>
              <a:srgbClr val="E5E7EB">
                <a:alpha val="85000"/>
              </a:srgbClr>
            </a:solidFill>
            <a:prstDash val="solid"/>
          </a:ln>
        </p:spPr>
      </p:sp>
      <p:sp>
        <p:nvSpPr>
          <p:cNvPr id="10" name="Text 7"/>
          <p:cNvSpPr/>
          <p:nvPr/>
        </p:nvSpPr>
        <p:spPr>
          <a:xfrm>
            <a:off x="896112" y="1472184"/>
            <a:ext cx="4791456" cy="201168"/>
          </a:xfrm>
          <a:prstGeom prst="rect">
            <a:avLst/>
          </a:prstGeom>
          <a:noFill/>
          <a:ln/>
        </p:spPr>
        <p:txBody>
          <a:bodyPr wrap="square" lIns="0" tIns="0" rIns="0" bIns="0" rtlCol="0" anchor="ctr"/>
          <a:lstStyle/>
          <a:p>
            <a:pPr indent="0" marL="0">
              <a:buNone/>
            </a:pPr>
            <a:r>
              <a:rPr lang="en-US" sz="1030" b="1" dirty="0">
                <a:solidFill>
                  <a:srgbClr val="17213F"/>
                </a:solidFill>
              </a:rPr>
              <a:t>Resistance to change</a:t>
            </a:r>
            <a:endParaRPr lang="en-US" sz="1030" dirty="0"/>
          </a:p>
        </p:txBody>
      </p:sp>
      <p:sp>
        <p:nvSpPr>
          <p:cNvPr id="11" name="Text 8"/>
          <p:cNvSpPr/>
          <p:nvPr/>
        </p:nvSpPr>
        <p:spPr>
          <a:xfrm>
            <a:off x="896112" y="1764792"/>
            <a:ext cx="4791456" cy="39319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Use manager conversations and practical role examples</a:t>
            </a:r>
            <a:endParaRPr lang="en-US" sz="850" dirty="0"/>
          </a:p>
        </p:txBody>
      </p:sp>
      <p:sp>
        <p:nvSpPr>
          <p:cNvPr id="12" name="Shape 9"/>
          <p:cNvSpPr/>
          <p:nvPr/>
        </p:nvSpPr>
        <p:spPr>
          <a:xfrm>
            <a:off x="6309360" y="1325880"/>
            <a:ext cx="5120640" cy="960120"/>
          </a:xfrm>
          <a:prstGeom prst="roundRect">
            <a:avLst>
              <a:gd name="adj" fmla="val 9524"/>
            </a:avLst>
          </a:prstGeom>
          <a:solidFill>
            <a:srgbClr val="F1EEFF"/>
          </a:solidFill>
          <a:ln w="12700">
            <a:solidFill>
              <a:srgbClr val="E5E7EB">
                <a:alpha val="85000"/>
              </a:srgbClr>
            </a:solidFill>
            <a:prstDash val="solid"/>
          </a:ln>
        </p:spPr>
      </p:sp>
      <p:sp>
        <p:nvSpPr>
          <p:cNvPr id="13" name="Text 10"/>
          <p:cNvSpPr/>
          <p:nvPr/>
        </p:nvSpPr>
        <p:spPr>
          <a:xfrm>
            <a:off x="6473952" y="1472184"/>
            <a:ext cx="4791456" cy="201168"/>
          </a:xfrm>
          <a:prstGeom prst="rect">
            <a:avLst/>
          </a:prstGeom>
          <a:noFill/>
          <a:ln/>
        </p:spPr>
        <p:txBody>
          <a:bodyPr wrap="square" lIns="0" tIns="0" rIns="0" bIns="0" rtlCol="0" anchor="ctr"/>
          <a:lstStyle/>
          <a:p>
            <a:pPr indent="0" marL="0">
              <a:buNone/>
            </a:pPr>
            <a:r>
              <a:rPr lang="en-US" sz="1030" b="1" dirty="0">
                <a:solidFill>
                  <a:srgbClr val="17213F"/>
                </a:solidFill>
              </a:rPr>
              <a:t>Unclear role impact</a:t>
            </a:r>
            <a:endParaRPr lang="en-US" sz="1030" dirty="0"/>
          </a:p>
        </p:txBody>
      </p:sp>
      <p:sp>
        <p:nvSpPr>
          <p:cNvPr id="14" name="Text 11"/>
          <p:cNvSpPr/>
          <p:nvPr/>
        </p:nvSpPr>
        <p:spPr>
          <a:xfrm>
            <a:off x="6473952" y="1764792"/>
            <a:ext cx="4791456" cy="39319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Use role impact maps and team-specific FAQs</a:t>
            </a:r>
            <a:endParaRPr lang="en-US" sz="850" dirty="0"/>
          </a:p>
        </p:txBody>
      </p:sp>
      <p:sp>
        <p:nvSpPr>
          <p:cNvPr id="15" name="Shape 12"/>
          <p:cNvSpPr/>
          <p:nvPr/>
        </p:nvSpPr>
        <p:spPr>
          <a:xfrm>
            <a:off x="731520" y="2743200"/>
            <a:ext cx="5120640" cy="960120"/>
          </a:xfrm>
          <a:prstGeom prst="roundRect">
            <a:avLst>
              <a:gd name="adj" fmla="val 9524"/>
            </a:avLst>
          </a:prstGeom>
          <a:solidFill>
            <a:srgbClr val="FFFFFF"/>
          </a:solidFill>
          <a:ln w="12700">
            <a:solidFill>
              <a:srgbClr val="E5E7EB">
                <a:alpha val="85000"/>
              </a:srgbClr>
            </a:solidFill>
            <a:prstDash val="solid"/>
          </a:ln>
        </p:spPr>
      </p:sp>
      <p:sp>
        <p:nvSpPr>
          <p:cNvPr id="16" name="Text 13"/>
          <p:cNvSpPr/>
          <p:nvPr/>
        </p:nvSpPr>
        <p:spPr>
          <a:xfrm>
            <a:off x="896112" y="2889504"/>
            <a:ext cx="4791456" cy="201168"/>
          </a:xfrm>
          <a:prstGeom prst="rect">
            <a:avLst/>
          </a:prstGeom>
          <a:noFill/>
          <a:ln/>
        </p:spPr>
        <p:txBody>
          <a:bodyPr wrap="square" lIns="0" tIns="0" rIns="0" bIns="0" rtlCol="0" anchor="ctr"/>
          <a:lstStyle/>
          <a:p>
            <a:pPr indent="0" marL="0">
              <a:buNone/>
            </a:pPr>
            <a:r>
              <a:rPr lang="en-US" sz="1030" b="1" dirty="0">
                <a:solidFill>
                  <a:srgbClr val="17213F"/>
                </a:solidFill>
              </a:rPr>
              <a:t>Manager inconsistency</a:t>
            </a:r>
            <a:endParaRPr lang="en-US" sz="1030" dirty="0"/>
          </a:p>
        </p:txBody>
      </p:sp>
      <p:sp>
        <p:nvSpPr>
          <p:cNvPr id="17" name="Text 14"/>
          <p:cNvSpPr/>
          <p:nvPr/>
        </p:nvSpPr>
        <p:spPr>
          <a:xfrm>
            <a:off x="896112" y="3182112"/>
            <a:ext cx="4791456" cy="39319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Provide scripts, guides, and manager enablement sessions</a:t>
            </a:r>
            <a:endParaRPr lang="en-US" sz="850" dirty="0"/>
          </a:p>
        </p:txBody>
      </p:sp>
      <p:sp>
        <p:nvSpPr>
          <p:cNvPr id="18" name="Shape 15"/>
          <p:cNvSpPr/>
          <p:nvPr/>
        </p:nvSpPr>
        <p:spPr>
          <a:xfrm>
            <a:off x="6309360" y="2743200"/>
            <a:ext cx="5120640" cy="960120"/>
          </a:xfrm>
          <a:prstGeom prst="roundRect">
            <a:avLst>
              <a:gd name="adj" fmla="val 9524"/>
            </a:avLst>
          </a:prstGeom>
          <a:solidFill>
            <a:srgbClr val="F1EEFF"/>
          </a:solidFill>
          <a:ln w="12700">
            <a:solidFill>
              <a:srgbClr val="E5E7EB">
                <a:alpha val="85000"/>
              </a:srgbClr>
            </a:solidFill>
            <a:prstDash val="solid"/>
          </a:ln>
        </p:spPr>
      </p:sp>
      <p:sp>
        <p:nvSpPr>
          <p:cNvPr id="19" name="Text 16"/>
          <p:cNvSpPr/>
          <p:nvPr/>
        </p:nvSpPr>
        <p:spPr>
          <a:xfrm>
            <a:off x="6473952" y="2889504"/>
            <a:ext cx="4791456" cy="201168"/>
          </a:xfrm>
          <a:prstGeom prst="rect">
            <a:avLst/>
          </a:prstGeom>
          <a:noFill/>
          <a:ln/>
        </p:spPr>
        <p:txBody>
          <a:bodyPr wrap="square" lIns="0" tIns="0" rIns="0" bIns="0" rtlCol="0" anchor="ctr"/>
          <a:lstStyle/>
          <a:p>
            <a:pPr indent="0" marL="0">
              <a:buNone/>
            </a:pPr>
            <a:r>
              <a:rPr lang="en-US" sz="1030" b="1" dirty="0">
                <a:solidFill>
                  <a:srgbClr val="17213F"/>
                </a:solidFill>
              </a:rPr>
              <a:t>Low adoption after training</a:t>
            </a:r>
            <a:endParaRPr lang="en-US" sz="1030" dirty="0"/>
          </a:p>
        </p:txBody>
      </p:sp>
      <p:sp>
        <p:nvSpPr>
          <p:cNvPr id="20" name="Text 17"/>
          <p:cNvSpPr/>
          <p:nvPr/>
        </p:nvSpPr>
        <p:spPr>
          <a:xfrm>
            <a:off x="6473952" y="3182112"/>
            <a:ext cx="4791456" cy="39319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Track dashboard and run follow-up learning sprints</a:t>
            </a:r>
            <a:endParaRPr lang="en-US" sz="850" dirty="0"/>
          </a:p>
        </p:txBody>
      </p:sp>
      <p:sp>
        <p:nvSpPr>
          <p:cNvPr id="21" name="Shape 18"/>
          <p:cNvSpPr/>
          <p:nvPr/>
        </p:nvSpPr>
        <p:spPr>
          <a:xfrm>
            <a:off x="731520" y="4160520"/>
            <a:ext cx="5120640" cy="960120"/>
          </a:xfrm>
          <a:prstGeom prst="roundRect">
            <a:avLst>
              <a:gd name="adj" fmla="val 9524"/>
            </a:avLst>
          </a:prstGeom>
          <a:solidFill>
            <a:srgbClr val="FFFFFF"/>
          </a:solidFill>
          <a:ln w="12700">
            <a:solidFill>
              <a:srgbClr val="E5E7EB">
                <a:alpha val="85000"/>
              </a:srgbClr>
            </a:solidFill>
            <a:prstDash val="solid"/>
          </a:ln>
        </p:spPr>
      </p:sp>
      <p:sp>
        <p:nvSpPr>
          <p:cNvPr id="22" name="Text 19"/>
          <p:cNvSpPr/>
          <p:nvPr/>
        </p:nvSpPr>
        <p:spPr>
          <a:xfrm>
            <a:off x="896112" y="4306824"/>
            <a:ext cx="4791456" cy="201168"/>
          </a:xfrm>
          <a:prstGeom prst="rect">
            <a:avLst/>
          </a:prstGeom>
          <a:noFill/>
          <a:ln/>
        </p:spPr>
        <p:txBody>
          <a:bodyPr wrap="square" lIns="0" tIns="0" rIns="0" bIns="0" rtlCol="0" anchor="ctr"/>
          <a:lstStyle/>
          <a:p>
            <a:pPr indent="0" marL="0">
              <a:buNone/>
            </a:pPr>
            <a:r>
              <a:rPr lang="en-US" sz="1030" b="1" dirty="0">
                <a:solidFill>
                  <a:srgbClr val="17213F"/>
                </a:solidFill>
              </a:rPr>
              <a:t>Global inconsistency</a:t>
            </a:r>
            <a:endParaRPr lang="en-US" sz="1030" dirty="0"/>
          </a:p>
        </p:txBody>
      </p:sp>
      <p:sp>
        <p:nvSpPr>
          <p:cNvPr id="23" name="Text 20"/>
          <p:cNvSpPr/>
          <p:nvPr/>
        </p:nvSpPr>
        <p:spPr>
          <a:xfrm>
            <a:off x="896112" y="4599432"/>
            <a:ext cx="4791456" cy="39319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Localize examples and involve regional leaders</a:t>
            </a:r>
            <a:endParaRPr lang="en-US" sz="850" dirty="0"/>
          </a:p>
        </p:txBody>
      </p:sp>
      <p:sp>
        <p:nvSpPr>
          <p:cNvPr id="24" name="Shape 21"/>
          <p:cNvSpPr/>
          <p:nvPr/>
        </p:nvSpPr>
        <p:spPr>
          <a:xfrm>
            <a:off x="6309360" y="4160520"/>
            <a:ext cx="5120640" cy="960120"/>
          </a:xfrm>
          <a:prstGeom prst="roundRect">
            <a:avLst>
              <a:gd name="adj" fmla="val 9524"/>
            </a:avLst>
          </a:prstGeom>
          <a:solidFill>
            <a:srgbClr val="F1EEFF"/>
          </a:solidFill>
          <a:ln w="12700">
            <a:solidFill>
              <a:srgbClr val="E5E7EB">
                <a:alpha val="85000"/>
              </a:srgbClr>
            </a:solidFill>
            <a:prstDash val="solid"/>
          </a:ln>
        </p:spPr>
      </p:sp>
      <p:sp>
        <p:nvSpPr>
          <p:cNvPr id="25" name="Text 22"/>
          <p:cNvSpPr/>
          <p:nvPr/>
        </p:nvSpPr>
        <p:spPr>
          <a:xfrm>
            <a:off x="6473952" y="4306824"/>
            <a:ext cx="4791456" cy="201168"/>
          </a:xfrm>
          <a:prstGeom prst="rect">
            <a:avLst/>
          </a:prstGeom>
          <a:noFill/>
          <a:ln/>
        </p:spPr>
        <p:txBody>
          <a:bodyPr wrap="square" lIns="0" tIns="0" rIns="0" bIns="0" rtlCol="0" anchor="ctr"/>
          <a:lstStyle/>
          <a:p>
            <a:pPr indent="0" marL="0">
              <a:buNone/>
            </a:pPr>
            <a:r>
              <a:rPr lang="en-US" sz="1030" b="1" dirty="0">
                <a:solidFill>
                  <a:srgbClr val="17213F"/>
                </a:solidFill>
              </a:rPr>
              <a:t>Overload</a:t>
            </a:r>
            <a:endParaRPr lang="en-US" sz="1030" dirty="0"/>
          </a:p>
        </p:txBody>
      </p:sp>
      <p:sp>
        <p:nvSpPr>
          <p:cNvPr id="26" name="Text 23"/>
          <p:cNvSpPr/>
          <p:nvPr/>
        </p:nvSpPr>
        <p:spPr>
          <a:xfrm>
            <a:off x="6473952" y="4599432"/>
            <a:ext cx="4791456" cy="393192"/>
          </a:xfrm>
          <a:prstGeom prst="rect">
            <a:avLst/>
          </a:prstGeom>
          <a:noFill/>
          <a:ln/>
        </p:spPr>
        <p:txBody>
          <a:bodyPr wrap="square" lIns="254" tIns="254" rIns="254" bIns="254" rtlCol="0" anchor="t">
            <a:normAutofit/>
          </a:bodyPr>
          <a:lstStyle/>
          <a:p>
            <a:pPr indent="0" marL="0">
              <a:buNone/>
            </a:pPr>
            <a:r>
              <a:rPr lang="en-US" sz="850" dirty="0">
                <a:solidFill>
                  <a:srgbClr val="1F2937"/>
                </a:solidFill>
              </a:rPr>
              <a:t>Prioritize critical skills and phase the rollout</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6F7FB"/>
        </a:solidFill>
      </p:bgPr>
    </p:bg>
    <p:spTree>
      <p:nvGrpSpPr>
        <p:cNvPr id="1" name=""/>
        <p:cNvGrpSpPr/>
        <p:nvPr/>
      </p:nvGrpSpPr>
      <p:grpSpPr>
        <a:xfrm>
          <a:off x="0" y="0"/>
          <a:ext cx="0" cy="0"/>
          <a:chOff x="0" y="0"/>
          <a:chExt cx="0" cy="0"/>
        </a:xfrm>
      </p:grpSpPr>
      <p:sp>
        <p:nvSpPr>
          <p:cNvPr id="2" name="Shape 0"/>
          <p:cNvSpPr/>
          <p:nvPr/>
        </p:nvSpPr>
        <p:spPr>
          <a:xfrm>
            <a:off x="0" y="0"/>
            <a:ext cx="12191695" cy="329184"/>
          </a:xfrm>
          <a:prstGeom prst="rect">
            <a:avLst/>
          </a:prstGeom>
          <a:solidFill>
            <a:srgbClr val="17213F"/>
          </a:solidFill>
          <a:ln w="12700">
            <a:solidFill>
              <a:srgbClr val="17213F"/>
            </a:solidFill>
            <a:prstDash val="solid"/>
          </a:ln>
        </p:spPr>
      </p:sp>
      <p:sp>
        <p:nvSpPr>
          <p:cNvPr id="3" name="Text 1"/>
          <p:cNvSpPr/>
          <p:nvPr/>
        </p:nvSpPr>
        <p:spPr>
          <a:xfrm>
            <a:off x="411480" y="68580"/>
            <a:ext cx="4114800" cy="164592"/>
          </a:xfrm>
          <a:prstGeom prst="rect">
            <a:avLst/>
          </a:prstGeom>
          <a:noFill/>
          <a:ln/>
        </p:spPr>
        <p:txBody>
          <a:bodyPr wrap="square" lIns="0" tIns="0" rIns="0" bIns="0" rtlCol="0" anchor="ctr"/>
          <a:lstStyle/>
          <a:p>
            <a:pPr indent="0" marL="0">
              <a:buNone/>
            </a:pPr>
            <a:r>
              <a:rPr lang="en-US" sz="750" b="1" dirty="0">
                <a:solidFill>
                  <a:srgbClr val="FFFFFF"/>
                </a:solidFill>
                <a:latin typeface="Aptos" pitchFamily="34" charset="0"/>
                <a:ea typeface="Aptos" pitchFamily="34" charset="-122"/>
                <a:cs typeface="Aptos" pitchFamily="34" charset="-120"/>
              </a:rPr>
              <a:t>CLOSING</a:t>
            </a:r>
            <a:endParaRPr lang="en-US" sz="750" dirty="0"/>
          </a:p>
        </p:txBody>
      </p:sp>
      <p:sp>
        <p:nvSpPr>
          <p:cNvPr id="4" name="Text 2"/>
          <p:cNvSpPr/>
          <p:nvPr/>
        </p:nvSpPr>
        <p:spPr>
          <a:xfrm>
            <a:off x="8778240" y="68580"/>
            <a:ext cx="3017520" cy="164592"/>
          </a:xfrm>
          <a:prstGeom prst="rect">
            <a:avLst/>
          </a:prstGeom>
          <a:noFill/>
          <a:ln/>
        </p:spPr>
        <p:txBody>
          <a:bodyPr wrap="square" lIns="0" tIns="0" rIns="0" bIns="0" rtlCol="0" anchor="ctr"/>
          <a:lstStyle/>
          <a:p>
            <a:pPr algn="r" indent="0" marL="0">
              <a:buNone/>
            </a:pPr>
            <a:r>
              <a:rPr lang="en-US" sz="750" dirty="0">
                <a:solidFill>
                  <a:srgbClr val="FFFFFF"/>
                </a:solidFill>
              </a:rPr>
              <a:t>Portfolio Training Deck</a:t>
            </a:r>
            <a:endParaRPr lang="en-US" sz="750" dirty="0"/>
          </a:p>
        </p:txBody>
      </p:sp>
      <p:sp>
        <p:nvSpPr>
          <p:cNvPr id="5" name="Shape 3"/>
          <p:cNvSpPr/>
          <p:nvPr/>
        </p:nvSpPr>
        <p:spPr>
          <a:xfrm>
            <a:off x="411480" y="6510528"/>
            <a:ext cx="11384280" cy="9144"/>
          </a:xfrm>
          <a:prstGeom prst="rect">
            <a:avLst/>
          </a:prstGeom>
          <a:solidFill>
            <a:srgbClr val="E5E7EB"/>
          </a:solidFill>
          <a:ln w="12700">
            <a:solidFill>
              <a:srgbClr val="E5E7EB"/>
            </a:solidFill>
            <a:prstDash val="solid"/>
          </a:ln>
        </p:spPr>
      </p:sp>
      <p:sp>
        <p:nvSpPr>
          <p:cNvPr id="6" name="Text 4"/>
          <p:cNvSpPr/>
          <p:nvPr/>
        </p:nvSpPr>
        <p:spPr>
          <a:xfrm>
            <a:off x="594360" y="566928"/>
            <a:ext cx="10789920" cy="384048"/>
          </a:xfrm>
          <a:prstGeom prst="rect">
            <a:avLst/>
          </a:prstGeom>
          <a:noFill/>
          <a:ln/>
        </p:spPr>
        <p:txBody>
          <a:bodyPr wrap="square" lIns="381" tIns="381" rIns="381" bIns="381" rtlCol="0" anchor="ctr">
            <a:normAutofit/>
          </a:bodyPr>
          <a:lstStyle/>
          <a:p>
            <a:pPr indent="0" marL="0">
              <a:buNone/>
            </a:pPr>
            <a:r>
              <a:rPr lang="en-US" sz="2500" b="1" dirty="0">
                <a:solidFill>
                  <a:srgbClr val="17213F"/>
                </a:solidFill>
                <a:latin typeface="Aptos Display" pitchFamily="34" charset="0"/>
                <a:ea typeface="Aptos Display" pitchFamily="34" charset="-122"/>
                <a:cs typeface="Aptos Display" pitchFamily="34" charset="-120"/>
              </a:rPr>
              <a:t>Closing: what successful change enablement looks like</a:t>
            </a:r>
            <a:endParaRPr lang="en-US" sz="2500" dirty="0"/>
          </a:p>
        </p:txBody>
      </p:sp>
      <p:sp>
        <p:nvSpPr>
          <p:cNvPr id="7" name="Text 5"/>
          <p:cNvSpPr/>
          <p:nvPr/>
        </p:nvSpPr>
        <p:spPr>
          <a:xfrm>
            <a:off x="612648" y="996696"/>
            <a:ext cx="10698480" cy="237744"/>
          </a:xfrm>
          <a:prstGeom prst="rect">
            <a:avLst/>
          </a:prstGeom>
          <a:noFill/>
          <a:ln/>
        </p:spPr>
        <p:txBody>
          <a:bodyPr wrap="square" lIns="0" tIns="0" rIns="0" bIns="0" rtlCol="0" anchor="ctr">
            <a:normAutofit/>
          </a:bodyPr>
          <a:lstStyle/>
          <a:p>
            <a:pPr indent="0" marL="0">
              <a:buNone/>
            </a:pPr>
            <a:r>
              <a:rPr lang="en-US" sz="1120" dirty="0">
                <a:solidFill>
                  <a:srgbClr val="6B7280"/>
                </a:solidFill>
              </a:rPr>
              <a:t>Strategic change becomes real through daily behavior</a:t>
            </a:r>
            <a:endParaRPr lang="en-US" sz="1120" dirty="0"/>
          </a:p>
        </p:txBody>
      </p:sp>
      <p:sp>
        <p:nvSpPr>
          <p:cNvPr id="9" name="Shape 6"/>
          <p:cNvSpPr/>
          <p:nvPr/>
        </p:nvSpPr>
        <p:spPr>
          <a:xfrm>
            <a:off x="960120" y="1417320"/>
            <a:ext cx="10149840" cy="3154680"/>
          </a:xfrm>
          <a:prstGeom prst="roundRect">
            <a:avLst>
              <a:gd name="adj" fmla="val 3478"/>
            </a:avLst>
          </a:prstGeom>
          <a:solidFill>
            <a:srgbClr val="FFFFFF"/>
          </a:solidFill>
          <a:ln w="12700">
            <a:solidFill>
              <a:srgbClr val="E5E7EB"/>
            </a:solidFill>
            <a:prstDash val="solid"/>
          </a:ln>
        </p:spPr>
      </p:sp>
      <p:sp>
        <p:nvSpPr>
          <p:cNvPr id="10" name="Shape 7"/>
          <p:cNvSpPr/>
          <p:nvPr/>
        </p:nvSpPr>
        <p:spPr>
          <a:xfrm>
            <a:off x="960120" y="1417320"/>
            <a:ext cx="91440" cy="3154680"/>
          </a:xfrm>
          <a:prstGeom prst="rect">
            <a:avLst/>
          </a:prstGeom>
          <a:solidFill>
            <a:srgbClr val="A69BE8"/>
          </a:solidFill>
          <a:ln w="12700">
            <a:solidFill>
              <a:srgbClr val="A69BE8"/>
            </a:solidFill>
            <a:prstDash val="solid"/>
          </a:ln>
        </p:spPr>
      </p:sp>
      <p:sp>
        <p:nvSpPr>
          <p:cNvPr id="11" name="Text 8"/>
          <p:cNvSpPr/>
          <p:nvPr/>
        </p:nvSpPr>
        <p:spPr>
          <a:xfrm>
            <a:off x="1188720" y="1581912"/>
            <a:ext cx="9738360" cy="228600"/>
          </a:xfrm>
          <a:prstGeom prst="rect">
            <a:avLst/>
          </a:prstGeom>
          <a:noFill/>
          <a:ln/>
        </p:spPr>
        <p:txBody>
          <a:bodyPr wrap="square" lIns="0" tIns="0" rIns="0" bIns="0" rtlCol="0" anchor="ctr"/>
          <a:lstStyle/>
          <a:p>
            <a:pPr indent="0" marL="0">
              <a:buNone/>
            </a:pPr>
            <a:r>
              <a:rPr lang="en-US" sz="1100" b="1" dirty="0">
                <a:solidFill>
                  <a:srgbClr val="17213F"/>
                </a:solidFill>
              </a:rPr>
              <a:t>Manager and employee takeaways</a:t>
            </a:r>
            <a:endParaRPr lang="en-US" sz="1100" dirty="0"/>
          </a:p>
        </p:txBody>
      </p:sp>
      <p:sp>
        <p:nvSpPr>
          <p:cNvPr id="12" name="Text 9"/>
          <p:cNvSpPr/>
          <p:nvPr/>
        </p:nvSpPr>
        <p:spPr>
          <a:xfrm>
            <a:off x="1216152" y="1929384"/>
            <a:ext cx="9674352" cy="2514600"/>
          </a:xfrm>
          <a:prstGeom prst="rect">
            <a:avLst/>
          </a:prstGeom>
          <a:noFill/>
          <a:ln/>
        </p:spPr>
        <p:txBody>
          <a:bodyPr wrap="square" lIns="254" tIns="254" rIns="254" bIns="254" rtlCol="0" anchor="ctr">
            <a:normAutofit/>
          </a:bodyPr>
          <a:lstStyle/>
          <a:p>
            <a:pPr indent="0" marL="0">
              <a:buNone/>
            </a:pPr>
            <a:r>
              <a:rPr lang="en-US" sz="870" dirty="0">
                <a:solidFill>
                  <a:srgbClr val="1F2937"/>
                </a:solidFill>
              </a:rPr>
              <a:t>• Understand the reason for change before asking people to adopt it</a:t>
            </a:r>
            <a:endParaRPr lang="en-US" sz="870" dirty="0"/>
          </a:p>
          <a:p>
            <a:pPr indent="0" marL="0">
              <a:buNone/>
            </a:pPr>
            <a:r>
              <a:rPr lang="en-US" sz="870" dirty="0">
                <a:solidFill>
                  <a:srgbClr val="1F2937"/>
                </a:solidFill>
              </a:rPr>
              <a:t>• Translate strategy into role-level expectations</a:t>
            </a:r>
            <a:endParaRPr lang="en-US" sz="870" dirty="0"/>
          </a:p>
          <a:p>
            <a:pPr indent="0" marL="0">
              <a:buNone/>
            </a:pPr>
            <a:r>
              <a:rPr lang="en-US" sz="870" dirty="0">
                <a:solidFill>
                  <a:srgbClr val="1F2937"/>
                </a:solidFill>
              </a:rPr>
              <a:t>• Build the capabilities required for the new model</a:t>
            </a:r>
            <a:endParaRPr lang="en-US" sz="870" dirty="0"/>
          </a:p>
          <a:p>
            <a:pPr indent="0" marL="0">
              <a:buNone/>
            </a:pPr>
            <a:r>
              <a:rPr lang="en-US" sz="870" dirty="0">
                <a:solidFill>
                  <a:srgbClr val="1F2937"/>
                </a:solidFill>
              </a:rPr>
              <a:t>• Equip managers to communicate and support adoption</a:t>
            </a:r>
            <a:endParaRPr lang="en-US" sz="870" dirty="0"/>
          </a:p>
          <a:p>
            <a:pPr indent="0" marL="0">
              <a:buNone/>
            </a:pPr>
            <a:r>
              <a:rPr lang="en-US" sz="870" dirty="0">
                <a:solidFill>
                  <a:srgbClr val="1F2937"/>
                </a:solidFill>
              </a:rPr>
              <a:t>• Measure readiness, confidence, and behavior change</a:t>
            </a:r>
            <a:endParaRPr lang="en-US" sz="870" dirty="0"/>
          </a:p>
          <a:p>
            <a:pPr indent="0" marL="0">
              <a:buNone/>
            </a:pPr>
            <a:r>
              <a:rPr lang="en-US" sz="870" dirty="0">
                <a:solidFill>
                  <a:srgbClr val="1F2937"/>
                </a:solidFill>
              </a:rPr>
              <a:t>• Use feedback to continuously improve the rollout</a:t>
            </a:r>
            <a:endParaRPr lang="en-US" sz="870" dirty="0"/>
          </a:p>
        </p:txBody>
      </p:sp>
      <p:sp>
        <p:nvSpPr>
          <p:cNvPr id="13" name="Text 10"/>
          <p:cNvSpPr/>
          <p:nvPr/>
        </p:nvSpPr>
        <p:spPr>
          <a:xfrm>
            <a:off x="1097280" y="5074920"/>
            <a:ext cx="9966960" cy="502920"/>
          </a:xfrm>
          <a:prstGeom prst="rect">
            <a:avLst/>
          </a:prstGeom>
          <a:noFill/>
          <a:ln/>
        </p:spPr>
        <p:txBody>
          <a:bodyPr wrap="square" lIns="254" tIns="254" rIns="254" bIns="254" rtlCol="0" anchor="ctr">
            <a:normAutofit/>
          </a:bodyPr>
          <a:lstStyle/>
          <a:p>
            <a:pPr algn="ctr" indent="0" marL="0">
              <a:buNone/>
            </a:pPr>
            <a:r>
              <a:rPr lang="en-US" sz="1600" b="1" dirty="0">
                <a:solidFill>
                  <a:srgbClr val="17213F"/>
                </a:solidFill>
              </a:rPr>
              <a:t>Strategic change succeeds when people understand it, can explain it, can practice it, and can measure progress.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Portfolio Project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Change Readiness &amp; Learning Enablement Training Deck</dc:title>
  <dc:subject>Change Readiness &amp; Learning Enablement Program</dc:subject>
  <dc:creator>OpenAI</dc:creator>
  <cp:lastModifiedBy>OpenAI</cp:lastModifiedBy>
  <cp:revision>1</cp:revision>
  <dcterms:created xsi:type="dcterms:W3CDTF">2026-04-29T13:20:35Z</dcterms:created>
  <dcterms:modified xsi:type="dcterms:W3CDTF">2026-04-29T13:20:35Z</dcterms:modified>
</cp:coreProperties>
</file>