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and explain that this training focuses on practical conflict management in global teams. The goal is not to avoid every disagreement, but to help teams manage conflict early, respectfully, and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global collaboration creates huge value, but also creates friction. Many conflicts are not personal; they are caused by different assumptions and working norms.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participants to share examples. Emphasize that conflict usually has a system or context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goals to the practical outputs participants will leave with: a conflict map, communication guide, CLEAR framework, mediation checklist, simulations and team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program moves from awareness to practice, then to team-level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healthy conflict can help teams clarify roles, improve decisions, and strengthen trust when handled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5–7 minutes. Discuss how the same situation can include more than one conflict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map as a diagnostic tool. Managers can use it before trying to solve the conflict. Ask: what is the source of the conflict, and what is only a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stereotypes. Present these as patterns that require curiosity, not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participants toward shared norms: clarify intent, summarize decisions, ask open questions, and avoid assuming negative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compare the two messages. Discuss how tone affects collaboration and how clarity can coexist with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should be used before sending sensitive feedback, urgent requests, or cross-team escalations.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conflict conversations need structure. Without structure, people defend positions instead of solving the real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framework turns blame into shared problem-solving.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Managers should not rush to solve the conflict before understanding the full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simulations help managers and employees practice before conflicts happen in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participants to avoid blaming either side. Focus on norms, assumptions and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discussion for Simulation 1. Push participants toward practical norms and clear follow-up actions rather than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global work can unintentionally place the burden on one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discussion for Simulation 2. Push participants toward practical norms and clear follow-up actions rather than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about choosing innovation or regulation. It is about integrating both into a decision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discussion for Simulation 3. Push participants toward practical norms and clear follow-up actions rather than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misalignment creates invisible conflict because teams may believe they communicated when the other side never saw the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discussion for Simulation 4. Push participants toward practical norms and clear follow-up actions rather than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agreements reduce conflict because they make expectations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identify one agreement their team needs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conflict management should be measured through behavior, not just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sample metrics can be collected through surveys, manager reports and collaboration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manager’s role as a facilitator of clarity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participants to choose one tool they will use this week: CLEAR framework, mediation checklist, or team working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3F"/>
        </a:solidFill>
      </p:bgPr>
    </p:bg>
    <p:spTree>
      <p:nvGrpSpPr>
        <p:cNvPr id="1" name=""/>
        <p:cNvGrpSpPr/>
        <p:nvPr/>
      </p:nvGrpSpPr>
      <p:grpSpPr>
        <a:xfrm>
          <a:off x="0" y="0"/>
          <a:ext cx="0" cy="0"/>
          <a:chOff x="0" y="0"/>
          <a:chExt cx="0" cy="0"/>
        </a:xfrm>
      </p:grpSpPr>
      <p:sp>
        <p:nvSpPr>
          <p:cNvPr id="2" name="Text 0"/>
          <p:cNvSpPr/>
          <p:nvPr/>
        </p:nvSpPr>
        <p:spPr>
          <a:xfrm>
            <a:off x="594360" y="594360"/>
            <a:ext cx="10789920" cy="320040"/>
          </a:xfrm>
          <a:prstGeom prst="rect">
            <a:avLst/>
          </a:prstGeom>
          <a:noFill/>
          <a:ln/>
        </p:spPr>
        <p:txBody>
          <a:bodyPr wrap="square" lIns="0" tIns="0" rIns="0" bIns="0" rtlCol="0" anchor="ctr"/>
          <a:lstStyle/>
          <a:p>
            <a:pPr indent="0" marL="0">
              <a:buNone/>
            </a:pPr>
            <a:r>
              <a:rPr lang="en-US" sz="1300" b="1" dirty="0">
                <a:solidFill>
                  <a:srgbClr val="DDEBFF"/>
                </a:solidFill>
              </a:rPr>
              <a:t>Global Conflict Management Enablement Program</a:t>
            </a:r>
            <a:endParaRPr lang="en-US" sz="1300" dirty="0"/>
          </a:p>
        </p:txBody>
      </p:sp>
      <p:sp>
        <p:nvSpPr>
          <p:cNvPr id="3" name="Text 1"/>
          <p:cNvSpPr/>
          <p:nvPr/>
        </p:nvSpPr>
        <p:spPr>
          <a:xfrm>
            <a:off x="594360" y="1417320"/>
            <a:ext cx="9966960" cy="114300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Global Conflict Management Training</a:t>
            </a:r>
            <a:endParaRPr lang="en-US" sz="3400" dirty="0"/>
          </a:p>
        </p:txBody>
      </p:sp>
      <p:sp>
        <p:nvSpPr>
          <p:cNvPr id="4" name="Text 2"/>
          <p:cNvSpPr/>
          <p:nvPr/>
        </p:nvSpPr>
        <p:spPr>
          <a:xfrm>
            <a:off x="594360" y="2834640"/>
            <a:ext cx="9418320" cy="502920"/>
          </a:xfrm>
          <a:prstGeom prst="rect">
            <a:avLst/>
          </a:prstGeom>
          <a:noFill/>
          <a:ln/>
        </p:spPr>
        <p:txBody>
          <a:bodyPr wrap="square" lIns="0" tIns="0" rIns="0" bIns="0" rtlCol="0" anchor="ctr"/>
          <a:lstStyle/>
          <a:p>
            <a:pPr indent="0" marL="0">
              <a:buNone/>
            </a:pPr>
            <a:r>
              <a:rPr lang="en-US" sz="1700" dirty="0">
                <a:solidFill>
                  <a:srgbClr val="F1EEFF"/>
                </a:solidFill>
              </a:rPr>
              <a:t>Helping global teams prevent, manage, and resolve cross-cultural workplace conflicts.</a:t>
            </a:r>
            <a:endParaRPr lang="en-US" sz="1700" dirty="0"/>
          </a:p>
        </p:txBody>
      </p:sp>
      <p:sp>
        <p:nvSpPr>
          <p:cNvPr id="5" name="Text 3"/>
          <p:cNvSpPr/>
          <p:nvPr/>
        </p:nvSpPr>
        <p:spPr>
          <a:xfrm>
            <a:off x="594360" y="5989320"/>
            <a:ext cx="7772400" cy="320040"/>
          </a:xfrm>
          <a:prstGeom prst="rect">
            <a:avLst/>
          </a:prstGeom>
          <a:noFill/>
          <a:ln/>
        </p:spPr>
        <p:txBody>
          <a:bodyPr wrap="square" lIns="0" tIns="0" rIns="0" bIns="0" rtlCol="0" anchor="ctr"/>
          <a:lstStyle/>
          <a:p>
            <a:pPr indent="0" marL="0">
              <a:buNone/>
            </a:pPr>
            <a:r>
              <a:rPr lang="en-US" sz="1100" dirty="0">
                <a:solidFill>
                  <a:srgbClr val="FFFFFF"/>
                </a:solidFill>
              </a:rPr>
              <a:t>Facilitator Deck | L&amp;D + Manager Enablement Portfolio Project</a:t>
            </a:r>
            <a:endParaRPr lang="en-US" sz="1100" dirty="0"/>
          </a:p>
        </p:txBody>
      </p:sp>
      <p:sp>
        <p:nvSpPr>
          <p:cNvPr id="6" name="Text 4"/>
          <p:cNvSpPr/>
          <p:nvPr/>
        </p:nvSpPr>
        <p:spPr>
          <a:xfrm>
            <a:off x="10424160" y="5120640"/>
            <a:ext cx="1097280" cy="731520"/>
          </a:xfrm>
          <a:prstGeom prst="rect">
            <a:avLst/>
          </a:prstGeom>
          <a:noFill/>
          <a:ln/>
        </p:spPr>
        <p:txBody>
          <a:bodyPr wrap="square" lIns="0" tIns="0" rIns="0" bIns="0" rtlCol="0" anchor="ctr"/>
          <a:lstStyle/>
          <a:p>
            <a:pPr algn="r" indent="0" marL="0">
              <a:buNone/>
            </a:pPr>
            <a:r>
              <a:rPr lang="en-US" sz="3400" b="1" dirty="0">
                <a:solidFill>
                  <a:srgbClr val="A69BE8"/>
                </a:solidFill>
              </a:rPr>
              <a:t>01</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Organizational Context</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a:t>
            </a:r>
            <a:endParaRPr lang="en-US" sz="750" dirty="0"/>
          </a:p>
        </p:txBody>
      </p:sp>
      <p:sp>
        <p:nvSpPr>
          <p:cNvPr id="6" name="Text 4"/>
          <p:cNvSpPr/>
          <p:nvPr/>
        </p:nvSpPr>
        <p:spPr>
          <a:xfrm>
            <a:off x="777240" y="1325880"/>
            <a:ext cx="6400800" cy="420624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Global teams collaborate across cultures, regions and time zones.</a:t>
            </a:r>
            <a:endParaRPr lang="en-US" sz="1500" dirty="0"/>
          </a:p>
          <a:p>
            <a:r>
              <a:rPr lang="en-US" sz="1500" dirty="0">
                <a:solidFill>
                  <a:srgbClr val="1F2937"/>
                </a:solidFill>
                <a:latin typeface="Aptos" pitchFamily="34" charset="0"/>
                <a:ea typeface="Aptos" pitchFamily="34" charset="-122"/>
                <a:cs typeface="Aptos" pitchFamily="34" charset="-120"/>
              </a:rPr>
              <a:t>Different communication norms can turn small misunderstandings into conflict.</a:t>
            </a:r>
            <a:endParaRPr lang="en-US" sz="1500" dirty="0"/>
          </a:p>
          <a:p>
            <a:r>
              <a:rPr lang="en-US" sz="1500" dirty="0">
                <a:solidFill>
                  <a:srgbClr val="1F2937"/>
                </a:solidFill>
                <a:latin typeface="Aptos" pitchFamily="34" charset="0"/>
                <a:ea typeface="Aptos" pitchFamily="34" charset="-122"/>
                <a:cs typeface="Aptos" pitchFamily="34" charset="-120"/>
              </a:rPr>
              <a:t>Distributed work requires stronger expectations around tools, ownership and response times.</a:t>
            </a:r>
            <a:endParaRPr lang="en-US" sz="1500" dirty="0"/>
          </a:p>
          <a:p>
            <a:r>
              <a:rPr lang="en-US" sz="1500" dirty="0">
                <a:solidFill>
                  <a:srgbClr val="1F2937"/>
                </a:solidFill>
                <a:latin typeface="Aptos" pitchFamily="34" charset="0"/>
                <a:ea typeface="Aptos" pitchFamily="34" charset="-122"/>
                <a:cs typeface="Aptos" pitchFamily="34" charset="-120"/>
              </a:rPr>
              <a:t>Managers need practical tools to identify and resolve conflict before it escalates.</a:t>
            </a:r>
            <a:endParaRPr lang="en-US" sz="1500" dirty="0"/>
          </a:p>
        </p:txBody>
      </p:sp>
      <p:sp>
        <p:nvSpPr>
          <p:cNvPr id="7" name="Text 5"/>
          <p:cNvSpPr/>
          <p:nvPr/>
        </p:nvSpPr>
        <p:spPr>
          <a:xfrm>
            <a:off x="7635240" y="1325880"/>
            <a:ext cx="365760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Focus</a:t>
            </a:r>
            <a:endParaRPr lang="en-US" sz="1350" dirty="0"/>
          </a:p>
        </p:txBody>
      </p:sp>
      <p:sp>
        <p:nvSpPr>
          <p:cNvPr id="8" name="Shape 6"/>
          <p:cNvSpPr/>
          <p:nvPr/>
        </p:nvSpPr>
        <p:spPr>
          <a:xfrm>
            <a:off x="7726680" y="1709928"/>
            <a:ext cx="3474720" cy="0"/>
          </a:xfrm>
          <a:prstGeom prst="line">
            <a:avLst/>
          </a:prstGeom>
          <a:noFill/>
          <a:ln w="25400">
            <a:solidFill>
              <a:srgbClr val="A69BE8"/>
            </a:solidFill>
            <a:prstDash val="solid"/>
          </a:ln>
        </p:spPr>
      </p:sp>
      <p:sp>
        <p:nvSpPr>
          <p:cNvPr id="9" name="Text 7"/>
          <p:cNvSpPr/>
          <p:nvPr/>
        </p:nvSpPr>
        <p:spPr>
          <a:xfrm>
            <a:off x="7680960" y="1801368"/>
            <a:ext cx="3566160" cy="129844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Connect the slide to the participants’ daily work and ask for one concrete example.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Why Conflict Happens in Global Teams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3</a:t>
            </a:r>
            <a:endParaRPr lang="en-US" sz="750" dirty="0"/>
          </a:p>
        </p:txBody>
      </p:sp>
      <p:sp>
        <p:nvSpPr>
          <p:cNvPr id="6" name="Text 4"/>
          <p:cNvSpPr/>
          <p:nvPr/>
        </p:nvSpPr>
        <p:spPr>
          <a:xfrm>
            <a:off x="777240" y="1325880"/>
            <a:ext cx="6400800" cy="301752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Direct vs. indirect communication</a:t>
            </a:r>
            <a:endParaRPr lang="en-US" sz="1500" dirty="0"/>
          </a:p>
          <a:p>
            <a:r>
              <a:rPr lang="en-US" sz="1500" dirty="0">
                <a:solidFill>
                  <a:srgbClr val="1F2937"/>
                </a:solidFill>
                <a:latin typeface="Aptos" pitchFamily="34" charset="0"/>
                <a:ea typeface="Aptos" pitchFamily="34" charset="-122"/>
                <a:cs typeface="Aptos" pitchFamily="34" charset="-120"/>
              </a:rPr>
              <a:t>Different feedback norms</a:t>
            </a:r>
            <a:endParaRPr lang="en-US" sz="1500" dirty="0"/>
          </a:p>
          <a:p>
            <a:r>
              <a:rPr lang="en-US" sz="1500" dirty="0">
                <a:solidFill>
                  <a:srgbClr val="1F2937"/>
                </a:solidFill>
                <a:latin typeface="Aptos" pitchFamily="34" charset="0"/>
                <a:ea typeface="Aptos" pitchFamily="34" charset="-122"/>
                <a:cs typeface="Aptos" pitchFamily="34" charset="-120"/>
              </a:rPr>
              <a:t>Time-zone delays and meeting fatigue</a:t>
            </a:r>
            <a:endParaRPr lang="en-US" sz="1500" dirty="0"/>
          </a:p>
          <a:p>
            <a:r>
              <a:rPr lang="en-US" sz="1500" dirty="0">
                <a:solidFill>
                  <a:srgbClr val="1F2937"/>
                </a:solidFill>
                <a:latin typeface="Aptos" pitchFamily="34" charset="0"/>
                <a:ea typeface="Aptos" pitchFamily="34" charset="-122"/>
                <a:cs typeface="Aptos" pitchFamily="34" charset="-120"/>
              </a:rPr>
              <a:t>Unclear ownership and decision rights</a:t>
            </a:r>
            <a:endParaRPr lang="en-US" sz="1500" dirty="0"/>
          </a:p>
          <a:p>
            <a:r>
              <a:rPr lang="en-US" sz="1500" dirty="0">
                <a:solidFill>
                  <a:srgbClr val="1F2937"/>
                </a:solidFill>
                <a:latin typeface="Aptos" pitchFamily="34" charset="0"/>
                <a:ea typeface="Aptos" pitchFamily="34" charset="-122"/>
                <a:cs typeface="Aptos" pitchFamily="34" charset="-120"/>
              </a:rPr>
              <a:t>Tool misalignment and lost context</a:t>
            </a:r>
            <a:endParaRPr lang="en-US" sz="1500" dirty="0"/>
          </a:p>
          <a:p>
            <a:r>
              <a:rPr lang="en-US" sz="1500" dirty="0">
                <a:solidFill>
                  <a:srgbClr val="1F2937"/>
                </a:solidFill>
                <a:latin typeface="Aptos" pitchFamily="34" charset="0"/>
                <a:ea typeface="Aptos" pitchFamily="34" charset="-122"/>
                <a:cs typeface="Aptos" pitchFamily="34" charset="-120"/>
              </a:rPr>
              <a:t>Competing cross-functional priorities</a:t>
            </a:r>
            <a:endParaRPr lang="en-US" sz="1500" dirty="0"/>
          </a:p>
        </p:txBody>
      </p:sp>
      <p:sp>
        <p:nvSpPr>
          <p:cNvPr id="7" name="Text 5"/>
          <p:cNvSpPr/>
          <p:nvPr/>
        </p:nvSpPr>
        <p:spPr>
          <a:xfrm>
            <a:off x="7635240" y="1325880"/>
            <a:ext cx="36576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Discussion Question</a:t>
            </a:r>
            <a:endParaRPr lang="en-US" sz="1350" dirty="0"/>
          </a:p>
        </p:txBody>
      </p:sp>
      <p:sp>
        <p:nvSpPr>
          <p:cNvPr id="8" name="Shape 6"/>
          <p:cNvSpPr/>
          <p:nvPr/>
        </p:nvSpPr>
        <p:spPr>
          <a:xfrm>
            <a:off x="7726680" y="1709928"/>
            <a:ext cx="3474720" cy="0"/>
          </a:xfrm>
          <a:prstGeom prst="line">
            <a:avLst/>
          </a:prstGeom>
          <a:noFill/>
          <a:ln w="25400">
            <a:solidFill>
              <a:srgbClr val="A69BE8"/>
            </a:solidFill>
            <a:prstDash val="solid"/>
          </a:ln>
        </p:spPr>
      </p:sp>
      <p:sp>
        <p:nvSpPr>
          <p:cNvPr id="9" name="Text 7"/>
          <p:cNvSpPr/>
          <p:nvPr/>
        </p:nvSpPr>
        <p:spPr>
          <a:xfrm>
            <a:off x="7680960" y="1801368"/>
            <a:ext cx="3566160" cy="129844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Which of these causes appears most often in global teams you know?</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Training Goals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4</a:t>
            </a:r>
            <a:endParaRPr lang="en-US" sz="750" dirty="0"/>
          </a:p>
        </p:txBody>
      </p:sp>
      <p:sp>
        <p:nvSpPr>
          <p:cNvPr id="6" name="Text 4"/>
          <p:cNvSpPr/>
          <p:nvPr/>
        </p:nvSpPr>
        <p:spPr>
          <a:xfrm>
            <a:off x="777240" y="1325880"/>
            <a:ext cx="6400800" cy="420624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Identify common conflict sources in global teams.</a:t>
            </a:r>
            <a:endParaRPr lang="en-US" sz="1500" dirty="0"/>
          </a:p>
          <a:p>
            <a:r>
              <a:rPr lang="en-US" sz="1500" dirty="0">
                <a:solidFill>
                  <a:srgbClr val="1F2937"/>
                </a:solidFill>
                <a:latin typeface="Aptos" pitchFamily="34" charset="0"/>
                <a:ea typeface="Aptos" pitchFamily="34" charset="-122"/>
                <a:cs typeface="Aptos" pitchFamily="34" charset="-120"/>
              </a:rPr>
              <a:t>Recognize cultural communication differences.</a:t>
            </a:r>
            <a:endParaRPr lang="en-US" sz="1500" dirty="0"/>
          </a:p>
          <a:p>
            <a:r>
              <a:rPr lang="en-US" sz="1500" dirty="0">
                <a:solidFill>
                  <a:srgbClr val="1F2937"/>
                </a:solidFill>
                <a:latin typeface="Aptos" pitchFamily="34" charset="0"/>
                <a:ea typeface="Aptos" pitchFamily="34" charset="-122"/>
                <a:cs typeface="Aptos" pitchFamily="34" charset="-120"/>
              </a:rPr>
              <a:t>Use a structured conversation framework.</a:t>
            </a:r>
            <a:endParaRPr lang="en-US" sz="1500" dirty="0"/>
          </a:p>
          <a:p>
            <a:r>
              <a:rPr lang="en-US" sz="1500" dirty="0">
                <a:solidFill>
                  <a:srgbClr val="1F2937"/>
                </a:solidFill>
                <a:latin typeface="Aptos" pitchFamily="34" charset="0"/>
                <a:ea typeface="Aptos" pitchFamily="34" charset="-122"/>
                <a:cs typeface="Aptos" pitchFamily="34" charset="-120"/>
              </a:rPr>
              <a:t>Apply mediation tools in team conflicts.</a:t>
            </a:r>
            <a:endParaRPr lang="en-US" sz="1500" dirty="0"/>
          </a:p>
          <a:p>
            <a:r>
              <a:rPr lang="en-US" sz="1500" dirty="0">
                <a:solidFill>
                  <a:srgbClr val="1F2937"/>
                </a:solidFill>
                <a:latin typeface="Aptos" pitchFamily="34" charset="0"/>
                <a:ea typeface="Aptos" pitchFamily="34" charset="-122"/>
                <a:cs typeface="Aptos" pitchFamily="34" charset="-120"/>
              </a:rPr>
              <a:t>Create team working agreements.</a:t>
            </a:r>
            <a:endParaRPr lang="en-US" sz="1500" dirty="0"/>
          </a:p>
          <a:p>
            <a:r>
              <a:rPr lang="en-US" sz="1500" dirty="0">
                <a:solidFill>
                  <a:srgbClr val="1F2937"/>
                </a:solidFill>
                <a:latin typeface="Aptos" pitchFamily="34" charset="0"/>
                <a:ea typeface="Aptos" pitchFamily="34" charset="-122"/>
                <a:cs typeface="Aptos" pitchFamily="34" charset="-120"/>
              </a:rPr>
              <a:t>Measure and improve collaboration practices.</a:t>
            </a:r>
            <a:endParaRPr lang="en-US" sz="1500" dirty="0"/>
          </a:p>
        </p:txBody>
      </p:sp>
      <p:sp>
        <p:nvSpPr>
          <p:cNvPr id="7" name="Text 5"/>
          <p:cNvSpPr/>
          <p:nvPr/>
        </p:nvSpPr>
        <p:spPr>
          <a:xfrm>
            <a:off x="7635240" y="1325880"/>
            <a:ext cx="365760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Focus</a:t>
            </a:r>
            <a:endParaRPr lang="en-US" sz="1350" dirty="0"/>
          </a:p>
        </p:txBody>
      </p:sp>
      <p:sp>
        <p:nvSpPr>
          <p:cNvPr id="8" name="Shape 6"/>
          <p:cNvSpPr/>
          <p:nvPr/>
        </p:nvSpPr>
        <p:spPr>
          <a:xfrm>
            <a:off x="7726680" y="1709928"/>
            <a:ext cx="3474720" cy="0"/>
          </a:xfrm>
          <a:prstGeom prst="line">
            <a:avLst/>
          </a:prstGeom>
          <a:noFill/>
          <a:ln w="25400">
            <a:solidFill>
              <a:srgbClr val="A69BE8"/>
            </a:solidFill>
            <a:prstDash val="solid"/>
          </a:ln>
        </p:spPr>
      </p:sp>
      <p:sp>
        <p:nvSpPr>
          <p:cNvPr id="9" name="Text 7"/>
          <p:cNvSpPr/>
          <p:nvPr/>
        </p:nvSpPr>
        <p:spPr>
          <a:xfrm>
            <a:off x="7680960" y="1801368"/>
            <a:ext cx="3566160" cy="129844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Connect the slide to the participants’ daily work and ask for one concrete example.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Program Structure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5</a:t>
            </a:r>
            <a:endParaRPr lang="en-US" sz="750" dirty="0"/>
          </a:p>
        </p:txBody>
      </p:sp>
      <p:sp>
        <p:nvSpPr>
          <p:cNvPr id="6" name="Text 4"/>
          <p:cNvSpPr/>
          <p:nvPr/>
        </p:nvSpPr>
        <p:spPr>
          <a:xfrm>
            <a:off x="685800" y="2011680"/>
            <a:ext cx="205740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01</a:t>
            </a:r>
            <a:endParaRPr lang="en-US" sz="1350" dirty="0"/>
          </a:p>
        </p:txBody>
      </p:sp>
      <p:sp>
        <p:nvSpPr>
          <p:cNvPr id="7" name="Shape 5"/>
          <p:cNvSpPr/>
          <p:nvPr/>
        </p:nvSpPr>
        <p:spPr>
          <a:xfrm>
            <a:off x="777240" y="2395728"/>
            <a:ext cx="1874520" cy="0"/>
          </a:xfrm>
          <a:prstGeom prst="line">
            <a:avLst/>
          </a:prstGeom>
          <a:noFill/>
          <a:ln w="25400">
            <a:solidFill>
              <a:srgbClr val="DDEBFF"/>
            </a:solidFill>
            <a:prstDash val="solid"/>
          </a:ln>
        </p:spPr>
      </p:sp>
      <p:sp>
        <p:nvSpPr>
          <p:cNvPr id="8" name="Text 6"/>
          <p:cNvSpPr/>
          <p:nvPr/>
        </p:nvSpPr>
        <p:spPr>
          <a:xfrm>
            <a:off x="731520" y="2487168"/>
            <a:ext cx="1965960" cy="93268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Session 1</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Understanding Conflict</a:t>
            </a:r>
            <a:endParaRPr lang="en-US" sz="1050" dirty="0"/>
          </a:p>
        </p:txBody>
      </p:sp>
      <p:sp>
        <p:nvSpPr>
          <p:cNvPr id="9" name="Text 7"/>
          <p:cNvSpPr/>
          <p:nvPr/>
        </p:nvSpPr>
        <p:spPr>
          <a:xfrm>
            <a:off x="2926080" y="2011680"/>
            <a:ext cx="20574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02</a:t>
            </a:r>
            <a:endParaRPr lang="en-US" sz="1350" dirty="0"/>
          </a:p>
        </p:txBody>
      </p:sp>
      <p:sp>
        <p:nvSpPr>
          <p:cNvPr id="10" name="Shape 8"/>
          <p:cNvSpPr/>
          <p:nvPr/>
        </p:nvSpPr>
        <p:spPr>
          <a:xfrm>
            <a:off x="3017520" y="2395728"/>
            <a:ext cx="1874520" cy="0"/>
          </a:xfrm>
          <a:prstGeom prst="line">
            <a:avLst/>
          </a:prstGeom>
          <a:noFill/>
          <a:ln w="25400">
            <a:solidFill>
              <a:srgbClr val="A69BE8"/>
            </a:solidFill>
            <a:prstDash val="solid"/>
          </a:ln>
        </p:spPr>
      </p:sp>
      <p:sp>
        <p:nvSpPr>
          <p:cNvPr id="11" name="Text 9"/>
          <p:cNvSpPr/>
          <p:nvPr/>
        </p:nvSpPr>
        <p:spPr>
          <a:xfrm>
            <a:off x="2971800" y="2487168"/>
            <a:ext cx="1965960" cy="93268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Session 2</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Cross-Cultural Communication</a:t>
            </a:r>
            <a:endParaRPr lang="en-US" sz="1050" dirty="0"/>
          </a:p>
        </p:txBody>
      </p:sp>
      <p:sp>
        <p:nvSpPr>
          <p:cNvPr id="12" name="Text 10"/>
          <p:cNvSpPr/>
          <p:nvPr/>
        </p:nvSpPr>
        <p:spPr>
          <a:xfrm>
            <a:off x="5166360" y="2011680"/>
            <a:ext cx="205740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03</a:t>
            </a:r>
            <a:endParaRPr lang="en-US" sz="1350" dirty="0"/>
          </a:p>
        </p:txBody>
      </p:sp>
      <p:sp>
        <p:nvSpPr>
          <p:cNvPr id="13" name="Shape 11"/>
          <p:cNvSpPr/>
          <p:nvPr/>
        </p:nvSpPr>
        <p:spPr>
          <a:xfrm>
            <a:off x="5257800" y="2395728"/>
            <a:ext cx="1874520" cy="0"/>
          </a:xfrm>
          <a:prstGeom prst="line">
            <a:avLst/>
          </a:prstGeom>
          <a:noFill/>
          <a:ln w="25400">
            <a:solidFill>
              <a:srgbClr val="DDEBFF"/>
            </a:solidFill>
            <a:prstDash val="solid"/>
          </a:ln>
        </p:spPr>
      </p:sp>
      <p:sp>
        <p:nvSpPr>
          <p:cNvPr id="14" name="Text 12"/>
          <p:cNvSpPr/>
          <p:nvPr/>
        </p:nvSpPr>
        <p:spPr>
          <a:xfrm>
            <a:off x="5212080" y="2487168"/>
            <a:ext cx="1965960" cy="93268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Session 3</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Conflict Conversations</a:t>
            </a:r>
            <a:endParaRPr lang="en-US" sz="1050" dirty="0"/>
          </a:p>
        </p:txBody>
      </p:sp>
      <p:sp>
        <p:nvSpPr>
          <p:cNvPr id="15" name="Text 13"/>
          <p:cNvSpPr/>
          <p:nvPr/>
        </p:nvSpPr>
        <p:spPr>
          <a:xfrm>
            <a:off x="7406640" y="2011680"/>
            <a:ext cx="20574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04</a:t>
            </a:r>
            <a:endParaRPr lang="en-US" sz="1350" dirty="0"/>
          </a:p>
        </p:txBody>
      </p:sp>
      <p:sp>
        <p:nvSpPr>
          <p:cNvPr id="16" name="Shape 14"/>
          <p:cNvSpPr/>
          <p:nvPr/>
        </p:nvSpPr>
        <p:spPr>
          <a:xfrm>
            <a:off x="7498080" y="2395728"/>
            <a:ext cx="1874520" cy="0"/>
          </a:xfrm>
          <a:prstGeom prst="line">
            <a:avLst/>
          </a:prstGeom>
          <a:noFill/>
          <a:ln w="25400">
            <a:solidFill>
              <a:srgbClr val="A69BE8"/>
            </a:solidFill>
            <a:prstDash val="solid"/>
          </a:ln>
        </p:spPr>
      </p:sp>
      <p:sp>
        <p:nvSpPr>
          <p:cNvPr id="17" name="Text 15"/>
          <p:cNvSpPr/>
          <p:nvPr/>
        </p:nvSpPr>
        <p:spPr>
          <a:xfrm>
            <a:off x="7452360" y="2487168"/>
            <a:ext cx="1965960" cy="93268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Session 4</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Global Team Simulations</a:t>
            </a:r>
            <a:endParaRPr lang="en-US" sz="1050" dirty="0"/>
          </a:p>
        </p:txBody>
      </p:sp>
      <p:sp>
        <p:nvSpPr>
          <p:cNvPr id="18" name="Text 16"/>
          <p:cNvSpPr/>
          <p:nvPr/>
        </p:nvSpPr>
        <p:spPr>
          <a:xfrm>
            <a:off x="9646920" y="2011680"/>
            <a:ext cx="205740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05</a:t>
            </a:r>
            <a:endParaRPr lang="en-US" sz="1350" dirty="0"/>
          </a:p>
        </p:txBody>
      </p:sp>
      <p:sp>
        <p:nvSpPr>
          <p:cNvPr id="19" name="Shape 17"/>
          <p:cNvSpPr/>
          <p:nvPr/>
        </p:nvSpPr>
        <p:spPr>
          <a:xfrm>
            <a:off x="9738360" y="2395728"/>
            <a:ext cx="1874520" cy="0"/>
          </a:xfrm>
          <a:prstGeom prst="line">
            <a:avLst/>
          </a:prstGeom>
          <a:noFill/>
          <a:ln w="25400">
            <a:solidFill>
              <a:srgbClr val="DDEBFF"/>
            </a:solidFill>
            <a:prstDash val="solid"/>
          </a:ln>
        </p:spPr>
      </p:sp>
      <p:sp>
        <p:nvSpPr>
          <p:cNvPr id="20" name="Text 18"/>
          <p:cNvSpPr/>
          <p:nvPr/>
        </p:nvSpPr>
        <p:spPr>
          <a:xfrm>
            <a:off x="9692640" y="2487168"/>
            <a:ext cx="1965960" cy="93268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Session 5</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Team Agreements &amp; Adoption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Session 1: Understanding Conflict</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6</a:t>
            </a:r>
            <a:endParaRPr lang="en-US" sz="750" dirty="0"/>
          </a:p>
        </p:txBody>
      </p:sp>
      <p:sp>
        <p:nvSpPr>
          <p:cNvPr id="6" name="Text 4"/>
          <p:cNvSpPr/>
          <p:nvPr/>
        </p:nvSpPr>
        <p:spPr>
          <a:xfrm>
            <a:off x="777240" y="1325880"/>
            <a:ext cx="6400800" cy="420624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Conflict often reflects unclear expectations, not poor intentions.</a:t>
            </a:r>
            <a:endParaRPr lang="en-US" sz="1500" dirty="0"/>
          </a:p>
          <a:p>
            <a:r>
              <a:rPr lang="en-US" sz="1500" dirty="0">
                <a:solidFill>
                  <a:srgbClr val="1F2937"/>
                </a:solidFill>
                <a:latin typeface="Aptos" pitchFamily="34" charset="0"/>
                <a:ea typeface="Aptos" pitchFamily="34" charset="-122"/>
                <a:cs typeface="Aptos" pitchFamily="34" charset="-120"/>
              </a:rPr>
              <a:t>Global teams may interpret urgency, silence, disagreement and feedback differently.</a:t>
            </a:r>
            <a:endParaRPr lang="en-US" sz="1500" dirty="0"/>
          </a:p>
          <a:p>
            <a:r>
              <a:rPr lang="en-US" sz="1500" dirty="0">
                <a:solidFill>
                  <a:srgbClr val="1F2937"/>
                </a:solidFill>
                <a:latin typeface="Aptos" pitchFamily="34" charset="0"/>
                <a:ea typeface="Aptos" pitchFamily="34" charset="-122"/>
                <a:cs typeface="Aptos" pitchFamily="34" charset="-120"/>
              </a:rPr>
              <a:t>Healthy conflict can reveal hidden gaps in ownership, priorities or workflow.</a:t>
            </a:r>
            <a:endParaRPr lang="en-US" sz="1500" dirty="0"/>
          </a:p>
          <a:p>
            <a:r>
              <a:rPr lang="en-US" sz="1500" dirty="0">
                <a:solidFill>
                  <a:srgbClr val="1F2937"/>
                </a:solidFill>
                <a:latin typeface="Aptos" pitchFamily="34" charset="0"/>
                <a:ea typeface="Aptos" pitchFamily="34" charset="-122"/>
                <a:cs typeface="Aptos" pitchFamily="34" charset="-120"/>
              </a:rPr>
              <a:t>Unmanaged conflict creates distance, frustration and slower delivery.</a:t>
            </a:r>
            <a:endParaRPr lang="en-US" sz="1500" dirty="0"/>
          </a:p>
        </p:txBody>
      </p:sp>
      <p:sp>
        <p:nvSpPr>
          <p:cNvPr id="7" name="Text 5"/>
          <p:cNvSpPr/>
          <p:nvPr/>
        </p:nvSpPr>
        <p:spPr>
          <a:xfrm>
            <a:off x="7635240" y="1325880"/>
            <a:ext cx="365760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Focus</a:t>
            </a:r>
            <a:endParaRPr lang="en-US" sz="1350" dirty="0"/>
          </a:p>
        </p:txBody>
      </p:sp>
      <p:sp>
        <p:nvSpPr>
          <p:cNvPr id="8" name="Shape 6"/>
          <p:cNvSpPr/>
          <p:nvPr/>
        </p:nvSpPr>
        <p:spPr>
          <a:xfrm>
            <a:off x="7726680" y="1709928"/>
            <a:ext cx="3474720" cy="0"/>
          </a:xfrm>
          <a:prstGeom prst="line">
            <a:avLst/>
          </a:prstGeom>
          <a:noFill/>
          <a:ln w="25400">
            <a:solidFill>
              <a:srgbClr val="A69BE8"/>
            </a:solidFill>
            <a:prstDash val="solid"/>
          </a:ln>
        </p:spPr>
      </p:sp>
      <p:sp>
        <p:nvSpPr>
          <p:cNvPr id="9" name="Text 7"/>
          <p:cNvSpPr/>
          <p:nvPr/>
        </p:nvSpPr>
        <p:spPr>
          <a:xfrm>
            <a:off x="7680960" y="1801368"/>
            <a:ext cx="3566160" cy="129844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Connect the slide to the participants’ daily work and ask for one concrete example.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Activity: Identify the Conflict Source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7</a:t>
            </a:r>
            <a:endParaRPr lang="en-US" sz="750" dirty="0"/>
          </a:p>
        </p:txBody>
      </p:sp>
      <p:sp>
        <p:nvSpPr>
          <p:cNvPr id="6" name="Text 4"/>
          <p:cNvSpPr/>
          <p:nvPr/>
        </p:nvSpPr>
        <p:spPr>
          <a:xfrm>
            <a:off x="777240" y="1325880"/>
            <a:ext cx="6400800" cy="301752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A US team says the India team is “not direct enough.”</a:t>
            </a:r>
            <a:endParaRPr lang="en-US" sz="1500" dirty="0"/>
          </a:p>
          <a:p>
            <a:r>
              <a:rPr lang="en-US" sz="1500" dirty="0">
                <a:solidFill>
                  <a:srgbClr val="1F2937"/>
                </a:solidFill>
                <a:latin typeface="Aptos" pitchFamily="34" charset="0"/>
                <a:ea typeface="Aptos" pitchFamily="34" charset="-122"/>
                <a:cs typeface="Aptos" pitchFamily="34" charset="-120"/>
              </a:rPr>
              <a:t>A Japan-based team feels pressured by public disagreement in meetings.</a:t>
            </a:r>
            <a:endParaRPr lang="en-US" sz="1500" dirty="0"/>
          </a:p>
          <a:p>
            <a:r>
              <a:rPr lang="en-US" sz="1500" dirty="0">
                <a:solidFill>
                  <a:srgbClr val="1F2937"/>
                </a:solidFill>
                <a:latin typeface="Aptos" pitchFamily="34" charset="0"/>
                <a:ea typeface="Aptos" pitchFamily="34" charset="-122"/>
                <a:cs typeface="Aptos" pitchFamily="34" charset="-120"/>
              </a:rPr>
              <a:t>A Brazil team receives urgent messages outside working hours.</a:t>
            </a:r>
            <a:endParaRPr lang="en-US" sz="1500" dirty="0"/>
          </a:p>
          <a:p>
            <a:r>
              <a:rPr lang="en-US" sz="1500" dirty="0">
                <a:solidFill>
                  <a:srgbClr val="1F2937"/>
                </a:solidFill>
                <a:latin typeface="Aptos" pitchFamily="34" charset="0"/>
                <a:ea typeface="Aptos" pitchFamily="34" charset="-122"/>
                <a:cs typeface="Aptos" pitchFamily="34" charset="-120"/>
              </a:rPr>
              <a:t>A Product team says Legal is slowing down innovation.</a:t>
            </a:r>
            <a:endParaRPr lang="en-US" sz="1500" dirty="0"/>
          </a:p>
          <a:p>
            <a:r>
              <a:rPr lang="en-US" sz="1500" dirty="0">
                <a:solidFill>
                  <a:srgbClr val="1F2937"/>
                </a:solidFill>
                <a:latin typeface="Aptos" pitchFamily="34" charset="0"/>
                <a:ea typeface="Aptos" pitchFamily="34" charset="-122"/>
                <a:cs typeface="Aptos" pitchFamily="34" charset="-120"/>
              </a:rPr>
              <a:t>Two teams use different tools and lose track of decisions.</a:t>
            </a:r>
            <a:endParaRPr lang="en-US" sz="1500" dirty="0"/>
          </a:p>
        </p:txBody>
      </p:sp>
      <p:sp>
        <p:nvSpPr>
          <p:cNvPr id="7" name="Text 5"/>
          <p:cNvSpPr/>
          <p:nvPr/>
        </p:nvSpPr>
        <p:spPr>
          <a:xfrm>
            <a:off x="7635240" y="1325880"/>
            <a:ext cx="36576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Discussion Question</a:t>
            </a:r>
            <a:endParaRPr lang="en-US" sz="1350" dirty="0"/>
          </a:p>
        </p:txBody>
      </p:sp>
      <p:sp>
        <p:nvSpPr>
          <p:cNvPr id="8" name="Shape 6"/>
          <p:cNvSpPr/>
          <p:nvPr/>
        </p:nvSpPr>
        <p:spPr>
          <a:xfrm>
            <a:off x="7726680" y="1709928"/>
            <a:ext cx="3474720" cy="0"/>
          </a:xfrm>
          <a:prstGeom prst="line">
            <a:avLst/>
          </a:prstGeom>
          <a:noFill/>
          <a:ln w="25400">
            <a:solidFill>
              <a:srgbClr val="A69BE8"/>
            </a:solidFill>
            <a:prstDash val="solid"/>
          </a:ln>
        </p:spPr>
      </p:sp>
      <p:sp>
        <p:nvSpPr>
          <p:cNvPr id="9" name="Text 7"/>
          <p:cNvSpPr/>
          <p:nvPr/>
        </p:nvSpPr>
        <p:spPr>
          <a:xfrm>
            <a:off x="7680960" y="1801368"/>
            <a:ext cx="3566160" cy="129844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Classify each as cultural communication, time-zone friction, hierarchy/feedback norms, competing priorities or tool misalignment.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Global Conflict Types Map</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8</a:t>
            </a:r>
            <a:endParaRPr lang="en-US" sz="750" dirty="0"/>
          </a:p>
        </p:txBody>
      </p:sp>
      <p:sp>
        <p:nvSpPr>
          <p:cNvPr id="6" name="Text 4"/>
          <p:cNvSpPr/>
          <p:nvPr/>
        </p:nvSpPr>
        <p:spPr>
          <a:xfrm>
            <a:off x="685800" y="1234440"/>
            <a:ext cx="2834640" cy="566928"/>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Conflict Type</a:t>
            </a:r>
            <a:endParaRPr lang="en-US" sz="1050" dirty="0"/>
          </a:p>
        </p:txBody>
      </p:sp>
      <p:sp>
        <p:nvSpPr>
          <p:cNvPr id="7" name="Text 5"/>
          <p:cNvSpPr/>
          <p:nvPr/>
        </p:nvSpPr>
        <p:spPr>
          <a:xfrm>
            <a:off x="3520440" y="1234440"/>
            <a:ext cx="4023360" cy="566928"/>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Example</a:t>
            </a:r>
            <a:endParaRPr lang="en-US" sz="1050" dirty="0"/>
          </a:p>
        </p:txBody>
      </p:sp>
      <p:sp>
        <p:nvSpPr>
          <p:cNvPr id="8" name="Text 6"/>
          <p:cNvSpPr/>
          <p:nvPr/>
        </p:nvSpPr>
        <p:spPr>
          <a:xfrm>
            <a:off x="7543800" y="1234440"/>
            <a:ext cx="3977640" cy="566928"/>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Risk</a:t>
            </a:r>
            <a:endParaRPr lang="en-US" sz="1050" dirty="0"/>
          </a:p>
        </p:txBody>
      </p:sp>
      <p:sp>
        <p:nvSpPr>
          <p:cNvPr id="9" name="Text 7"/>
          <p:cNvSpPr/>
          <p:nvPr/>
        </p:nvSpPr>
        <p:spPr>
          <a:xfrm>
            <a:off x="685800" y="1801368"/>
            <a:ext cx="2834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Cultural communication</a:t>
            </a:r>
            <a:endParaRPr lang="en-US" sz="950" dirty="0"/>
          </a:p>
        </p:txBody>
      </p:sp>
      <p:sp>
        <p:nvSpPr>
          <p:cNvPr id="10" name="Text 8"/>
          <p:cNvSpPr/>
          <p:nvPr/>
        </p:nvSpPr>
        <p:spPr>
          <a:xfrm>
            <a:off x="3520440" y="1801368"/>
            <a:ext cx="402336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Direct vs. indirect feedback</a:t>
            </a:r>
            <a:endParaRPr lang="en-US" sz="950" dirty="0"/>
          </a:p>
        </p:txBody>
      </p:sp>
      <p:sp>
        <p:nvSpPr>
          <p:cNvPr id="11" name="Text 9"/>
          <p:cNvSpPr/>
          <p:nvPr/>
        </p:nvSpPr>
        <p:spPr>
          <a:xfrm>
            <a:off x="7543800" y="1801368"/>
            <a:ext cx="3977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Misinterpretation</a:t>
            </a:r>
            <a:endParaRPr lang="en-US" sz="950" dirty="0"/>
          </a:p>
        </p:txBody>
      </p:sp>
      <p:sp>
        <p:nvSpPr>
          <p:cNvPr id="12" name="Text 10"/>
          <p:cNvSpPr/>
          <p:nvPr/>
        </p:nvSpPr>
        <p:spPr>
          <a:xfrm>
            <a:off x="685800" y="2368296"/>
            <a:ext cx="2834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Time-zone friction</a:t>
            </a:r>
            <a:endParaRPr lang="en-US" sz="950" dirty="0"/>
          </a:p>
        </p:txBody>
      </p:sp>
      <p:sp>
        <p:nvSpPr>
          <p:cNvPr id="13" name="Text 11"/>
          <p:cNvSpPr/>
          <p:nvPr/>
        </p:nvSpPr>
        <p:spPr>
          <a:xfrm>
            <a:off x="3520440" y="2368296"/>
            <a:ext cx="402336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Delayed responses</a:t>
            </a:r>
            <a:endParaRPr lang="en-US" sz="950" dirty="0"/>
          </a:p>
        </p:txBody>
      </p:sp>
      <p:sp>
        <p:nvSpPr>
          <p:cNvPr id="14" name="Text 12"/>
          <p:cNvSpPr/>
          <p:nvPr/>
        </p:nvSpPr>
        <p:spPr>
          <a:xfrm>
            <a:off x="7543800" y="2368296"/>
            <a:ext cx="3977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Frustration and burnout</a:t>
            </a:r>
            <a:endParaRPr lang="en-US" sz="950" dirty="0"/>
          </a:p>
        </p:txBody>
      </p:sp>
      <p:sp>
        <p:nvSpPr>
          <p:cNvPr id="15" name="Text 13"/>
          <p:cNvSpPr/>
          <p:nvPr/>
        </p:nvSpPr>
        <p:spPr>
          <a:xfrm>
            <a:off x="685800" y="2935224"/>
            <a:ext cx="2834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Tool misalignment</a:t>
            </a:r>
            <a:endParaRPr lang="en-US" sz="950" dirty="0"/>
          </a:p>
        </p:txBody>
      </p:sp>
      <p:sp>
        <p:nvSpPr>
          <p:cNvPr id="16" name="Text 14"/>
          <p:cNvSpPr/>
          <p:nvPr/>
        </p:nvSpPr>
        <p:spPr>
          <a:xfrm>
            <a:off x="3520440" y="2935224"/>
            <a:ext cx="402336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Different platforms</a:t>
            </a:r>
            <a:endParaRPr lang="en-US" sz="950" dirty="0"/>
          </a:p>
        </p:txBody>
      </p:sp>
      <p:sp>
        <p:nvSpPr>
          <p:cNvPr id="17" name="Text 15"/>
          <p:cNvSpPr/>
          <p:nvPr/>
        </p:nvSpPr>
        <p:spPr>
          <a:xfrm>
            <a:off x="7543800" y="2935224"/>
            <a:ext cx="3977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Lost information</a:t>
            </a:r>
            <a:endParaRPr lang="en-US" sz="950" dirty="0"/>
          </a:p>
        </p:txBody>
      </p:sp>
      <p:sp>
        <p:nvSpPr>
          <p:cNvPr id="18" name="Text 16"/>
          <p:cNvSpPr/>
          <p:nvPr/>
        </p:nvSpPr>
        <p:spPr>
          <a:xfrm>
            <a:off x="685800" y="3502152"/>
            <a:ext cx="2834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Ownership confusion</a:t>
            </a:r>
            <a:endParaRPr lang="en-US" sz="950" dirty="0"/>
          </a:p>
        </p:txBody>
      </p:sp>
      <p:sp>
        <p:nvSpPr>
          <p:cNvPr id="19" name="Text 17"/>
          <p:cNvSpPr/>
          <p:nvPr/>
        </p:nvSpPr>
        <p:spPr>
          <a:xfrm>
            <a:off x="3520440" y="3502152"/>
            <a:ext cx="402336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No clear decision owner</a:t>
            </a:r>
            <a:endParaRPr lang="en-US" sz="950" dirty="0"/>
          </a:p>
        </p:txBody>
      </p:sp>
      <p:sp>
        <p:nvSpPr>
          <p:cNvPr id="20" name="Text 18"/>
          <p:cNvSpPr/>
          <p:nvPr/>
        </p:nvSpPr>
        <p:spPr>
          <a:xfrm>
            <a:off x="7543800" y="3502152"/>
            <a:ext cx="3977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Duplication or delay</a:t>
            </a:r>
            <a:endParaRPr lang="en-US" sz="950" dirty="0"/>
          </a:p>
        </p:txBody>
      </p:sp>
      <p:sp>
        <p:nvSpPr>
          <p:cNvPr id="21" name="Text 19"/>
          <p:cNvSpPr/>
          <p:nvPr/>
        </p:nvSpPr>
        <p:spPr>
          <a:xfrm>
            <a:off x="685800" y="4069080"/>
            <a:ext cx="2834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Priority conflict</a:t>
            </a:r>
            <a:endParaRPr lang="en-US" sz="950" dirty="0"/>
          </a:p>
        </p:txBody>
      </p:sp>
      <p:sp>
        <p:nvSpPr>
          <p:cNvPr id="22" name="Text 20"/>
          <p:cNvSpPr/>
          <p:nvPr/>
        </p:nvSpPr>
        <p:spPr>
          <a:xfrm>
            <a:off x="3520440" y="4069080"/>
            <a:ext cx="402336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Product vs. Regulation</a:t>
            </a:r>
            <a:endParaRPr lang="en-US" sz="950" dirty="0"/>
          </a:p>
        </p:txBody>
      </p:sp>
      <p:sp>
        <p:nvSpPr>
          <p:cNvPr id="23" name="Text 21"/>
          <p:cNvSpPr/>
          <p:nvPr/>
        </p:nvSpPr>
        <p:spPr>
          <a:xfrm>
            <a:off x="7543800" y="4069080"/>
            <a:ext cx="3977640" cy="566928"/>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Escalation and mistrust</a:t>
            </a:r>
            <a:endParaRPr lang="en-US" sz="950" dirty="0"/>
          </a:p>
        </p:txBody>
      </p:sp>
      <p:sp>
        <p:nvSpPr>
          <p:cNvPr id="24" name="Text 22"/>
          <p:cNvSpPr/>
          <p:nvPr/>
        </p:nvSpPr>
        <p:spPr>
          <a:xfrm>
            <a:off x="685800" y="4636008"/>
            <a:ext cx="2834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Hierarchy differences</a:t>
            </a:r>
            <a:endParaRPr lang="en-US" sz="950" dirty="0"/>
          </a:p>
        </p:txBody>
      </p:sp>
      <p:sp>
        <p:nvSpPr>
          <p:cNvPr id="25" name="Text 23"/>
          <p:cNvSpPr/>
          <p:nvPr/>
        </p:nvSpPr>
        <p:spPr>
          <a:xfrm>
            <a:off x="3520440" y="4636008"/>
            <a:ext cx="402336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Who can disagree publicly</a:t>
            </a:r>
            <a:endParaRPr lang="en-US" sz="950" dirty="0"/>
          </a:p>
        </p:txBody>
      </p:sp>
      <p:sp>
        <p:nvSpPr>
          <p:cNvPr id="26" name="Text 24"/>
          <p:cNvSpPr/>
          <p:nvPr/>
        </p:nvSpPr>
        <p:spPr>
          <a:xfrm>
            <a:off x="7543800" y="4636008"/>
            <a:ext cx="3977640" cy="566928"/>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Silence or tension</a:t>
            </a:r>
            <a:endParaRPr lang="en-US" sz="950" dirty="0"/>
          </a:p>
        </p:txBody>
      </p:sp>
      <p:sp>
        <p:nvSpPr>
          <p:cNvPr id="27" name="Text 25"/>
          <p:cNvSpPr/>
          <p:nvPr/>
        </p:nvSpPr>
        <p:spPr>
          <a:xfrm>
            <a:off x="731520" y="5897880"/>
            <a:ext cx="10241280" cy="274320"/>
          </a:xfrm>
          <a:prstGeom prst="rect">
            <a:avLst/>
          </a:prstGeom>
          <a:noFill/>
          <a:ln/>
        </p:spPr>
        <p:txBody>
          <a:bodyPr wrap="square" lIns="0" tIns="0" rIns="0" bIns="0" rtlCol="0" anchor="ctr"/>
          <a:lstStyle/>
          <a:p>
            <a:pPr indent="0" marL="0">
              <a:buNone/>
            </a:pPr>
            <a:r>
              <a:rPr lang="en-US" sz="1200" b="1" dirty="0">
                <a:solidFill>
                  <a:srgbClr val="17213F"/>
                </a:solidFill>
              </a:rPr>
              <a:t>Use this map as a diagnostic tool before trying to solve the conflict.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Session 2: Cross-Cultural Communication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9</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420" dirty="0">
                <a:solidFill>
                  <a:srgbClr val="1F2937"/>
                </a:solidFill>
                <a:latin typeface="Aptos" pitchFamily="34" charset="0"/>
                <a:ea typeface="Aptos" pitchFamily="34" charset="-122"/>
                <a:cs typeface="Aptos" pitchFamily="34" charset="-120"/>
              </a:rPr>
              <a:t>Global teams differ in how directly they communicate.</a:t>
            </a:r>
            <a:endParaRPr lang="en-US" sz="1420" dirty="0"/>
          </a:p>
          <a:p>
            <a:r>
              <a:rPr lang="en-US" sz="1420" dirty="0">
                <a:solidFill>
                  <a:srgbClr val="1F2937"/>
                </a:solidFill>
                <a:latin typeface="Aptos" pitchFamily="34" charset="0"/>
                <a:ea typeface="Aptos" pitchFamily="34" charset="-122"/>
                <a:cs typeface="Aptos" pitchFamily="34" charset="-120"/>
              </a:rPr>
              <a:t>Feedback may be interpreted differently across cultures.</a:t>
            </a:r>
            <a:endParaRPr lang="en-US" sz="1420" dirty="0"/>
          </a:p>
          <a:p>
            <a:r>
              <a:rPr lang="en-US" sz="1420" dirty="0">
                <a:solidFill>
                  <a:srgbClr val="1F2937"/>
                </a:solidFill>
                <a:latin typeface="Aptos" pitchFamily="34" charset="0"/>
                <a:ea typeface="Aptos" pitchFamily="34" charset="-122"/>
                <a:cs typeface="Aptos" pitchFamily="34" charset="-120"/>
              </a:rPr>
              <a:t>Silence can mean agreement, hesitation, respect or concern.</a:t>
            </a:r>
            <a:endParaRPr lang="en-US" sz="1420" dirty="0"/>
          </a:p>
          <a:p>
            <a:r>
              <a:rPr lang="en-US" sz="1420" dirty="0">
                <a:solidFill>
                  <a:srgbClr val="1F2937"/>
                </a:solidFill>
                <a:latin typeface="Aptos" pitchFamily="34" charset="0"/>
                <a:ea typeface="Aptos" pitchFamily="34" charset="-122"/>
                <a:cs typeface="Aptos" pitchFamily="34" charset="-120"/>
              </a:rPr>
              <a:t>Hierarchy affects who feels safe to disagree publicly.</a:t>
            </a:r>
            <a:endParaRPr lang="en-US" sz="1420" dirty="0"/>
          </a:p>
          <a:p>
            <a:r>
              <a:rPr lang="en-US" sz="1420" dirty="0">
                <a:solidFill>
                  <a:srgbClr val="1F2937"/>
                </a:solidFill>
                <a:latin typeface="Aptos" pitchFamily="34" charset="0"/>
                <a:ea typeface="Aptos" pitchFamily="34" charset="-122"/>
                <a:cs typeface="Aptos" pitchFamily="34" charset="-120"/>
              </a:rPr>
              <a:t>A style that feels clear in one culture may feel aggressive or unclear in another.</a:t>
            </a:r>
            <a:endParaRPr lang="en-US" sz="1420" dirty="0"/>
          </a:p>
        </p:txBody>
      </p:sp>
      <p:sp>
        <p:nvSpPr>
          <p:cNvPr id="7" name="Text 5"/>
          <p:cNvSpPr/>
          <p:nvPr/>
        </p:nvSpPr>
        <p:spPr>
          <a:xfrm>
            <a:off x="7680960" y="1417320"/>
            <a:ext cx="356616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Key Point</a:t>
            </a:r>
            <a:endParaRPr lang="en-US" sz="1350" dirty="0"/>
          </a:p>
        </p:txBody>
      </p:sp>
      <p:sp>
        <p:nvSpPr>
          <p:cNvPr id="8" name="Shape 6"/>
          <p:cNvSpPr/>
          <p:nvPr/>
        </p:nvSpPr>
        <p:spPr>
          <a:xfrm>
            <a:off x="7772400" y="1801368"/>
            <a:ext cx="3383280" cy="0"/>
          </a:xfrm>
          <a:prstGeom prst="line">
            <a:avLst/>
          </a:prstGeom>
          <a:noFill/>
          <a:ln w="25400">
            <a:solidFill>
              <a:srgbClr val="A69BE8"/>
            </a:solidFill>
            <a:prstDash val="solid"/>
          </a:ln>
        </p:spPr>
      </p:sp>
      <p:sp>
        <p:nvSpPr>
          <p:cNvPr id="9" name="Text 7"/>
          <p:cNvSpPr/>
          <p:nvPr/>
        </p:nvSpPr>
        <p:spPr>
          <a:xfrm>
            <a:off x="7726680" y="1892808"/>
            <a:ext cx="347472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Use curiosity before judgment. Ask what each person meant, not only what you heard.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Direct vs. Indirect Communication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10</a:t>
            </a:r>
            <a:endParaRPr lang="en-US" sz="750" dirty="0"/>
          </a:p>
        </p:txBody>
      </p:sp>
      <p:sp>
        <p:nvSpPr>
          <p:cNvPr id="6" name="Text 4"/>
          <p:cNvSpPr/>
          <p:nvPr/>
        </p:nvSpPr>
        <p:spPr>
          <a:xfrm>
            <a:off x="777240" y="1417320"/>
            <a:ext cx="502920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Direct communication</a:t>
            </a:r>
            <a:endParaRPr lang="en-US" sz="1350" dirty="0"/>
          </a:p>
        </p:txBody>
      </p:sp>
      <p:sp>
        <p:nvSpPr>
          <p:cNvPr id="7" name="Shape 5"/>
          <p:cNvSpPr/>
          <p:nvPr/>
        </p:nvSpPr>
        <p:spPr>
          <a:xfrm>
            <a:off x="868680" y="1801368"/>
            <a:ext cx="4846320" cy="0"/>
          </a:xfrm>
          <a:prstGeom prst="line">
            <a:avLst/>
          </a:prstGeom>
          <a:noFill/>
          <a:ln w="25400">
            <a:solidFill>
              <a:srgbClr val="DDEBFF"/>
            </a:solidFill>
            <a:prstDash val="solid"/>
          </a:ln>
        </p:spPr>
      </p:sp>
      <p:sp>
        <p:nvSpPr>
          <p:cNvPr id="8" name="Text 6"/>
          <p:cNvSpPr/>
          <p:nvPr/>
        </p:nvSpPr>
        <p:spPr>
          <a:xfrm>
            <a:off x="822960" y="1892808"/>
            <a:ext cx="4937760" cy="166420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Clear, explicit, fast, task-focused.</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Risk: can be perceived as aggressive or insensitive.</a:t>
            </a:r>
            <a:endParaRPr lang="en-US" sz="1050" dirty="0"/>
          </a:p>
        </p:txBody>
      </p:sp>
      <p:sp>
        <p:nvSpPr>
          <p:cNvPr id="9" name="Text 7"/>
          <p:cNvSpPr/>
          <p:nvPr/>
        </p:nvSpPr>
        <p:spPr>
          <a:xfrm>
            <a:off x="6172200" y="1417320"/>
            <a:ext cx="50292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Indirect communication</a:t>
            </a:r>
            <a:endParaRPr lang="en-US" sz="1350" dirty="0"/>
          </a:p>
        </p:txBody>
      </p:sp>
      <p:sp>
        <p:nvSpPr>
          <p:cNvPr id="10" name="Shape 8"/>
          <p:cNvSpPr/>
          <p:nvPr/>
        </p:nvSpPr>
        <p:spPr>
          <a:xfrm>
            <a:off x="6263640" y="1801368"/>
            <a:ext cx="4846320" cy="0"/>
          </a:xfrm>
          <a:prstGeom prst="line">
            <a:avLst/>
          </a:prstGeom>
          <a:noFill/>
          <a:ln w="25400">
            <a:solidFill>
              <a:srgbClr val="A69BE8"/>
            </a:solidFill>
            <a:prstDash val="solid"/>
          </a:ln>
        </p:spPr>
      </p:sp>
      <p:sp>
        <p:nvSpPr>
          <p:cNvPr id="11" name="Text 9"/>
          <p:cNvSpPr/>
          <p:nvPr/>
        </p:nvSpPr>
        <p:spPr>
          <a:xfrm>
            <a:off x="6217920" y="1892808"/>
            <a:ext cx="4937760" cy="166420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Contextual, relationship-focused, careful.</a:t>
            </a:r>
            <a:endParaRPr lang="en-US" sz="1050" dirty="0"/>
          </a:p>
          <a:p>
            <a:pPr indent="0" marL="0">
              <a:buNone/>
            </a:pPr>
            <a:r>
              <a:rPr lang="en-US" sz="1050" dirty="0">
                <a:solidFill>
                  <a:srgbClr val="1F2937"/>
                </a:solidFill>
                <a:latin typeface="Aptos" pitchFamily="34" charset="0"/>
                <a:ea typeface="Aptos" pitchFamily="34" charset="-122"/>
                <a:cs typeface="Aptos" pitchFamily="34" charset="-120"/>
              </a:rPr>
              <a:t>Risk: can be perceived as unclear or avoidant.</a:t>
            </a:r>
            <a:endParaRPr lang="en-US" sz="1050" dirty="0"/>
          </a:p>
        </p:txBody>
      </p:sp>
      <p:sp>
        <p:nvSpPr>
          <p:cNvPr id="12" name="Text 10"/>
          <p:cNvSpPr/>
          <p:nvPr/>
        </p:nvSpPr>
        <p:spPr>
          <a:xfrm>
            <a:off x="2834640" y="4160520"/>
            <a:ext cx="6492240" cy="320040"/>
          </a:xfrm>
          <a:prstGeom prst="rect">
            <a:avLst/>
          </a:prstGeom>
          <a:solidFill>
            <a:srgbClr val="DDF7EC"/>
          </a:solidFill>
          <a:ln>
            <a:solidFill>
              <a:srgbClr val="DDF7EC">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Discussion Question</a:t>
            </a:r>
            <a:endParaRPr lang="en-US" sz="1350" dirty="0"/>
          </a:p>
        </p:txBody>
      </p:sp>
      <p:sp>
        <p:nvSpPr>
          <p:cNvPr id="13" name="Shape 11"/>
          <p:cNvSpPr/>
          <p:nvPr/>
        </p:nvSpPr>
        <p:spPr>
          <a:xfrm>
            <a:off x="2926080" y="4544568"/>
            <a:ext cx="6309360" cy="0"/>
          </a:xfrm>
          <a:prstGeom prst="line">
            <a:avLst/>
          </a:prstGeom>
          <a:noFill/>
          <a:ln w="25400">
            <a:solidFill>
              <a:srgbClr val="A69BE8"/>
            </a:solidFill>
            <a:prstDash val="solid"/>
          </a:ln>
        </p:spPr>
      </p:sp>
      <p:sp>
        <p:nvSpPr>
          <p:cNvPr id="14" name="Text 12"/>
          <p:cNvSpPr/>
          <p:nvPr/>
        </p:nvSpPr>
        <p:spPr>
          <a:xfrm>
            <a:off x="2880360" y="4636008"/>
            <a:ext cx="6400800" cy="612648"/>
          </a:xfrm>
          <a:prstGeom prst="rect">
            <a:avLst/>
          </a:prstGeom>
          <a:solidFill>
            <a:srgbClr val="DDF7EC"/>
          </a:solidFill>
          <a:ln>
            <a:solidFill>
              <a:srgbClr val="DDF7EC">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How can a team create communication norms that respect both styles?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Activity: Rewrite the Message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11</a:t>
            </a:r>
            <a:endParaRPr lang="en-US" sz="750" dirty="0"/>
          </a:p>
        </p:txBody>
      </p:sp>
      <p:sp>
        <p:nvSpPr>
          <p:cNvPr id="6" name="Text 4"/>
          <p:cNvSpPr/>
          <p:nvPr/>
        </p:nvSpPr>
        <p:spPr>
          <a:xfrm>
            <a:off x="777240" y="1417320"/>
            <a:ext cx="502920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Original message</a:t>
            </a:r>
            <a:endParaRPr lang="en-US" sz="1350" dirty="0"/>
          </a:p>
        </p:txBody>
      </p:sp>
      <p:sp>
        <p:nvSpPr>
          <p:cNvPr id="7" name="Shape 5"/>
          <p:cNvSpPr/>
          <p:nvPr/>
        </p:nvSpPr>
        <p:spPr>
          <a:xfrm>
            <a:off x="868680" y="1801368"/>
            <a:ext cx="4846320" cy="0"/>
          </a:xfrm>
          <a:prstGeom prst="line">
            <a:avLst/>
          </a:prstGeom>
          <a:noFill/>
          <a:ln w="25400">
            <a:solidFill>
              <a:srgbClr val="DDEBFF"/>
            </a:solidFill>
            <a:prstDash val="solid"/>
          </a:ln>
        </p:spPr>
      </p:sp>
      <p:sp>
        <p:nvSpPr>
          <p:cNvPr id="8" name="Text 6"/>
          <p:cNvSpPr/>
          <p:nvPr/>
        </p:nvSpPr>
        <p:spPr>
          <a:xfrm>
            <a:off x="822960" y="1892808"/>
            <a:ext cx="4937760" cy="166420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“This is not good enough. We need the final version today.”</a:t>
            </a:r>
            <a:endParaRPr lang="en-US" sz="1050" dirty="0"/>
          </a:p>
        </p:txBody>
      </p:sp>
      <p:sp>
        <p:nvSpPr>
          <p:cNvPr id="9" name="Text 7"/>
          <p:cNvSpPr/>
          <p:nvPr/>
        </p:nvSpPr>
        <p:spPr>
          <a:xfrm>
            <a:off x="6172200" y="1417320"/>
            <a:ext cx="502920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Improved version example</a:t>
            </a:r>
            <a:endParaRPr lang="en-US" sz="1350" dirty="0"/>
          </a:p>
        </p:txBody>
      </p:sp>
      <p:sp>
        <p:nvSpPr>
          <p:cNvPr id="10" name="Shape 8"/>
          <p:cNvSpPr/>
          <p:nvPr/>
        </p:nvSpPr>
        <p:spPr>
          <a:xfrm>
            <a:off x="6263640" y="1801368"/>
            <a:ext cx="4846320" cy="0"/>
          </a:xfrm>
          <a:prstGeom prst="line">
            <a:avLst/>
          </a:prstGeom>
          <a:noFill/>
          <a:ln w="25400">
            <a:solidFill>
              <a:srgbClr val="A69BE8"/>
            </a:solidFill>
            <a:prstDash val="solid"/>
          </a:ln>
        </p:spPr>
      </p:sp>
      <p:sp>
        <p:nvSpPr>
          <p:cNvPr id="11" name="Text 9"/>
          <p:cNvSpPr/>
          <p:nvPr/>
        </p:nvSpPr>
        <p:spPr>
          <a:xfrm>
            <a:off x="6217920" y="1892808"/>
            <a:ext cx="4937760" cy="166420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“Thank you for the work so far. I noticed a few gaps that we need to close before sharing the final version. Can we align today on the changes needed and confirm what is realistic by end of day?”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Cultural Communication Guide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12</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420" dirty="0">
                <a:solidFill>
                  <a:srgbClr val="1F2937"/>
                </a:solidFill>
                <a:latin typeface="Aptos" pitchFamily="34" charset="0"/>
                <a:ea typeface="Aptos" pitchFamily="34" charset="-122"/>
                <a:cs typeface="Aptos" pitchFamily="34" charset="-120"/>
              </a:rPr>
              <a:t>Is my message clear and respectful?</a:t>
            </a:r>
            <a:endParaRPr lang="en-US" sz="1420" dirty="0"/>
          </a:p>
          <a:p>
            <a:r>
              <a:rPr lang="en-US" sz="1420" dirty="0">
                <a:solidFill>
                  <a:srgbClr val="1F2937"/>
                </a:solidFill>
                <a:latin typeface="Aptos" pitchFamily="34" charset="0"/>
                <a:ea typeface="Aptos" pitchFamily="34" charset="-122"/>
                <a:cs typeface="Aptos" pitchFamily="34" charset="-120"/>
              </a:rPr>
              <a:t>Did I explain the context?</a:t>
            </a:r>
            <a:endParaRPr lang="en-US" sz="1420" dirty="0"/>
          </a:p>
          <a:p>
            <a:r>
              <a:rPr lang="en-US" sz="1420" dirty="0">
                <a:solidFill>
                  <a:srgbClr val="1F2937"/>
                </a:solidFill>
                <a:latin typeface="Aptos" pitchFamily="34" charset="0"/>
                <a:ea typeface="Aptos" pitchFamily="34" charset="-122"/>
                <a:cs typeface="Aptos" pitchFamily="34" charset="-120"/>
              </a:rPr>
              <a:t>Did I separate facts from interpretation?</a:t>
            </a:r>
            <a:endParaRPr lang="en-US" sz="1420" dirty="0"/>
          </a:p>
          <a:p>
            <a:r>
              <a:rPr lang="en-US" sz="1420" dirty="0">
                <a:solidFill>
                  <a:srgbClr val="1F2937"/>
                </a:solidFill>
                <a:latin typeface="Aptos" pitchFamily="34" charset="0"/>
                <a:ea typeface="Aptos" pitchFamily="34" charset="-122"/>
                <a:cs typeface="Aptos" pitchFamily="34" charset="-120"/>
              </a:rPr>
              <a:t>Did I leave room for questions?</a:t>
            </a:r>
            <a:endParaRPr lang="en-US" sz="1420" dirty="0"/>
          </a:p>
          <a:p>
            <a:r>
              <a:rPr lang="en-US" sz="1420" dirty="0">
                <a:solidFill>
                  <a:srgbClr val="1F2937"/>
                </a:solidFill>
                <a:latin typeface="Aptos" pitchFamily="34" charset="0"/>
                <a:ea typeface="Aptos" pitchFamily="34" charset="-122"/>
                <a:cs typeface="Aptos" pitchFamily="34" charset="-120"/>
              </a:rPr>
              <a:t>Did I clarify urgency and deadline?</a:t>
            </a:r>
            <a:endParaRPr lang="en-US" sz="1420" dirty="0"/>
          </a:p>
          <a:p>
            <a:r>
              <a:rPr lang="en-US" sz="1420" dirty="0">
                <a:solidFill>
                  <a:srgbClr val="1F2937"/>
                </a:solidFill>
                <a:latin typeface="Aptos" pitchFamily="34" charset="0"/>
                <a:ea typeface="Aptos" pitchFamily="34" charset="-122"/>
                <a:cs typeface="Aptos" pitchFamily="34" charset="-120"/>
              </a:rPr>
              <a:t>Did I check whether the channel is appropriate?</a:t>
            </a:r>
            <a:endParaRPr lang="en-US" sz="1420" dirty="0"/>
          </a:p>
          <a:p>
            <a:r>
              <a:rPr lang="en-US" sz="1420" dirty="0">
                <a:solidFill>
                  <a:srgbClr val="1F2937"/>
                </a:solidFill>
                <a:latin typeface="Aptos" pitchFamily="34" charset="0"/>
                <a:ea typeface="Aptos" pitchFamily="34" charset="-122"/>
                <a:cs typeface="Aptos" pitchFamily="34" charset="-120"/>
              </a:rPr>
              <a:t>Did I summarize the expected next step?</a:t>
            </a:r>
            <a:endParaRPr lang="en-US" sz="1420" dirty="0"/>
          </a:p>
        </p:txBody>
      </p:sp>
      <p:sp>
        <p:nvSpPr>
          <p:cNvPr id="7" name="Text 5"/>
          <p:cNvSpPr/>
          <p:nvPr/>
        </p:nvSpPr>
        <p:spPr>
          <a:xfrm>
            <a:off x="7680960" y="1417320"/>
            <a:ext cx="356616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Key Point</a:t>
            </a:r>
            <a:endParaRPr lang="en-US" sz="1350" dirty="0"/>
          </a:p>
        </p:txBody>
      </p:sp>
      <p:sp>
        <p:nvSpPr>
          <p:cNvPr id="8" name="Shape 6"/>
          <p:cNvSpPr/>
          <p:nvPr/>
        </p:nvSpPr>
        <p:spPr>
          <a:xfrm>
            <a:off x="7772400" y="1801368"/>
            <a:ext cx="3383280" cy="0"/>
          </a:xfrm>
          <a:prstGeom prst="line">
            <a:avLst/>
          </a:prstGeom>
          <a:noFill/>
          <a:ln w="25400">
            <a:solidFill>
              <a:srgbClr val="A69BE8"/>
            </a:solidFill>
            <a:prstDash val="solid"/>
          </a:ln>
        </p:spPr>
      </p:sp>
      <p:sp>
        <p:nvSpPr>
          <p:cNvPr id="9" name="Text 7"/>
          <p:cNvSpPr/>
          <p:nvPr/>
        </p:nvSpPr>
        <p:spPr>
          <a:xfrm>
            <a:off x="7726680" y="1892808"/>
            <a:ext cx="347472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Use curiosity before judgment. Ask what each person meant, not only what you heard.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Session 3: Conflict Conversation Framework</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13</a:t>
            </a:r>
            <a:endParaRPr lang="en-US" sz="750" dirty="0"/>
          </a:p>
        </p:txBody>
      </p:sp>
      <p:sp>
        <p:nvSpPr>
          <p:cNvPr id="6" name="Text 4"/>
          <p:cNvSpPr/>
          <p:nvPr/>
        </p:nvSpPr>
        <p:spPr>
          <a:xfrm>
            <a:off x="685800" y="1417320"/>
            <a:ext cx="210312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C — Clarify</a:t>
            </a:r>
            <a:endParaRPr lang="en-US" sz="1350" dirty="0"/>
          </a:p>
        </p:txBody>
      </p:sp>
      <p:sp>
        <p:nvSpPr>
          <p:cNvPr id="7" name="Shape 5"/>
          <p:cNvSpPr/>
          <p:nvPr/>
        </p:nvSpPr>
        <p:spPr>
          <a:xfrm>
            <a:off x="777240" y="1801368"/>
            <a:ext cx="1920240" cy="0"/>
          </a:xfrm>
          <a:prstGeom prst="line">
            <a:avLst/>
          </a:prstGeom>
          <a:noFill/>
          <a:ln w="25400">
            <a:solidFill>
              <a:srgbClr val="A69BE8"/>
            </a:solidFill>
            <a:prstDash val="solid"/>
          </a:ln>
        </p:spPr>
      </p:sp>
      <p:sp>
        <p:nvSpPr>
          <p:cNvPr id="8" name="Text 6"/>
          <p:cNvSpPr/>
          <p:nvPr/>
        </p:nvSpPr>
        <p:spPr>
          <a:xfrm>
            <a:off x="731520" y="1892808"/>
            <a:ext cx="2011680" cy="74980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What happened?</a:t>
            </a:r>
            <a:endParaRPr lang="en-US" sz="1050" dirty="0"/>
          </a:p>
        </p:txBody>
      </p:sp>
      <p:sp>
        <p:nvSpPr>
          <p:cNvPr id="9" name="Text 7"/>
          <p:cNvSpPr/>
          <p:nvPr/>
        </p:nvSpPr>
        <p:spPr>
          <a:xfrm>
            <a:off x="2898648" y="1417320"/>
            <a:ext cx="21031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L — Listen</a:t>
            </a:r>
            <a:endParaRPr lang="en-US" sz="1350" dirty="0"/>
          </a:p>
        </p:txBody>
      </p:sp>
      <p:sp>
        <p:nvSpPr>
          <p:cNvPr id="10" name="Shape 8"/>
          <p:cNvSpPr/>
          <p:nvPr/>
        </p:nvSpPr>
        <p:spPr>
          <a:xfrm>
            <a:off x="2990088" y="1801368"/>
            <a:ext cx="1920240" cy="0"/>
          </a:xfrm>
          <a:prstGeom prst="line">
            <a:avLst/>
          </a:prstGeom>
          <a:noFill/>
          <a:ln w="25400">
            <a:solidFill>
              <a:srgbClr val="A69BE8"/>
            </a:solidFill>
            <a:prstDash val="solid"/>
          </a:ln>
        </p:spPr>
      </p:sp>
      <p:sp>
        <p:nvSpPr>
          <p:cNvPr id="11" name="Text 9"/>
          <p:cNvSpPr/>
          <p:nvPr/>
        </p:nvSpPr>
        <p:spPr>
          <a:xfrm>
            <a:off x="2944368" y="1892808"/>
            <a:ext cx="2011680" cy="74980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What does each side see?</a:t>
            </a:r>
            <a:endParaRPr lang="en-US" sz="1050" dirty="0"/>
          </a:p>
        </p:txBody>
      </p:sp>
      <p:sp>
        <p:nvSpPr>
          <p:cNvPr id="12" name="Text 10"/>
          <p:cNvSpPr/>
          <p:nvPr/>
        </p:nvSpPr>
        <p:spPr>
          <a:xfrm>
            <a:off x="5111496" y="1417320"/>
            <a:ext cx="210312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E — Explore</a:t>
            </a:r>
            <a:endParaRPr lang="en-US" sz="1350" dirty="0"/>
          </a:p>
        </p:txBody>
      </p:sp>
      <p:sp>
        <p:nvSpPr>
          <p:cNvPr id="13" name="Shape 11"/>
          <p:cNvSpPr/>
          <p:nvPr/>
        </p:nvSpPr>
        <p:spPr>
          <a:xfrm>
            <a:off x="5202936" y="1801368"/>
            <a:ext cx="1920240" cy="0"/>
          </a:xfrm>
          <a:prstGeom prst="line">
            <a:avLst/>
          </a:prstGeom>
          <a:noFill/>
          <a:ln w="25400">
            <a:solidFill>
              <a:srgbClr val="A69BE8"/>
            </a:solidFill>
            <a:prstDash val="solid"/>
          </a:ln>
        </p:spPr>
      </p:sp>
      <p:sp>
        <p:nvSpPr>
          <p:cNvPr id="14" name="Text 12"/>
          <p:cNvSpPr/>
          <p:nvPr/>
        </p:nvSpPr>
        <p:spPr>
          <a:xfrm>
            <a:off x="5157216" y="1892808"/>
            <a:ext cx="2011680" cy="74980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What is affected?</a:t>
            </a:r>
            <a:endParaRPr lang="en-US" sz="1050" dirty="0"/>
          </a:p>
        </p:txBody>
      </p:sp>
      <p:sp>
        <p:nvSpPr>
          <p:cNvPr id="15" name="Text 13"/>
          <p:cNvSpPr/>
          <p:nvPr/>
        </p:nvSpPr>
        <p:spPr>
          <a:xfrm>
            <a:off x="7324344" y="1417320"/>
            <a:ext cx="21031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A — Agree</a:t>
            </a:r>
            <a:endParaRPr lang="en-US" sz="1350" dirty="0"/>
          </a:p>
        </p:txBody>
      </p:sp>
      <p:sp>
        <p:nvSpPr>
          <p:cNvPr id="16" name="Shape 14"/>
          <p:cNvSpPr/>
          <p:nvPr/>
        </p:nvSpPr>
        <p:spPr>
          <a:xfrm>
            <a:off x="7415784" y="1801368"/>
            <a:ext cx="1920240" cy="0"/>
          </a:xfrm>
          <a:prstGeom prst="line">
            <a:avLst/>
          </a:prstGeom>
          <a:noFill/>
          <a:ln w="25400">
            <a:solidFill>
              <a:srgbClr val="A69BE8"/>
            </a:solidFill>
            <a:prstDash val="solid"/>
          </a:ln>
        </p:spPr>
      </p:sp>
      <p:sp>
        <p:nvSpPr>
          <p:cNvPr id="17" name="Text 15"/>
          <p:cNvSpPr/>
          <p:nvPr/>
        </p:nvSpPr>
        <p:spPr>
          <a:xfrm>
            <a:off x="7370064" y="1892808"/>
            <a:ext cx="2011680" cy="74980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What will change?</a:t>
            </a:r>
            <a:endParaRPr lang="en-US" sz="1050" dirty="0"/>
          </a:p>
        </p:txBody>
      </p:sp>
      <p:sp>
        <p:nvSpPr>
          <p:cNvPr id="18" name="Text 16"/>
          <p:cNvSpPr/>
          <p:nvPr/>
        </p:nvSpPr>
        <p:spPr>
          <a:xfrm>
            <a:off x="9537192" y="1417320"/>
            <a:ext cx="210312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R — Review</a:t>
            </a:r>
            <a:endParaRPr lang="en-US" sz="1350" dirty="0"/>
          </a:p>
        </p:txBody>
      </p:sp>
      <p:sp>
        <p:nvSpPr>
          <p:cNvPr id="19" name="Shape 17"/>
          <p:cNvSpPr/>
          <p:nvPr/>
        </p:nvSpPr>
        <p:spPr>
          <a:xfrm>
            <a:off x="9628632" y="1801368"/>
            <a:ext cx="1920240" cy="0"/>
          </a:xfrm>
          <a:prstGeom prst="line">
            <a:avLst/>
          </a:prstGeom>
          <a:noFill/>
          <a:ln w="25400">
            <a:solidFill>
              <a:srgbClr val="A69BE8"/>
            </a:solidFill>
            <a:prstDash val="solid"/>
          </a:ln>
        </p:spPr>
      </p:sp>
      <p:sp>
        <p:nvSpPr>
          <p:cNvPr id="20" name="Text 18"/>
          <p:cNvSpPr/>
          <p:nvPr/>
        </p:nvSpPr>
        <p:spPr>
          <a:xfrm>
            <a:off x="9582912" y="1892808"/>
            <a:ext cx="2011680" cy="74980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When will we check progress?</a:t>
            </a:r>
            <a:endParaRPr lang="en-US" sz="1050" dirty="0"/>
          </a:p>
        </p:txBody>
      </p:sp>
      <p:sp>
        <p:nvSpPr>
          <p:cNvPr id="21" name="Text 19"/>
          <p:cNvSpPr/>
          <p:nvPr/>
        </p:nvSpPr>
        <p:spPr>
          <a:xfrm>
            <a:off x="1097280" y="3657600"/>
            <a:ext cx="9326880" cy="731520"/>
          </a:xfrm>
          <a:prstGeom prst="rect">
            <a:avLst/>
          </a:prstGeom>
          <a:noFill/>
          <a:ln/>
        </p:spPr>
        <p:txBody>
          <a:bodyPr wrap="square" lIns="635" tIns="635" rIns="635" bIns="635" rtlCol="0" anchor="ctr"/>
          <a:lstStyle/>
          <a:p>
            <a:pPr algn="ctr" indent="0" marL="0">
              <a:buNone/>
            </a:pPr>
            <a:r>
              <a:rPr lang="en-US" sz="2000" b="1" dirty="0">
                <a:solidFill>
                  <a:srgbClr val="17213F"/>
                </a:solidFill>
              </a:rPr>
              <a:t>Use the CLEAR framework to turn blame into shared problem-solving.</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CLEAR Framework Example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14</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420" dirty="0">
                <a:solidFill>
                  <a:srgbClr val="1F2937"/>
                </a:solidFill>
                <a:latin typeface="Aptos" pitchFamily="34" charset="0"/>
                <a:ea typeface="Aptos" pitchFamily="34" charset="-122"/>
                <a:cs typeface="Aptos" pitchFamily="34" charset="-120"/>
              </a:rPr>
              <a:t>Situation: A team feels another region is delaying responses.</a:t>
            </a:r>
            <a:endParaRPr lang="en-US" sz="1420" dirty="0"/>
          </a:p>
          <a:p>
            <a:r>
              <a:rPr lang="en-US" sz="1420" dirty="0">
                <a:solidFill>
                  <a:srgbClr val="1F2937"/>
                </a:solidFill>
                <a:latin typeface="Aptos" pitchFamily="34" charset="0"/>
                <a:ea typeface="Aptos" pitchFamily="34" charset="-122"/>
                <a:cs typeface="Aptos" pitchFamily="34" charset="-120"/>
              </a:rPr>
              <a:t>Clarify: “What response time was expected?”</a:t>
            </a:r>
            <a:endParaRPr lang="en-US" sz="1420" dirty="0"/>
          </a:p>
          <a:p>
            <a:r>
              <a:rPr lang="en-US" sz="1420" dirty="0">
                <a:solidFill>
                  <a:srgbClr val="1F2937"/>
                </a:solidFill>
                <a:latin typeface="Aptos" pitchFamily="34" charset="0"/>
                <a:ea typeface="Aptos" pitchFamily="34" charset="-122"/>
                <a:cs typeface="Aptos" pitchFamily="34" charset="-120"/>
              </a:rPr>
              <a:t>Listen: “How does each team experience the delay?”</a:t>
            </a:r>
            <a:endParaRPr lang="en-US" sz="1420" dirty="0"/>
          </a:p>
          <a:p>
            <a:r>
              <a:rPr lang="en-US" sz="1420" dirty="0">
                <a:solidFill>
                  <a:srgbClr val="1F2937"/>
                </a:solidFill>
                <a:latin typeface="Aptos" pitchFamily="34" charset="0"/>
                <a:ea typeface="Aptos" pitchFamily="34" charset="-122"/>
                <a:cs typeface="Aptos" pitchFamily="34" charset="-120"/>
              </a:rPr>
              <a:t>Explore: “What impact does this have on delivery?”</a:t>
            </a:r>
            <a:endParaRPr lang="en-US" sz="1420" dirty="0"/>
          </a:p>
          <a:p>
            <a:r>
              <a:rPr lang="en-US" sz="1420" dirty="0">
                <a:solidFill>
                  <a:srgbClr val="1F2937"/>
                </a:solidFill>
                <a:latin typeface="Aptos" pitchFamily="34" charset="0"/>
                <a:ea typeface="Aptos" pitchFamily="34" charset="-122"/>
                <a:cs typeface="Aptos" pitchFamily="34" charset="-120"/>
              </a:rPr>
              <a:t>Agree: “What response-time norm can we set?”</a:t>
            </a:r>
            <a:endParaRPr lang="en-US" sz="1420" dirty="0"/>
          </a:p>
          <a:p>
            <a:r>
              <a:rPr lang="en-US" sz="1420" dirty="0">
                <a:solidFill>
                  <a:srgbClr val="1F2937"/>
                </a:solidFill>
                <a:latin typeface="Aptos" pitchFamily="34" charset="0"/>
                <a:ea typeface="Aptos" pitchFamily="34" charset="-122"/>
                <a:cs typeface="Aptos" pitchFamily="34" charset="-120"/>
              </a:rPr>
              <a:t>Review: “Let’s check this again in two weeks.”</a:t>
            </a:r>
            <a:endParaRPr lang="en-US" sz="1420" dirty="0"/>
          </a:p>
        </p:txBody>
      </p:sp>
      <p:sp>
        <p:nvSpPr>
          <p:cNvPr id="7" name="Text 5"/>
          <p:cNvSpPr/>
          <p:nvPr/>
        </p:nvSpPr>
        <p:spPr>
          <a:xfrm>
            <a:off x="7680960" y="1417320"/>
            <a:ext cx="356616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Key Point</a:t>
            </a:r>
            <a:endParaRPr lang="en-US" sz="1350" dirty="0"/>
          </a:p>
        </p:txBody>
      </p:sp>
      <p:sp>
        <p:nvSpPr>
          <p:cNvPr id="8" name="Shape 6"/>
          <p:cNvSpPr/>
          <p:nvPr/>
        </p:nvSpPr>
        <p:spPr>
          <a:xfrm>
            <a:off x="7772400" y="1801368"/>
            <a:ext cx="3383280" cy="0"/>
          </a:xfrm>
          <a:prstGeom prst="line">
            <a:avLst/>
          </a:prstGeom>
          <a:noFill/>
          <a:ln w="25400">
            <a:solidFill>
              <a:srgbClr val="A69BE8"/>
            </a:solidFill>
            <a:prstDash val="solid"/>
          </a:ln>
        </p:spPr>
      </p:sp>
      <p:sp>
        <p:nvSpPr>
          <p:cNvPr id="9" name="Text 7"/>
          <p:cNvSpPr/>
          <p:nvPr/>
        </p:nvSpPr>
        <p:spPr>
          <a:xfrm>
            <a:off x="7726680" y="1892808"/>
            <a:ext cx="347472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Structure reduces defensiveness and turns conflict into action.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Mediation Checklist for Managers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15</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420" dirty="0">
                <a:solidFill>
                  <a:srgbClr val="1F2937"/>
                </a:solidFill>
                <a:latin typeface="Aptos" pitchFamily="34" charset="0"/>
                <a:ea typeface="Aptos" pitchFamily="34" charset="-122"/>
                <a:cs typeface="Aptos" pitchFamily="34" charset="-120"/>
              </a:rPr>
              <a:t>What is the visible issue?</a:t>
            </a:r>
            <a:endParaRPr lang="en-US" sz="1420" dirty="0"/>
          </a:p>
          <a:p>
            <a:r>
              <a:rPr lang="en-US" sz="1420" dirty="0">
                <a:solidFill>
                  <a:srgbClr val="1F2937"/>
                </a:solidFill>
                <a:latin typeface="Aptos" pitchFamily="34" charset="0"/>
                <a:ea typeface="Aptos" pitchFamily="34" charset="-122"/>
                <a:cs typeface="Aptos" pitchFamily="34" charset="-120"/>
              </a:rPr>
              <a:t>What might be the underlying issue?</a:t>
            </a:r>
            <a:endParaRPr lang="en-US" sz="1420" dirty="0"/>
          </a:p>
          <a:p>
            <a:r>
              <a:rPr lang="en-US" sz="1420" dirty="0">
                <a:solidFill>
                  <a:srgbClr val="1F2937"/>
                </a:solidFill>
                <a:latin typeface="Aptos" pitchFamily="34" charset="0"/>
                <a:ea typeface="Aptos" pitchFamily="34" charset="-122"/>
                <a:cs typeface="Aptos" pitchFamily="34" charset="-120"/>
              </a:rPr>
              <a:t>Who is involved?</a:t>
            </a:r>
            <a:endParaRPr lang="en-US" sz="1420" dirty="0"/>
          </a:p>
          <a:p>
            <a:r>
              <a:rPr lang="en-US" sz="1420" dirty="0">
                <a:solidFill>
                  <a:srgbClr val="1F2937"/>
                </a:solidFill>
                <a:latin typeface="Aptos" pitchFamily="34" charset="0"/>
                <a:ea typeface="Aptos" pitchFamily="34" charset="-122"/>
                <a:cs typeface="Aptos" pitchFamily="34" charset="-120"/>
              </a:rPr>
              <a:t>What facts are known?</a:t>
            </a:r>
            <a:endParaRPr lang="en-US" sz="1420" dirty="0"/>
          </a:p>
          <a:p>
            <a:r>
              <a:rPr lang="en-US" sz="1420" dirty="0">
                <a:solidFill>
                  <a:srgbClr val="1F2937"/>
                </a:solidFill>
                <a:latin typeface="Aptos" pitchFamily="34" charset="0"/>
                <a:ea typeface="Aptos" pitchFamily="34" charset="-122"/>
                <a:cs typeface="Aptos" pitchFamily="34" charset="-120"/>
              </a:rPr>
              <a:t>What assumptions are being made?</a:t>
            </a:r>
            <a:endParaRPr lang="en-US" sz="1420" dirty="0"/>
          </a:p>
          <a:p>
            <a:r>
              <a:rPr lang="en-US" sz="1420" dirty="0">
                <a:solidFill>
                  <a:srgbClr val="1F2937"/>
                </a:solidFill>
                <a:latin typeface="Aptos" pitchFamily="34" charset="0"/>
                <a:ea typeface="Aptos" pitchFamily="34" charset="-122"/>
                <a:cs typeface="Aptos" pitchFamily="34" charset="-120"/>
              </a:rPr>
              <a:t>What is the business impact?</a:t>
            </a:r>
            <a:endParaRPr lang="en-US" sz="1420" dirty="0"/>
          </a:p>
          <a:p>
            <a:r>
              <a:rPr lang="en-US" sz="1420" dirty="0">
                <a:solidFill>
                  <a:srgbClr val="1F2937"/>
                </a:solidFill>
                <a:latin typeface="Aptos" pitchFamily="34" charset="0"/>
                <a:ea typeface="Aptos" pitchFamily="34" charset="-122"/>
                <a:cs typeface="Aptos" pitchFamily="34" charset="-120"/>
              </a:rPr>
              <a:t>What cultural or time-zone factors may be involved?</a:t>
            </a:r>
            <a:endParaRPr lang="en-US" sz="1420" dirty="0"/>
          </a:p>
          <a:p>
            <a:r>
              <a:rPr lang="en-US" sz="1420" dirty="0">
                <a:solidFill>
                  <a:srgbClr val="1F2937"/>
                </a:solidFill>
                <a:latin typeface="Aptos" pitchFamily="34" charset="0"/>
                <a:ea typeface="Aptos" pitchFamily="34" charset="-122"/>
                <a:cs typeface="Aptos" pitchFamily="34" charset="-120"/>
              </a:rPr>
              <a:t>What outcome is needed?</a:t>
            </a:r>
            <a:endParaRPr lang="en-US" sz="1420" dirty="0"/>
          </a:p>
          <a:p>
            <a:r>
              <a:rPr lang="en-US" sz="1420" dirty="0">
                <a:solidFill>
                  <a:srgbClr val="1F2937"/>
                </a:solidFill>
                <a:latin typeface="Aptos" pitchFamily="34" charset="0"/>
                <a:ea typeface="Aptos" pitchFamily="34" charset="-122"/>
                <a:cs typeface="Aptos" pitchFamily="34" charset="-120"/>
              </a:rPr>
              <a:t>Who needs to be part of the conversation?</a:t>
            </a:r>
            <a:endParaRPr lang="en-US" sz="1420" dirty="0"/>
          </a:p>
          <a:p>
            <a:r>
              <a:rPr lang="en-US" sz="1420" dirty="0">
                <a:solidFill>
                  <a:srgbClr val="1F2937"/>
                </a:solidFill>
                <a:latin typeface="Aptos" pitchFamily="34" charset="0"/>
                <a:ea typeface="Aptos" pitchFamily="34" charset="-122"/>
                <a:cs typeface="Aptos" pitchFamily="34" charset="-120"/>
              </a:rPr>
              <a:t>What follow-up is required?</a:t>
            </a:r>
            <a:endParaRPr lang="en-US" sz="1420" dirty="0"/>
          </a:p>
        </p:txBody>
      </p:sp>
      <p:sp>
        <p:nvSpPr>
          <p:cNvPr id="7" name="Text 5"/>
          <p:cNvSpPr/>
          <p:nvPr/>
        </p:nvSpPr>
        <p:spPr>
          <a:xfrm>
            <a:off x="7680960" y="1417320"/>
            <a:ext cx="356616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Key Point</a:t>
            </a:r>
            <a:endParaRPr lang="en-US" sz="1350" dirty="0"/>
          </a:p>
        </p:txBody>
      </p:sp>
      <p:sp>
        <p:nvSpPr>
          <p:cNvPr id="8" name="Shape 6"/>
          <p:cNvSpPr/>
          <p:nvPr/>
        </p:nvSpPr>
        <p:spPr>
          <a:xfrm>
            <a:off x="7772400" y="1801368"/>
            <a:ext cx="3383280" cy="0"/>
          </a:xfrm>
          <a:prstGeom prst="line">
            <a:avLst/>
          </a:prstGeom>
          <a:noFill/>
          <a:ln w="25400">
            <a:solidFill>
              <a:srgbClr val="A69BE8"/>
            </a:solidFill>
            <a:prstDash val="solid"/>
          </a:ln>
        </p:spPr>
      </p:sp>
      <p:sp>
        <p:nvSpPr>
          <p:cNvPr id="9" name="Text 7"/>
          <p:cNvSpPr/>
          <p:nvPr/>
        </p:nvSpPr>
        <p:spPr>
          <a:xfrm>
            <a:off x="7726680" y="1892808"/>
            <a:ext cx="347472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Structure reduces defensiveness and turns conflict into action.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Session 4: Global Team Simulations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16</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420" dirty="0">
                <a:solidFill>
                  <a:srgbClr val="1F2937"/>
                </a:solidFill>
                <a:latin typeface="Aptos" pitchFamily="34" charset="0"/>
                <a:ea typeface="Aptos" pitchFamily="34" charset="-122"/>
                <a:cs typeface="Aptos" pitchFamily="34" charset="-120"/>
              </a:rPr>
              <a:t>Simulation 1: US &amp; India Communication Gap</a:t>
            </a:r>
            <a:endParaRPr lang="en-US" sz="1420" dirty="0"/>
          </a:p>
          <a:p>
            <a:r>
              <a:rPr lang="en-US" sz="1420" dirty="0">
                <a:solidFill>
                  <a:srgbClr val="1F2937"/>
                </a:solidFill>
                <a:latin typeface="Aptos" pitchFamily="34" charset="0"/>
                <a:ea typeface="Aptos" pitchFamily="34" charset="-122"/>
                <a:cs typeface="Aptos" pitchFamily="34" charset="-120"/>
              </a:rPr>
              <a:t>Simulation 2: Time Zone Friction</a:t>
            </a:r>
            <a:endParaRPr lang="en-US" sz="1420" dirty="0"/>
          </a:p>
          <a:p>
            <a:r>
              <a:rPr lang="en-US" sz="1420" dirty="0">
                <a:solidFill>
                  <a:srgbClr val="1F2937"/>
                </a:solidFill>
                <a:latin typeface="Aptos" pitchFamily="34" charset="0"/>
                <a:ea typeface="Aptos" pitchFamily="34" charset="-122"/>
                <a:cs typeface="Aptos" pitchFamily="34" charset="-120"/>
              </a:rPr>
              <a:t>Simulation 3: Product vs. Regulation Conflict</a:t>
            </a:r>
            <a:endParaRPr lang="en-US" sz="1420" dirty="0"/>
          </a:p>
          <a:p>
            <a:r>
              <a:rPr lang="en-US" sz="1420" dirty="0">
                <a:solidFill>
                  <a:srgbClr val="1F2937"/>
                </a:solidFill>
                <a:latin typeface="Aptos" pitchFamily="34" charset="0"/>
                <a:ea typeface="Aptos" pitchFamily="34" charset="-122"/>
                <a:cs typeface="Aptos" pitchFamily="34" charset="-120"/>
              </a:rPr>
              <a:t>Simulation 4: Tool Misalignment Between Teams</a:t>
            </a:r>
            <a:endParaRPr lang="en-US" sz="1420" dirty="0"/>
          </a:p>
        </p:txBody>
      </p:sp>
      <p:sp>
        <p:nvSpPr>
          <p:cNvPr id="7" name="Text 5"/>
          <p:cNvSpPr/>
          <p:nvPr/>
        </p:nvSpPr>
        <p:spPr>
          <a:xfrm>
            <a:off x="7680960" y="1417320"/>
            <a:ext cx="356616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Key Point</a:t>
            </a:r>
            <a:endParaRPr lang="en-US" sz="1350" dirty="0"/>
          </a:p>
        </p:txBody>
      </p:sp>
      <p:sp>
        <p:nvSpPr>
          <p:cNvPr id="8" name="Shape 6"/>
          <p:cNvSpPr/>
          <p:nvPr/>
        </p:nvSpPr>
        <p:spPr>
          <a:xfrm>
            <a:off x="7772400" y="1801368"/>
            <a:ext cx="3383280" cy="0"/>
          </a:xfrm>
          <a:prstGeom prst="line">
            <a:avLst/>
          </a:prstGeom>
          <a:noFill/>
          <a:ln w="25400">
            <a:solidFill>
              <a:srgbClr val="A69BE8"/>
            </a:solidFill>
            <a:prstDash val="solid"/>
          </a:ln>
        </p:spPr>
      </p:sp>
      <p:sp>
        <p:nvSpPr>
          <p:cNvPr id="9" name="Text 7"/>
          <p:cNvSpPr/>
          <p:nvPr/>
        </p:nvSpPr>
        <p:spPr>
          <a:xfrm>
            <a:off x="7726680" y="1892808"/>
            <a:ext cx="347472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Structure reduces defensiveness and turns conflict into action.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1: US &amp; India Communication Gap</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17</a:t>
            </a:r>
            <a:endParaRPr lang="en-US" sz="750" dirty="0"/>
          </a:p>
        </p:txBody>
      </p:sp>
      <p:sp>
        <p:nvSpPr>
          <p:cNvPr id="6" name="Text 4"/>
          <p:cNvSpPr/>
          <p:nvPr/>
        </p:nvSpPr>
        <p:spPr>
          <a:xfrm>
            <a:off x="685800" y="1143000"/>
            <a:ext cx="676656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Scenario</a:t>
            </a:r>
            <a:endParaRPr lang="en-US" sz="1350" dirty="0"/>
          </a:p>
        </p:txBody>
      </p:sp>
      <p:sp>
        <p:nvSpPr>
          <p:cNvPr id="7" name="Shape 5"/>
          <p:cNvSpPr/>
          <p:nvPr/>
        </p:nvSpPr>
        <p:spPr>
          <a:xfrm>
            <a:off x="777240" y="1527048"/>
            <a:ext cx="6583680" cy="0"/>
          </a:xfrm>
          <a:prstGeom prst="line">
            <a:avLst/>
          </a:prstGeom>
          <a:noFill/>
          <a:ln w="25400">
            <a:solidFill>
              <a:srgbClr val="DDEBFF"/>
            </a:solidFill>
            <a:prstDash val="solid"/>
          </a:ln>
        </p:spPr>
      </p:sp>
      <p:sp>
        <p:nvSpPr>
          <p:cNvPr id="8" name="Text 6"/>
          <p:cNvSpPr/>
          <p:nvPr/>
        </p:nvSpPr>
        <p:spPr>
          <a:xfrm>
            <a:off x="731520" y="1618488"/>
            <a:ext cx="6675120" cy="129844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 US-based product manager sends direct feedback to an India-based engineering team: “This solution does not meet the requirements. Please fix it by tomorrow.” The engineering team feels disrespected and does not respond openly in the meeting, but later delays the next delivery.</a:t>
            </a:r>
            <a:endParaRPr lang="en-US" sz="1050" dirty="0"/>
          </a:p>
        </p:txBody>
      </p:sp>
      <p:sp>
        <p:nvSpPr>
          <p:cNvPr id="9" name="Text 7"/>
          <p:cNvSpPr/>
          <p:nvPr/>
        </p:nvSpPr>
        <p:spPr>
          <a:xfrm>
            <a:off x="7726680" y="1143000"/>
            <a:ext cx="3474720" cy="320040"/>
          </a:xfrm>
          <a:prstGeom prst="rect">
            <a:avLst/>
          </a:prstGeom>
          <a:solidFill>
            <a:srgbClr val="FDECC8"/>
          </a:solidFill>
          <a:ln>
            <a:solidFill>
              <a:srgbClr val="FDECC8">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Conflict Source</a:t>
            </a:r>
            <a:endParaRPr lang="en-US" sz="1350" dirty="0"/>
          </a:p>
        </p:txBody>
      </p:sp>
      <p:sp>
        <p:nvSpPr>
          <p:cNvPr id="10" name="Shape 8"/>
          <p:cNvSpPr/>
          <p:nvPr/>
        </p:nvSpPr>
        <p:spPr>
          <a:xfrm>
            <a:off x="7818120" y="1527048"/>
            <a:ext cx="3291840" cy="0"/>
          </a:xfrm>
          <a:prstGeom prst="line">
            <a:avLst/>
          </a:prstGeom>
          <a:noFill/>
          <a:ln w="25400">
            <a:solidFill>
              <a:srgbClr val="A69BE8"/>
            </a:solidFill>
            <a:prstDash val="solid"/>
          </a:ln>
        </p:spPr>
      </p:sp>
      <p:sp>
        <p:nvSpPr>
          <p:cNvPr id="11" name="Text 9"/>
          <p:cNvSpPr/>
          <p:nvPr/>
        </p:nvSpPr>
        <p:spPr>
          <a:xfrm>
            <a:off x="7772400" y="1618488"/>
            <a:ext cx="3383280" cy="384048"/>
          </a:xfrm>
          <a:prstGeom prst="rect">
            <a:avLst/>
          </a:prstGeom>
          <a:solidFill>
            <a:srgbClr val="FDECC8"/>
          </a:solidFill>
          <a:ln>
            <a:solidFill>
              <a:srgbClr val="FDECC8">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Different communication and feedback norms.</a:t>
            </a:r>
            <a:endParaRPr lang="en-US" sz="1050" dirty="0"/>
          </a:p>
        </p:txBody>
      </p:sp>
      <p:sp>
        <p:nvSpPr>
          <p:cNvPr id="12" name="Text 10"/>
          <p:cNvSpPr/>
          <p:nvPr/>
        </p:nvSpPr>
        <p:spPr>
          <a:xfrm>
            <a:off x="7726680" y="23317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Team Task</a:t>
            </a:r>
            <a:endParaRPr lang="en-US" sz="1350" dirty="0"/>
          </a:p>
        </p:txBody>
      </p:sp>
      <p:sp>
        <p:nvSpPr>
          <p:cNvPr id="13" name="Shape 11"/>
          <p:cNvSpPr/>
          <p:nvPr/>
        </p:nvSpPr>
        <p:spPr>
          <a:xfrm>
            <a:off x="7818120" y="2715768"/>
            <a:ext cx="3291840" cy="0"/>
          </a:xfrm>
          <a:prstGeom prst="line">
            <a:avLst/>
          </a:prstGeom>
          <a:noFill/>
          <a:ln w="25400">
            <a:solidFill>
              <a:srgbClr val="A69BE8"/>
            </a:solidFill>
            <a:prstDash val="solid"/>
          </a:ln>
        </p:spPr>
      </p:sp>
      <p:sp>
        <p:nvSpPr>
          <p:cNvPr id="14" name="Text 12"/>
          <p:cNvSpPr/>
          <p:nvPr/>
        </p:nvSpPr>
        <p:spPr>
          <a:xfrm>
            <a:off x="7772400" y="2807208"/>
            <a:ext cx="3383280" cy="5669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Identify what went wrong and rewrite the interaction.</a:t>
            </a:r>
            <a:endParaRPr lang="en-US" sz="1050" dirty="0"/>
          </a:p>
        </p:txBody>
      </p:sp>
      <p:sp>
        <p:nvSpPr>
          <p:cNvPr id="15" name="Text 13"/>
          <p:cNvSpPr/>
          <p:nvPr/>
        </p:nvSpPr>
        <p:spPr>
          <a:xfrm>
            <a:off x="685800" y="3749040"/>
            <a:ext cx="10515600" cy="320040"/>
          </a:xfrm>
          <a:prstGeom prst="rect">
            <a:avLst/>
          </a:prstGeom>
          <a:solidFill>
            <a:srgbClr val="DDF7EC"/>
          </a:solidFill>
          <a:ln>
            <a:solidFill>
              <a:srgbClr val="DDF7EC">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Learning Point</a:t>
            </a:r>
            <a:endParaRPr lang="en-US" sz="1350" dirty="0"/>
          </a:p>
        </p:txBody>
      </p:sp>
      <p:sp>
        <p:nvSpPr>
          <p:cNvPr id="16" name="Shape 14"/>
          <p:cNvSpPr/>
          <p:nvPr/>
        </p:nvSpPr>
        <p:spPr>
          <a:xfrm>
            <a:off x="777240" y="4133088"/>
            <a:ext cx="10332720" cy="0"/>
          </a:xfrm>
          <a:prstGeom prst="line">
            <a:avLst/>
          </a:prstGeom>
          <a:noFill/>
          <a:ln w="25400">
            <a:solidFill>
              <a:srgbClr val="A69BE8"/>
            </a:solidFill>
            <a:prstDash val="solid"/>
          </a:ln>
        </p:spPr>
      </p:sp>
      <p:sp>
        <p:nvSpPr>
          <p:cNvPr id="17" name="Text 15"/>
          <p:cNvSpPr/>
          <p:nvPr/>
        </p:nvSpPr>
        <p:spPr>
          <a:xfrm>
            <a:off x="731520" y="4224528"/>
            <a:ext cx="10424160" cy="704088"/>
          </a:xfrm>
          <a:prstGeom prst="rect">
            <a:avLst/>
          </a:prstGeom>
          <a:solidFill>
            <a:srgbClr val="DDF7EC"/>
          </a:solidFill>
          <a:ln>
            <a:solidFill>
              <a:srgbClr val="DDF7EC">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Direct feedback should be balanced with respect, context and psychological safety.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1 Discussion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18</a:t>
            </a:r>
            <a:endParaRPr lang="en-US" sz="750" dirty="0"/>
          </a:p>
        </p:txBody>
      </p:sp>
      <p:sp>
        <p:nvSpPr>
          <p:cNvPr id="6" name="Text 4"/>
          <p:cNvSpPr/>
          <p:nvPr/>
        </p:nvSpPr>
        <p:spPr>
          <a:xfrm>
            <a:off x="868680" y="1234440"/>
            <a:ext cx="6675120" cy="4206240"/>
          </a:xfrm>
          <a:prstGeom prst="rect">
            <a:avLst/>
          </a:prstGeom>
          <a:noFill/>
          <a:ln/>
        </p:spPr>
        <p:txBody>
          <a:bodyPr wrap="square" lIns="1016" tIns="1016" rIns="1016" bIns="1016" rtlCol="0" anchor="ctr">
            <a:normAutofit/>
          </a:bodyPr>
          <a:lstStyle/>
          <a:p>
            <a:r>
              <a:rPr lang="en-US" sz="1600" dirty="0">
                <a:solidFill>
                  <a:srgbClr val="1F2937"/>
                </a:solidFill>
                <a:latin typeface="Aptos" pitchFamily="34" charset="0"/>
                <a:ea typeface="Aptos" pitchFamily="34" charset="-122"/>
                <a:cs typeface="Aptos" pitchFamily="34" charset="-120"/>
              </a:rPr>
              <a:t>What did the US manager intend?</a:t>
            </a:r>
            <a:endParaRPr lang="en-US" sz="1600" dirty="0"/>
          </a:p>
          <a:p>
            <a:r>
              <a:rPr lang="en-US" sz="1600" dirty="0">
                <a:solidFill>
                  <a:srgbClr val="1F2937"/>
                </a:solidFill>
                <a:latin typeface="Aptos" pitchFamily="34" charset="0"/>
                <a:ea typeface="Aptos" pitchFamily="34" charset="-122"/>
                <a:cs typeface="Aptos" pitchFamily="34" charset="-120"/>
              </a:rPr>
              <a:t>How might the India team have interpreted the message?</a:t>
            </a:r>
            <a:endParaRPr lang="en-US" sz="1600" dirty="0"/>
          </a:p>
          <a:p>
            <a:r>
              <a:rPr lang="en-US" sz="1600" dirty="0">
                <a:solidFill>
                  <a:srgbClr val="1F2937"/>
                </a:solidFill>
                <a:latin typeface="Aptos" pitchFamily="34" charset="0"/>
                <a:ea typeface="Aptos" pitchFamily="34" charset="-122"/>
                <a:cs typeface="Aptos" pitchFamily="34" charset="-120"/>
              </a:rPr>
              <a:t>What context was missing?</a:t>
            </a:r>
            <a:endParaRPr lang="en-US" sz="1600" dirty="0"/>
          </a:p>
          <a:p>
            <a:r>
              <a:rPr lang="en-US" sz="1600" dirty="0">
                <a:solidFill>
                  <a:srgbClr val="1F2937"/>
                </a:solidFill>
                <a:latin typeface="Aptos" pitchFamily="34" charset="0"/>
                <a:ea typeface="Aptos" pitchFamily="34" charset="-122"/>
                <a:cs typeface="Aptos" pitchFamily="34" charset="-120"/>
              </a:rPr>
              <a:t>How could feedback be delivered more constructively?</a:t>
            </a:r>
            <a:endParaRPr lang="en-US" sz="1600" dirty="0"/>
          </a:p>
          <a:p>
            <a:r>
              <a:rPr lang="en-US" sz="1600" dirty="0">
                <a:solidFill>
                  <a:srgbClr val="1F2937"/>
                </a:solidFill>
                <a:latin typeface="Aptos" pitchFamily="34" charset="0"/>
                <a:ea typeface="Aptos" pitchFamily="34" charset="-122"/>
                <a:cs typeface="Aptos" pitchFamily="34" charset="-120"/>
              </a:rPr>
              <a:t>What team norm would prevent this next time?</a:t>
            </a:r>
            <a:endParaRPr lang="en-US" sz="1600" dirty="0"/>
          </a:p>
        </p:txBody>
      </p:sp>
      <p:sp>
        <p:nvSpPr>
          <p:cNvPr id="7" name="Text 5"/>
          <p:cNvSpPr/>
          <p:nvPr/>
        </p:nvSpPr>
        <p:spPr>
          <a:xfrm>
            <a:off x="7726680" y="1417320"/>
            <a:ext cx="347472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Guidance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Ask participants to identify assumptions, missing context, and the practical agreement that would prevent recurrence.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2: Time Zone Friction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19</a:t>
            </a:r>
            <a:endParaRPr lang="en-US" sz="750" dirty="0"/>
          </a:p>
        </p:txBody>
      </p:sp>
      <p:sp>
        <p:nvSpPr>
          <p:cNvPr id="6" name="Text 4"/>
          <p:cNvSpPr/>
          <p:nvPr/>
        </p:nvSpPr>
        <p:spPr>
          <a:xfrm>
            <a:off x="685800" y="1143000"/>
            <a:ext cx="676656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Scenario</a:t>
            </a:r>
            <a:endParaRPr lang="en-US" sz="1350" dirty="0"/>
          </a:p>
        </p:txBody>
      </p:sp>
      <p:sp>
        <p:nvSpPr>
          <p:cNvPr id="7" name="Shape 5"/>
          <p:cNvSpPr/>
          <p:nvPr/>
        </p:nvSpPr>
        <p:spPr>
          <a:xfrm>
            <a:off x="777240" y="1527048"/>
            <a:ext cx="6583680" cy="0"/>
          </a:xfrm>
          <a:prstGeom prst="line">
            <a:avLst/>
          </a:prstGeom>
          <a:noFill/>
          <a:ln w="25400">
            <a:solidFill>
              <a:srgbClr val="DDEBFF"/>
            </a:solidFill>
            <a:prstDash val="solid"/>
          </a:ln>
        </p:spPr>
      </p:sp>
      <p:sp>
        <p:nvSpPr>
          <p:cNvPr id="8" name="Text 6"/>
          <p:cNvSpPr/>
          <p:nvPr/>
        </p:nvSpPr>
        <p:spPr>
          <a:xfrm>
            <a:off x="731520" y="1618488"/>
            <a:ext cx="6675120" cy="129844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 team in Brazil regularly receives meeting requests from Australia at inconvenient hours. Over time, the Brazil team feels their work-life balance is being ignored.</a:t>
            </a:r>
            <a:endParaRPr lang="en-US" sz="1050" dirty="0"/>
          </a:p>
        </p:txBody>
      </p:sp>
      <p:sp>
        <p:nvSpPr>
          <p:cNvPr id="9" name="Text 7"/>
          <p:cNvSpPr/>
          <p:nvPr/>
        </p:nvSpPr>
        <p:spPr>
          <a:xfrm>
            <a:off x="7726680" y="1143000"/>
            <a:ext cx="3474720" cy="320040"/>
          </a:xfrm>
          <a:prstGeom prst="rect">
            <a:avLst/>
          </a:prstGeom>
          <a:solidFill>
            <a:srgbClr val="FDECC8"/>
          </a:solidFill>
          <a:ln>
            <a:solidFill>
              <a:srgbClr val="FDECC8">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Conflict Source</a:t>
            </a:r>
            <a:endParaRPr lang="en-US" sz="1350" dirty="0"/>
          </a:p>
        </p:txBody>
      </p:sp>
      <p:sp>
        <p:nvSpPr>
          <p:cNvPr id="10" name="Shape 8"/>
          <p:cNvSpPr/>
          <p:nvPr/>
        </p:nvSpPr>
        <p:spPr>
          <a:xfrm>
            <a:off x="7818120" y="1527048"/>
            <a:ext cx="3291840" cy="0"/>
          </a:xfrm>
          <a:prstGeom prst="line">
            <a:avLst/>
          </a:prstGeom>
          <a:noFill/>
          <a:ln w="25400">
            <a:solidFill>
              <a:srgbClr val="A69BE8"/>
            </a:solidFill>
            <a:prstDash val="solid"/>
          </a:ln>
        </p:spPr>
      </p:sp>
      <p:sp>
        <p:nvSpPr>
          <p:cNvPr id="11" name="Text 9"/>
          <p:cNvSpPr/>
          <p:nvPr/>
        </p:nvSpPr>
        <p:spPr>
          <a:xfrm>
            <a:off x="7772400" y="1618488"/>
            <a:ext cx="3383280" cy="384048"/>
          </a:xfrm>
          <a:prstGeom prst="rect">
            <a:avLst/>
          </a:prstGeom>
          <a:solidFill>
            <a:srgbClr val="FDECC8"/>
          </a:solidFill>
          <a:ln>
            <a:solidFill>
              <a:srgbClr val="FDECC8">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Time-zone inequality and meeting fatigue.</a:t>
            </a:r>
            <a:endParaRPr lang="en-US" sz="1050" dirty="0"/>
          </a:p>
        </p:txBody>
      </p:sp>
      <p:sp>
        <p:nvSpPr>
          <p:cNvPr id="12" name="Text 10"/>
          <p:cNvSpPr/>
          <p:nvPr/>
        </p:nvSpPr>
        <p:spPr>
          <a:xfrm>
            <a:off x="7726680" y="23317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Team Task</a:t>
            </a:r>
            <a:endParaRPr lang="en-US" sz="1350" dirty="0"/>
          </a:p>
        </p:txBody>
      </p:sp>
      <p:sp>
        <p:nvSpPr>
          <p:cNvPr id="13" name="Shape 11"/>
          <p:cNvSpPr/>
          <p:nvPr/>
        </p:nvSpPr>
        <p:spPr>
          <a:xfrm>
            <a:off x="7818120" y="2715768"/>
            <a:ext cx="3291840" cy="0"/>
          </a:xfrm>
          <a:prstGeom prst="line">
            <a:avLst/>
          </a:prstGeom>
          <a:noFill/>
          <a:ln w="25400">
            <a:solidFill>
              <a:srgbClr val="A69BE8"/>
            </a:solidFill>
            <a:prstDash val="solid"/>
          </a:ln>
        </p:spPr>
      </p:sp>
      <p:sp>
        <p:nvSpPr>
          <p:cNvPr id="14" name="Text 12"/>
          <p:cNvSpPr/>
          <p:nvPr/>
        </p:nvSpPr>
        <p:spPr>
          <a:xfrm>
            <a:off x="7772400" y="2807208"/>
            <a:ext cx="3383280" cy="5669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Create a fair collaboration norm for meetings and asynchronous updates.</a:t>
            </a:r>
            <a:endParaRPr lang="en-US" sz="1050" dirty="0"/>
          </a:p>
        </p:txBody>
      </p:sp>
      <p:sp>
        <p:nvSpPr>
          <p:cNvPr id="15" name="Text 13"/>
          <p:cNvSpPr/>
          <p:nvPr/>
        </p:nvSpPr>
        <p:spPr>
          <a:xfrm>
            <a:off x="685800" y="3749040"/>
            <a:ext cx="10515600" cy="320040"/>
          </a:xfrm>
          <a:prstGeom prst="rect">
            <a:avLst/>
          </a:prstGeom>
          <a:solidFill>
            <a:srgbClr val="DDF7EC"/>
          </a:solidFill>
          <a:ln>
            <a:solidFill>
              <a:srgbClr val="DDF7EC">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Learning Point</a:t>
            </a:r>
            <a:endParaRPr lang="en-US" sz="1350" dirty="0"/>
          </a:p>
        </p:txBody>
      </p:sp>
      <p:sp>
        <p:nvSpPr>
          <p:cNvPr id="16" name="Shape 14"/>
          <p:cNvSpPr/>
          <p:nvPr/>
        </p:nvSpPr>
        <p:spPr>
          <a:xfrm>
            <a:off x="777240" y="4133088"/>
            <a:ext cx="10332720" cy="0"/>
          </a:xfrm>
          <a:prstGeom prst="line">
            <a:avLst/>
          </a:prstGeom>
          <a:noFill/>
          <a:ln w="25400">
            <a:solidFill>
              <a:srgbClr val="A69BE8"/>
            </a:solidFill>
            <a:prstDash val="solid"/>
          </a:ln>
        </p:spPr>
      </p:sp>
      <p:sp>
        <p:nvSpPr>
          <p:cNvPr id="17" name="Text 15"/>
          <p:cNvSpPr/>
          <p:nvPr/>
        </p:nvSpPr>
        <p:spPr>
          <a:xfrm>
            <a:off x="731520" y="4224528"/>
            <a:ext cx="10424160" cy="704088"/>
          </a:xfrm>
          <a:prstGeom prst="rect">
            <a:avLst/>
          </a:prstGeom>
          <a:solidFill>
            <a:srgbClr val="DDF7EC"/>
          </a:solidFill>
          <a:ln>
            <a:solidFill>
              <a:srgbClr val="DDF7EC">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Global collaboration requires fairness in time-zone planning and stronger async work practices.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2 Discussion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20</a:t>
            </a:r>
            <a:endParaRPr lang="en-US" sz="750" dirty="0"/>
          </a:p>
        </p:txBody>
      </p:sp>
      <p:sp>
        <p:nvSpPr>
          <p:cNvPr id="6" name="Text 4"/>
          <p:cNvSpPr/>
          <p:nvPr/>
        </p:nvSpPr>
        <p:spPr>
          <a:xfrm>
            <a:off x="868680" y="1234440"/>
            <a:ext cx="6675120" cy="4206240"/>
          </a:xfrm>
          <a:prstGeom prst="rect">
            <a:avLst/>
          </a:prstGeom>
          <a:noFill/>
          <a:ln/>
        </p:spPr>
        <p:txBody>
          <a:bodyPr wrap="square" lIns="1016" tIns="1016" rIns="1016" bIns="1016" rtlCol="0" anchor="ctr">
            <a:normAutofit/>
          </a:bodyPr>
          <a:lstStyle/>
          <a:p>
            <a:r>
              <a:rPr lang="en-US" sz="1600" dirty="0">
                <a:solidFill>
                  <a:srgbClr val="1F2937"/>
                </a:solidFill>
                <a:latin typeface="Aptos" pitchFamily="34" charset="0"/>
                <a:ea typeface="Aptos" pitchFamily="34" charset="-122"/>
                <a:cs typeface="Aptos" pitchFamily="34" charset="-120"/>
              </a:rPr>
              <a:t>Which team is carrying the time-zone burden?</a:t>
            </a:r>
            <a:endParaRPr lang="en-US" sz="1600" dirty="0"/>
          </a:p>
          <a:p>
            <a:r>
              <a:rPr lang="en-US" sz="1600" dirty="0">
                <a:solidFill>
                  <a:srgbClr val="1F2937"/>
                </a:solidFill>
                <a:latin typeface="Aptos" pitchFamily="34" charset="0"/>
                <a:ea typeface="Aptos" pitchFamily="34" charset="-122"/>
                <a:cs typeface="Aptos" pitchFamily="34" charset="-120"/>
              </a:rPr>
              <a:t>Which meetings must be live?</a:t>
            </a:r>
            <a:endParaRPr lang="en-US" sz="1600" dirty="0"/>
          </a:p>
          <a:p>
            <a:r>
              <a:rPr lang="en-US" sz="1600" dirty="0">
                <a:solidFill>
                  <a:srgbClr val="1F2937"/>
                </a:solidFill>
                <a:latin typeface="Aptos" pitchFamily="34" charset="0"/>
                <a:ea typeface="Aptos" pitchFamily="34" charset="-122"/>
                <a:cs typeface="Aptos" pitchFamily="34" charset="-120"/>
              </a:rPr>
              <a:t>Which updates can be asynchronous?</a:t>
            </a:r>
            <a:endParaRPr lang="en-US" sz="1600" dirty="0"/>
          </a:p>
          <a:p>
            <a:r>
              <a:rPr lang="en-US" sz="1600" dirty="0">
                <a:solidFill>
                  <a:srgbClr val="1F2937"/>
                </a:solidFill>
                <a:latin typeface="Aptos" pitchFamily="34" charset="0"/>
                <a:ea typeface="Aptos" pitchFamily="34" charset="-122"/>
                <a:cs typeface="Aptos" pitchFamily="34" charset="-120"/>
              </a:rPr>
              <a:t>How should meeting times rotate?</a:t>
            </a:r>
            <a:endParaRPr lang="en-US" sz="1600" dirty="0"/>
          </a:p>
          <a:p>
            <a:r>
              <a:rPr lang="en-US" sz="1600" dirty="0">
                <a:solidFill>
                  <a:srgbClr val="1F2937"/>
                </a:solidFill>
                <a:latin typeface="Aptos" pitchFamily="34" charset="0"/>
                <a:ea typeface="Aptos" pitchFamily="34" charset="-122"/>
                <a:cs typeface="Aptos" pitchFamily="34" charset="-120"/>
              </a:rPr>
              <a:t>What should be documented after meetings?</a:t>
            </a:r>
            <a:endParaRPr lang="en-US" sz="1600" dirty="0"/>
          </a:p>
        </p:txBody>
      </p:sp>
      <p:sp>
        <p:nvSpPr>
          <p:cNvPr id="7" name="Text 5"/>
          <p:cNvSpPr/>
          <p:nvPr/>
        </p:nvSpPr>
        <p:spPr>
          <a:xfrm>
            <a:off x="7726680" y="1417320"/>
            <a:ext cx="347472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Guidance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Ask participants to identify assumptions, missing context, and the practical agreement that would prevent recurrence.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3: Product vs. Regulation Conflict</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21</a:t>
            </a:r>
            <a:endParaRPr lang="en-US" sz="750" dirty="0"/>
          </a:p>
        </p:txBody>
      </p:sp>
      <p:sp>
        <p:nvSpPr>
          <p:cNvPr id="6" name="Text 4"/>
          <p:cNvSpPr/>
          <p:nvPr/>
        </p:nvSpPr>
        <p:spPr>
          <a:xfrm>
            <a:off x="685800" y="1143000"/>
            <a:ext cx="676656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Scenario</a:t>
            </a:r>
            <a:endParaRPr lang="en-US" sz="1350" dirty="0"/>
          </a:p>
        </p:txBody>
      </p:sp>
      <p:sp>
        <p:nvSpPr>
          <p:cNvPr id="7" name="Shape 5"/>
          <p:cNvSpPr/>
          <p:nvPr/>
        </p:nvSpPr>
        <p:spPr>
          <a:xfrm>
            <a:off x="777240" y="1527048"/>
            <a:ext cx="6583680" cy="0"/>
          </a:xfrm>
          <a:prstGeom prst="line">
            <a:avLst/>
          </a:prstGeom>
          <a:noFill/>
          <a:ln w="25400">
            <a:solidFill>
              <a:srgbClr val="DDEBFF"/>
            </a:solidFill>
            <a:prstDash val="solid"/>
          </a:ln>
        </p:spPr>
      </p:sp>
      <p:sp>
        <p:nvSpPr>
          <p:cNvPr id="8" name="Text 6"/>
          <p:cNvSpPr/>
          <p:nvPr/>
        </p:nvSpPr>
        <p:spPr>
          <a:xfrm>
            <a:off x="731520" y="1618488"/>
            <a:ext cx="6675120" cy="129844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 Product team wants to launch a feature quickly to meet a market opportunity. The Regulation team asks to delay launch due to country-specific compliance concerns.</a:t>
            </a:r>
            <a:endParaRPr lang="en-US" sz="1050" dirty="0"/>
          </a:p>
        </p:txBody>
      </p:sp>
      <p:sp>
        <p:nvSpPr>
          <p:cNvPr id="9" name="Text 7"/>
          <p:cNvSpPr/>
          <p:nvPr/>
        </p:nvSpPr>
        <p:spPr>
          <a:xfrm>
            <a:off x="7726680" y="1143000"/>
            <a:ext cx="3474720" cy="320040"/>
          </a:xfrm>
          <a:prstGeom prst="rect">
            <a:avLst/>
          </a:prstGeom>
          <a:solidFill>
            <a:srgbClr val="FDECC8"/>
          </a:solidFill>
          <a:ln>
            <a:solidFill>
              <a:srgbClr val="FDECC8">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Conflict Source</a:t>
            </a:r>
            <a:endParaRPr lang="en-US" sz="1350" dirty="0"/>
          </a:p>
        </p:txBody>
      </p:sp>
      <p:sp>
        <p:nvSpPr>
          <p:cNvPr id="10" name="Shape 8"/>
          <p:cNvSpPr/>
          <p:nvPr/>
        </p:nvSpPr>
        <p:spPr>
          <a:xfrm>
            <a:off x="7818120" y="1527048"/>
            <a:ext cx="3291840" cy="0"/>
          </a:xfrm>
          <a:prstGeom prst="line">
            <a:avLst/>
          </a:prstGeom>
          <a:noFill/>
          <a:ln w="25400">
            <a:solidFill>
              <a:srgbClr val="A69BE8"/>
            </a:solidFill>
            <a:prstDash val="solid"/>
          </a:ln>
        </p:spPr>
      </p:sp>
      <p:sp>
        <p:nvSpPr>
          <p:cNvPr id="11" name="Text 9"/>
          <p:cNvSpPr/>
          <p:nvPr/>
        </p:nvSpPr>
        <p:spPr>
          <a:xfrm>
            <a:off x="7772400" y="1618488"/>
            <a:ext cx="3383280" cy="384048"/>
          </a:xfrm>
          <a:prstGeom prst="rect">
            <a:avLst/>
          </a:prstGeom>
          <a:solidFill>
            <a:srgbClr val="FDECC8"/>
          </a:solidFill>
          <a:ln>
            <a:solidFill>
              <a:srgbClr val="FDECC8">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Competing priorities: speed vs. compliance.</a:t>
            </a:r>
            <a:endParaRPr lang="en-US" sz="1050" dirty="0"/>
          </a:p>
        </p:txBody>
      </p:sp>
      <p:sp>
        <p:nvSpPr>
          <p:cNvPr id="12" name="Text 10"/>
          <p:cNvSpPr/>
          <p:nvPr/>
        </p:nvSpPr>
        <p:spPr>
          <a:xfrm>
            <a:off x="7726680" y="23317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Team Task</a:t>
            </a:r>
            <a:endParaRPr lang="en-US" sz="1350" dirty="0"/>
          </a:p>
        </p:txBody>
      </p:sp>
      <p:sp>
        <p:nvSpPr>
          <p:cNvPr id="13" name="Shape 11"/>
          <p:cNvSpPr/>
          <p:nvPr/>
        </p:nvSpPr>
        <p:spPr>
          <a:xfrm>
            <a:off x="7818120" y="2715768"/>
            <a:ext cx="3291840" cy="0"/>
          </a:xfrm>
          <a:prstGeom prst="line">
            <a:avLst/>
          </a:prstGeom>
          <a:noFill/>
          <a:ln w="25400">
            <a:solidFill>
              <a:srgbClr val="A69BE8"/>
            </a:solidFill>
            <a:prstDash val="solid"/>
          </a:ln>
        </p:spPr>
      </p:sp>
      <p:sp>
        <p:nvSpPr>
          <p:cNvPr id="14" name="Text 12"/>
          <p:cNvSpPr/>
          <p:nvPr/>
        </p:nvSpPr>
        <p:spPr>
          <a:xfrm>
            <a:off x="7772400" y="2807208"/>
            <a:ext cx="3383280" cy="5669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Use the CLEAR framework to reach an action plan.</a:t>
            </a:r>
            <a:endParaRPr lang="en-US" sz="1050" dirty="0"/>
          </a:p>
        </p:txBody>
      </p:sp>
      <p:sp>
        <p:nvSpPr>
          <p:cNvPr id="15" name="Text 13"/>
          <p:cNvSpPr/>
          <p:nvPr/>
        </p:nvSpPr>
        <p:spPr>
          <a:xfrm>
            <a:off x="685800" y="3749040"/>
            <a:ext cx="10515600" cy="320040"/>
          </a:xfrm>
          <a:prstGeom prst="rect">
            <a:avLst/>
          </a:prstGeom>
          <a:solidFill>
            <a:srgbClr val="DDF7EC"/>
          </a:solidFill>
          <a:ln>
            <a:solidFill>
              <a:srgbClr val="DDF7EC">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Learning Point</a:t>
            </a:r>
            <a:endParaRPr lang="en-US" sz="1350" dirty="0"/>
          </a:p>
        </p:txBody>
      </p:sp>
      <p:sp>
        <p:nvSpPr>
          <p:cNvPr id="16" name="Shape 14"/>
          <p:cNvSpPr/>
          <p:nvPr/>
        </p:nvSpPr>
        <p:spPr>
          <a:xfrm>
            <a:off x="777240" y="4133088"/>
            <a:ext cx="10332720" cy="0"/>
          </a:xfrm>
          <a:prstGeom prst="line">
            <a:avLst/>
          </a:prstGeom>
          <a:noFill/>
          <a:ln w="25400">
            <a:solidFill>
              <a:srgbClr val="A69BE8"/>
            </a:solidFill>
            <a:prstDash val="solid"/>
          </a:ln>
        </p:spPr>
      </p:sp>
      <p:sp>
        <p:nvSpPr>
          <p:cNvPr id="17" name="Text 15"/>
          <p:cNvSpPr/>
          <p:nvPr/>
        </p:nvSpPr>
        <p:spPr>
          <a:xfrm>
            <a:off x="731520" y="4224528"/>
            <a:ext cx="10424160" cy="704088"/>
          </a:xfrm>
          <a:prstGeom prst="rect">
            <a:avLst/>
          </a:prstGeom>
          <a:solidFill>
            <a:srgbClr val="DDF7EC"/>
          </a:solidFill>
          <a:ln>
            <a:solidFill>
              <a:srgbClr val="DDF7EC">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Cross-functional conflict often reflects competing legitimate goals.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3 Discussion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22</a:t>
            </a:r>
            <a:endParaRPr lang="en-US" sz="750" dirty="0"/>
          </a:p>
        </p:txBody>
      </p:sp>
      <p:sp>
        <p:nvSpPr>
          <p:cNvPr id="6" name="Text 4"/>
          <p:cNvSpPr/>
          <p:nvPr/>
        </p:nvSpPr>
        <p:spPr>
          <a:xfrm>
            <a:off x="868680" y="1234440"/>
            <a:ext cx="6675120" cy="4206240"/>
          </a:xfrm>
          <a:prstGeom prst="rect">
            <a:avLst/>
          </a:prstGeom>
          <a:noFill/>
          <a:ln/>
        </p:spPr>
        <p:txBody>
          <a:bodyPr wrap="square" lIns="1016" tIns="1016" rIns="1016" bIns="1016" rtlCol="0" anchor="ctr">
            <a:normAutofit/>
          </a:bodyPr>
          <a:lstStyle/>
          <a:p>
            <a:r>
              <a:rPr lang="en-US" sz="1600" dirty="0">
                <a:solidFill>
                  <a:srgbClr val="1F2937"/>
                </a:solidFill>
                <a:latin typeface="Aptos" pitchFamily="34" charset="0"/>
                <a:ea typeface="Aptos" pitchFamily="34" charset="-122"/>
                <a:cs typeface="Aptos" pitchFamily="34" charset="-120"/>
              </a:rPr>
              <a:t>What does Product need?</a:t>
            </a:r>
            <a:endParaRPr lang="en-US" sz="1600" dirty="0"/>
          </a:p>
          <a:p>
            <a:r>
              <a:rPr lang="en-US" sz="1600" dirty="0">
                <a:solidFill>
                  <a:srgbClr val="1F2937"/>
                </a:solidFill>
                <a:latin typeface="Aptos" pitchFamily="34" charset="0"/>
                <a:ea typeface="Aptos" pitchFamily="34" charset="-122"/>
                <a:cs typeface="Aptos" pitchFamily="34" charset="-120"/>
              </a:rPr>
              <a:t>What does Regulation need?</a:t>
            </a:r>
            <a:endParaRPr lang="en-US" sz="1600" dirty="0"/>
          </a:p>
          <a:p>
            <a:r>
              <a:rPr lang="en-US" sz="1600" dirty="0">
                <a:solidFill>
                  <a:srgbClr val="1F2937"/>
                </a:solidFill>
                <a:latin typeface="Aptos" pitchFamily="34" charset="0"/>
                <a:ea typeface="Aptos" pitchFamily="34" charset="-122"/>
                <a:cs typeface="Aptos" pitchFamily="34" charset="-120"/>
              </a:rPr>
              <a:t>What is the risk of launching too fast?</a:t>
            </a:r>
            <a:endParaRPr lang="en-US" sz="1600" dirty="0"/>
          </a:p>
          <a:p>
            <a:r>
              <a:rPr lang="en-US" sz="1600" dirty="0">
                <a:solidFill>
                  <a:srgbClr val="1F2937"/>
                </a:solidFill>
                <a:latin typeface="Aptos" pitchFamily="34" charset="0"/>
                <a:ea typeface="Aptos" pitchFamily="34" charset="-122"/>
                <a:cs typeface="Aptos" pitchFamily="34" charset="-120"/>
              </a:rPr>
              <a:t>What is the risk of delaying too much?</a:t>
            </a:r>
            <a:endParaRPr lang="en-US" sz="1600" dirty="0"/>
          </a:p>
          <a:p>
            <a:r>
              <a:rPr lang="en-US" sz="1600" dirty="0">
                <a:solidFill>
                  <a:srgbClr val="1F2937"/>
                </a:solidFill>
                <a:latin typeface="Aptos" pitchFamily="34" charset="0"/>
                <a:ea typeface="Aptos" pitchFamily="34" charset="-122"/>
                <a:cs typeface="Aptos" pitchFamily="34" charset="-120"/>
              </a:rPr>
              <a:t>What decision path would balance both needs?</a:t>
            </a:r>
            <a:endParaRPr lang="en-US" sz="1600" dirty="0"/>
          </a:p>
        </p:txBody>
      </p:sp>
      <p:sp>
        <p:nvSpPr>
          <p:cNvPr id="7" name="Text 5"/>
          <p:cNvSpPr/>
          <p:nvPr/>
        </p:nvSpPr>
        <p:spPr>
          <a:xfrm>
            <a:off x="7726680" y="1417320"/>
            <a:ext cx="347472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Guidance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Ask participants to identify assumptions, missing context, and the practical agreement that would prevent recurrence.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4: Tool Misalignment</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23</a:t>
            </a:r>
            <a:endParaRPr lang="en-US" sz="750" dirty="0"/>
          </a:p>
        </p:txBody>
      </p:sp>
      <p:sp>
        <p:nvSpPr>
          <p:cNvPr id="6" name="Text 4"/>
          <p:cNvSpPr/>
          <p:nvPr/>
        </p:nvSpPr>
        <p:spPr>
          <a:xfrm>
            <a:off x="685800" y="1143000"/>
            <a:ext cx="6766560" cy="320040"/>
          </a:xfrm>
          <a:prstGeom prst="rect">
            <a:avLst/>
          </a:prstGeom>
          <a:solidFill>
            <a:srgbClr val="FFFFFF"/>
          </a:solidFill>
          <a:ln>
            <a:solidFill>
              <a:srgbClr val="FFFF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Scenario</a:t>
            </a:r>
            <a:endParaRPr lang="en-US" sz="1350" dirty="0"/>
          </a:p>
        </p:txBody>
      </p:sp>
      <p:sp>
        <p:nvSpPr>
          <p:cNvPr id="7" name="Shape 5"/>
          <p:cNvSpPr/>
          <p:nvPr/>
        </p:nvSpPr>
        <p:spPr>
          <a:xfrm>
            <a:off x="777240" y="1527048"/>
            <a:ext cx="6583680" cy="0"/>
          </a:xfrm>
          <a:prstGeom prst="line">
            <a:avLst/>
          </a:prstGeom>
          <a:noFill/>
          <a:ln w="25400">
            <a:solidFill>
              <a:srgbClr val="DDEBFF"/>
            </a:solidFill>
            <a:prstDash val="solid"/>
          </a:ln>
        </p:spPr>
      </p:sp>
      <p:sp>
        <p:nvSpPr>
          <p:cNvPr id="8" name="Text 6"/>
          <p:cNvSpPr/>
          <p:nvPr/>
        </p:nvSpPr>
        <p:spPr>
          <a:xfrm>
            <a:off x="731520" y="1618488"/>
            <a:ext cx="6675120" cy="1298448"/>
          </a:xfrm>
          <a:prstGeom prst="rect">
            <a:avLst/>
          </a:prstGeom>
          <a:solidFill>
            <a:srgbClr val="FFFFFF"/>
          </a:solidFill>
          <a:ln>
            <a:solidFill>
              <a:srgbClr val="FFFF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The Engineering team tracks decisions in one project tool, while the Operations team tracks tasks in another. A key decision is missed, causing duplicated work and frustration.</a:t>
            </a:r>
            <a:endParaRPr lang="en-US" sz="1050" dirty="0"/>
          </a:p>
        </p:txBody>
      </p:sp>
      <p:sp>
        <p:nvSpPr>
          <p:cNvPr id="9" name="Text 7"/>
          <p:cNvSpPr/>
          <p:nvPr/>
        </p:nvSpPr>
        <p:spPr>
          <a:xfrm>
            <a:off x="7726680" y="1143000"/>
            <a:ext cx="3474720" cy="320040"/>
          </a:xfrm>
          <a:prstGeom prst="rect">
            <a:avLst/>
          </a:prstGeom>
          <a:solidFill>
            <a:srgbClr val="FDECC8"/>
          </a:solidFill>
          <a:ln>
            <a:solidFill>
              <a:srgbClr val="FDECC8">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Conflict Source</a:t>
            </a:r>
            <a:endParaRPr lang="en-US" sz="1350" dirty="0"/>
          </a:p>
        </p:txBody>
      </p:sp>
      <p:sp>
        <p:nvSpPr>
          <p:cNvPr id="10" name="Shape 8"/>
          <p:cNvSpPr/>
          <p:nvPr/>
        </p:nvSpPr>
        <p:spPr>
          <a:xfrm>
            <a:off x="7818120" y="1527048"/>
            <a:ext cx="3291840" cy="0"/>
          </a:xfrm>
          <a:prstGeom prst="line">
            <a:avLst/>
          </a:prstGeom>
          <a:noFill/>
          <a:ln w="25400">
            <a:solidFill>
              <a:srgbClr val="A69BE8"/>
            </a:solidFill>
            <a:prstDash val="solid"/>
          </a:ln>
        </p:spPr>
      </p:sp>
      <p:sp>
        <p:nvSpPr>
          <p:cNvPr id="11" name="Text 9"/>
          <p:cNvSpPr/>
          <p:nvPr/>
        </p:nvSpPr>
        <p:spPr>
          <a:xfrm>
            <a:off x="7772400" y="1618488"/>
            <a:ext cx="3383280" cy="384048"/>
          </a:xfrm>
          <a:prstGeom prst="rect">
            <a:avLst/>
          </a:prstGeom>
          <a:solidFill>
            <a:srgbClr val="FDECC8"/>
          </a:solidFill>
          <a:ln>
            <a:solidFill>
              <a:srgbClr val="FDECC8">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Inconsistent tool usage and unclear source of truth.</a:t>
            </a:r>
            <a:endParaRPr lang="en-US" sz="1050" dirty="0"/>
          </a:p>
        </p:txBody>
      </p:sp>
      <p:sp>
        <p:nvSpPr>
          <p:cNvPr id="12" name="Text 10"/>
          <p:cNvSpPr/>
          <p:nvPr/>
        </p:nvSpPr>
        <p:spPr>
          <a:xfrm>
            <a:off x="7726680" y="23317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Team Task</a:t>
            </a:r>
            <a:endParaRPr lang="en-US" sz="1350" dirty="0"/>
          </a:p>
        </p:txBody>
      </p:sp>
      <p:sp>
        <p:nvSpPr>
          <p:cNvPr id="13" name="Shape 11"/>
          <p:cNvSpPr/>
          <p:nvPr/>
        </p:nvSpPr>
        <p:spPr>
          <a:xfrm>
            <a:off x="7818120" y="2715768"/>
            <a:ext cx="3291840" cy="0"/>
          </a:xfrm>
          <a:prstGeom prst="line">
            <a:avLst/>
          </a:prstGeom>
          <a:noFill/>
          <a:ln w="25400">
            <a:solidFill>
              <a:srgbClr val="A69BE8"/>
            </a:solidFill>
            <a:prstDash val="solid"/>
          </a:ln>
        </p:spPr>
      </p:sp>
      <p:sp>
        <p:nvSpPr>
          <p:cNvPr id="14" name="Text 12"/>
          <p:cNvSpPr/>
          <p:nvPr/>
        </p:nvSpPr>
        <p:spPr>
          <a:xfrm>
            <a:off x="7772400" y="2807208"/>
            <a:ext cx="3383280" cy="5669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Define a shared communication and documentation agreement.</a:t>
            </a:r>
            <a:endParaRPr lang="en-US" sz="1050" dirty="0"/>
          </a:p>
        </p:txBody>
      </p:sp>
      <p:sp>
        <p:nvSpPr>
          <p:cNvPr id="15" name="Text 13"/>
          <p:cNvSpPr/>
          <p:nvPr/>
        </p:nvSpPr>
        <p:spPr>
          <a:xfrm>
            <a:off x="685800" y="3749040"/>
            <a:ext cx="10515600" cy="320040"/>
          </a:xfrm>
          <a:prstGeom prst="rect">
            <a:avLst/>
          </a:prstGeom>
          <a:solidFill>
            <a:srgbClr val="DDF7EC"/>
          </a:solidFill>
          <a:ln>
            <a:solidFill>
              <a:srgbClr val="DDF7EC">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Learning Point</a:t>
            </a:r>
            <a:endParaRPr lang="en-US" sz="1350" dirty="0"/>
          </a:p>
        </p:txBody>
      </p:sp>
      <p:sp>
        <p:nvSpPr>
          <p:cNvPr id="16" name="Shape 14"/>
          <p:cNvSpPr/>
          <p:nvPr/>
        </p:nvSpPr>
        <p:spPr>
          <a:xfrm>
            <a:off x="777240" y="4133088"/>
            <a:ext cx="10332720" cy="0"/>
          </a:xfrm>
          <a:prstGeom prst="line">
            <a:avLst/>
          </a:prstGeom>
          <a:noFill/>
          <a:ln w="25400">
            <a:solidFill>
              <a:srgbClr val="A69BE8"/>
            </a:solidFill>
            <a:prstDash val="solid"/>
          </a:ln>
        </p:spPr>
      </p:sp>
      <p:sp>
        <p:nvSpPr>
          <p:cNvPr id="17" name="Text 15"/>
          <p:cNvSpPr/>
          <p:nvPr/>
        </p:nvSpPr>
        <p:spPr>
          <a:xfrm>
            <a:off x="731520" y="4224528"/>
            <a:ext cx="10424160" cy="704088"/>
          </a:xfrm>
          <a:prstGeom prst="rect">
            <a:avLst/>
          </a:prstGeom>
          <a:solidFill>
            <a:srgbClr val="DDF7EC"/>
          </a:solidFill>
          <a:ln>
            <a:solidFill>
              <a:srgbClr val="DDF7EC">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Collaboration tools only work when teams share clear norms for how to use them.</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Simulation 4 Discussion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24</a:t>
            </a:r>
            <a:endParaRPr lang="en-US" sz="750" dirty="0"/>
          </a:p>
        </p:txBody>
      </p:sp>
      <p:sp>
        <p:nvSpPr>
          <p:cNvPr id="6" name="Text 4"/>
          <p:cNvSpPr/>
          <p:nvPr/>
        </p:nvSpPr>
        <p:spPr>
          <a:xfrm>
            <a:off x="868680" y="1234440"/>
            <a:ext cx="6675120" cy="4206240"/>
          </a:xfrm>
          <a:prstGeom prst="rect">
            <a:avLst/>
          </a:prstGeom>
          <a:noFill/>
          <a:ln/>
        </p:spPr>
        <p:txBody>
          <a:bodyPr wrap="square" lIns="1016" tIns="1016" rIns="1016" bIns="1016" rtlCol="0" anchor="ctr">
            <a:normAutofit/>
          </a:bodyPr>
          <a:lstStyle/>
          <a:p>
            <a:r>
              <a:rPr lang="en-US" sz="1600" dirty="0">
                <a:solidFill>
                  <a:srgbClr val="1F2937"/>
                </a:solidFill>
                <a:latin typeface="Aptos" pitchFamily="34" charset="0"/>
                <a:ea typeface="Aptos" pitchFamily="34" charset="-122"/>
                <a:cs typeface="Aptos" pitchFamily="34" charset="-120"/>
              </a:rPr>
              <a:t>What was the source of truth?</a:t>
            </a:r>
            <a:endParaRPr lang="en-US" sz="1600" dirty="0"/>
          </a:p>
          <a:p>
            <a:r>
              <a:rPr lang="en-US" sz="1600" dirty="0">
                <a:solidFill>
                  <a:srgbClr val="1F2937"/>
                </a:solidFill>
                <a:latin typeface="Aptos" pitchFamily="34" charset="0"/>
                <a:ea typeface="Aptos" pitchFamily="34" charset="-122"/>
                <a:cs typeface="Aptos" pitchFamily="34" charset="-120"/>
              </a:rPr>
              <a:t>Which decisions should be documented?</a:t>
            </a:r>
            <a:endParaRPr lang="en-US" sz="1600" dirty="0"/>
          </a:p>
          <a:p>
            <a:r>
              <a:rPr lang="en-US" sz="1600" dirty="0">
                <a:solidFill>
                  <a:srgbClr val="1F2937"/>
                </a:solidFill>
                <a:latin typeface="Aptos" pitchFamily="34" charset="0"/>
                <a:ea typeface="Aptos" pitchFamily="34" charset="-122"/>
                <a:cs typeface="Aptos" pitchFamily="34" charset="-120"/>
              </a:rPr>
              <a:t>Which tool should be used for what purpose?</a:t>
            </a:r>
            <a:endParaRPr lang="en-US" sz="1600" dirty="0"/>
          </a:p>
          <a:p>
            <a:r>
              <a:rPr lang="en-US" sz="1600" dirty="0">
                <a:solidFill>
                  <a:srgbClr val="1F2937"/>
                </a:solidFill>
                <a:latin typeface="Aptos" pitchFamily="34" charset="0"/>
                <a:ea typeface="Aptos" pitchFamily="34" charset="-122"/>
                <a:cs typeface="Aptos" pitchFamily="34" charset="-120"/>
              </a:rPr>
              <a:t>Who owns updating the team?</a:t>
            </a:r>
            <a:endParaRPr lang="en-US" sz="1600" dirty="0"/>
          </a:p>
          <a:p>
            <a:r>
              <a:rPr lang="en-US" sz="1600" dirty="0">
                <a:solidFill>
                  <a:srgbClr val="1F2937"/>
                </a:solidFill>
                <a:latin typeface="Aptos" pitchFamily="34" charset="0"/>
                <a:ea typeface="Aptos" pitchFamily="34" charset="-122"/>
                <a:cs typeface="Aptos" pitchFamily="34" charset="-120"/>
              </a:rPr>
              <a:t>What working agreement would prevent this?</a:t>
            </a:r>
            <a:endParaRPr lang="en-US" sz="1600" dirty="0"/>
          </a:p>
        </p:txBody>
      </p:sp>
      <p:sp>
        <p:nvSpPr>
          <p:cNvPr id="7" name="Text 5"/>
          <p:cNvSpPr/>
          <p:nvPr/>
        </p:nvSpPr>
        <p:spPr>
          <a:xfrm>
            <a:off x="7726680" y="1417320"/>
            <a:ext cx="3474720" cy="320040"/>
          </a:xfrm>
          <a:prstGeom prst="rect">
            <a:avLst/>
          </a:prstGeom>
          <a:solidFill>
            <a:srgbClr val="DDEBFF"/>
          </a:solidFill>
          <a:ln>
            <a:solidFill>
              <a:srgbClr val="DDEB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Facilitator Guidance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DDEBFF"/>
          </a:solidFill>
          <a:ln>
            <a:solidFill>
              <a:srgbClr val="DDEB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Ask participants to identify assumptions, missing context, and the practical agreement that would prevent recurrence.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Session 5: Team Working Agreement</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25</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Response-time expectations</a:t>
            </a:r>
            <a:endParaRPr lang="en-US" sz="1500" dirty="0"/>
          </a:p>
          <a:p>
            <a:r>
              <a:rPr lang="en-US" sz="1500" dirty="0">
                <a:solidFill>
                  <a:srgbClr val="1F2937"/>
                </a:solidFill>
                <a:latin typeface="Aptos" pitchFamily="34" charset="0"/>
                <a:ea typeface="Aptos" pitchFamily="34" charset="-122"/>
                <a:cs typeface="Aptos" pitchFamily="34" charset="-120"/>
              </a:rPr>
              <a:t>Meeting norms and rotation of inconvenient times</a:t>
            </a:r>
            <a:endParaRPr lang="en-US" sz="1500" dirty="0"/>
          </a:p>
          <a:p>
            <a:r>
              <a:rPr lang="en-US" sz="1500" dirty="0">
                <a:solidFill>
                  <a:srgbClr val="1F2937"/>
                </a:solidFill>
                <a:latin typeface="Aptos" pitchFamily="34" charset="0"/>
                <a:ea typeface="Aptos" pitchFamily="34" charset="-122"/>
                <a:cs typeface="Aptos" pitchFamily="34" charset="-120"/>
              </a:rPr>
              <a:t>Asynchronous update rules</a:t>
            </a:r>
            <a:endParaRPr lang="en-US" sz="1500" dirty="0"/>
          </a:p>
          <a:p>
            <a:r>
              <a:rPr lang="en-US" sz="1500" dirty="0">
                <a:solidFill>
                  <a:srgbClr val="1F2937"/>
                </a:solidFill>
                <a:latin typeface="Aptos" pitchFamily="34" charset="0"/>
                <a:ea typeface="Aptos" pitchFamily="34" charset="-122"/>
                <a:cs typeface="Aptos" pitchFamily="34" charset="-120"/>
              </a:rPr>
              <a:t>Decision ownership</a:t>
            </a:r>
            <a:endParaRPr lang="en-US" sz="1500" dirty="0"/>
          </a:p>
          <a:p>
            <a:r>
              <a:rPr lang="en-US" sz="1500" dirty="0">
                <a:solidFill>
                  <a:srgbClr val="1F2937"/>
                </a:solidFill>
                <a:latin typeface="Aptos" pitchFamily="34" charset="0"/>
                <a:ea typeface="Aptos" pitchFamily="34" charset="-122"/>
                <a:cs typeface="Aptos" pitchFamily="34" charset="-120"/>
              </a:rPr>
              <a:t>Escalation paths</a:t>
            </a:r>
            <a:endParaRPr lang="en-US" sz="1500" dirty="0"/>
          </a:p>
          <a:p>
            <a:r>
              <a:rPr lang="en-US" sz="1500" dirty="0">
                <a:solidFill>
                  <a:srgbClr val="1F2937"/>
                </a:solidFill>
                <a:latin typeface="Aptos" pitchFamily="34" charset="0"/>
                <a:ea typeface="Aptos" pitchFamily="34" charset="-122"/>
                <a:cs typeface="Aptos" pitchFamily="34" charset="-120"/>
              </a:rPr>
              <a:t>Feedback norms</a:t>
            </a:r>
            <a:endParaRPr lang="en-US" sz="1500" dirty="0"/>
          </a:p>
          <a:p>
            <a:r>
              <a:rPr lang="en-US" sz="1500" dirty="0">
                <a:solidFill>
                  <a:srgbClr val="1F2937"/>
                </a:solidFill>
                <a:latin typeface="Aptos" pitchFamily="34" charset="0"/>
                <a:ea typeface="Aptos" pitchFamily="34" charset="-122"/>
                <a:cs typeface="Aptos" pitchFamily="34" charset="-120"/>
              </a:rPr>
              <a:t>Preferred tools and source of truth</a:t>
            </a:r>
            <a:endParaRPr lang="en-US" sz="1500" dirty="0"/>
          </a:p>
          <a:p>
            <a:r>
              <a:rPr lang="en-US" sz="1500" dirty="0">
                <a:solidFill>
                  <a:srgbClr val="1F2937"/>
                </a:solidFill>
                <a:latin typeface="Aptos" pitchFamily="34" charset="0"/>
                <a:ea typeface="Aptos" pitchFamily="34" charset="-122"/>
                <a:cs typeface="Aptos" pitchFamily="34" charset="-120"/>
              </a:rPr>
              <a:t>Documentation expectations</a:t>
            </a:r>
            <a:endParaRPr lang="en-US" sz="1500" dirty="0"/>
          </a:p>
        </p:txBody>
      </p:sp>
      <p:sp>
        <p:nvSpPr>
          <p:cNvPr id="7" name="Text 5"/>
          <p:cNvSpPr/>
          <p:nvPr/>
        </p:nvSpPr>
        <p:spPr>
          <a:xfrm>
            <a:off x="7726680" y="14173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Portfolio Value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Shows L&amp;D partner skills: needs analysis, manager enablement, simulation-based learning, knowledge management and KPI-based measurement.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Team Working Agreement Template</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26</a:t>
            </a:r>
            <a:endParaRPr lang="en-US" sz="750" dirty="0"/>
          </a:p>
        </p:txBody>
      </p:sp>
      <p:sp>
        <p:nvSpPr>
          <p:cNvPr id="6" name="Text 4"/>
          <p:cNvSpPr/>
          <p:nvPr/>
        </p:nvSpPr>
        <p:spPr>
          <a:xfrm>
            <a:off x="914400" y="1234440"/>
            <a:ext cx="2926080" cy="502920"/>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Area</a:t>
            </a:r>
            <a:endParaRPr lang="en-US" sz="1050" dirty="0"/>
          </a:p>
        </p:txBody>
      </p:sp>
      <p:sp>
        <p:nvSpPr>
          <p:cNvPr id="7" name="Text 5"/>
          <p:cNvSpPr/>
          <p:nvPr/>
        </p:nvSpPr>
        <p:spPr>
          <a:xfrm>
            <a:off x="3840480" y="1234440"/>
            <a:ext cx="7315200" cy="502920"/>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Team Agreement</a:t>
            </a:r>
            <a:endParaRPr lang="en-US" sz="1050" dirty="0"/>
          </a:p>
        </p:txBody>
      </p:sp>
      <p:sp>
        <p:nvSpPr>
          <p:cNvPr id="8" name="Text 6"/>
          <p:cNvSpPr/>
          <p:nvPr/>
        </p:nvSpPr>
        <p:spPr>
          <a:xfrm>
            <a:off x="914400" y="1737360"/>
            <a:ext cx="292608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Response time</a:t>
            </a:r>
            <a:endParaRPr lang="en-US" sz="950" dirty="0"/>
          </a:p>
        </p:txBody>
      </p:sp>
      <p:sp>
        <p:nvSpPr>
          <p:cNvPr id="9" name="Text 7"/>
          <p:cNvSpPr/>
          <p:nvPr/>
        </p:nvSpPr>
        <p:spPr>
          <a:xfrm>
            <a:off x="3840480" y="1737360"/>
            <a:ext cx="7315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respond within 24 business hours</a:t>
            </a:r>
            <a:endParaRPr lang="en-US" sz="950" dirty="0"/>
          </a:p>
        </p:txBody>
      </p:sp>
      <p:sp>
        <p:nvSpPr>
          <p:cNvPr id="10" name="Text 8"/>
          <p:cNvSpPr/>
          <p:nvPr/>
        </p:nvSpPr>
        <p:spPr>
          <a:xfrm>
            <a:off x="914400" y="2240280"/>
            <a:ext cx="292608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Meetings</a:t>
            </a:r>
            <a:endParaRPr lang="en-US" sz="950" dirty="0"/>
          </a:p>
        </p:txBody>
      </p:sp>
      <p:sp>
        <p:nvSpPr>
          <p:cNvPr id="11" name="Text 9"/>
          <p:cNvSpPr/>
          <p:nvPr/>
        </p:nvSpPr>
        <p:spPr>
          <a:xfrm>
            <a:off x="3840480" y="2240280"/>
            <a:ext cx="7315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rotate inconvenient meeting times</a:t>
            </a:r>
            <a:endParaRPr lang="en-US" sz="950" dirty="0"/>
          </a:p>
        </p:txBody>
      </p:sp>
      <p:sp>
        <p:nvSpPr>
          <p:cNvPr id="12" name="Text 10"/>
          <p:cNvSpPr/>
          <p:nvPr/>
        </p:nvSpPr>
        <p:spPr>
          <a:xfrm>
            <a:off x="914400" y="2743200"/>
            <a:ext cx="292608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Async updates</a:t>
            </a:r>
            <a:endParaRPr lang="en-US" sz="950" dirty="0"/>
          </a:p>
        </p:txBody>
      </p:sp>
      <p:sp>
        <p:nvSpPr>
          <p:cNvPr id="13" name="Text 11"/>
          <p:cNvSpPr/>
          <p:nvPr/>
        </p:nvSpPr>
        <p:spPr>
          <a:xfrm>
            <a:off x="3840480" y="2743200"/>
            <a:ext cx="7315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share written weekly updates</a:t>
            </a:r>
            <a:endParaRPr lang="en-US" sz="950" dirty="0"/>
          </a:p>
        </p:txBody>
      </p:sp>
      <p:sp>
        <p:nvSpPr>
          <p:cNvPr id="14" name="Text 12"/>
          <p:cNvSpPr/>
          <p:nvPr/>
        </p:nvSpPr>
        <p:spPr>
          <a:xfrm>
            <a:off x="914400" y="3246120"/>
            <a:ext cx="292608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Decisions</a:t>
            </a:r>
            <a:endParaRPr lang="en-US" sz="950" dirty="0"/>
          </a:p>
        </p:txBody>
      </p:sp>
      <p:sp>
        <p:nvSpPr>
          <p:cNvPr id="15" name="Text 13"/>
          <p:cNvSpPr/>
          <p:nvPr/>
        </p:nvSpPr>
        <p:spPr>
          <a:xfrm>
            <a:off x="3840480" y="3246120"/>
            <a:ext cx="7315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document decisions in one shared place</a:t>
            </a:r>
            <a:endParaRPr lang="en-US" sz="950" dirty="0"/>
          </a:p>
        </p:txBody>
      </p:sp>
      <p:sp>
        <p:nvSpPr>
          <p:cNvPr id="16" name="Text 14"/>
          <p:cNvSpPr/>
          <p:nvPr/>
        </p:nvSpPr>
        <p:spPr>
          <a:xfrm>
            <a:off x="914400" y="3749040"/>
            <a:ext cx="292608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Feedback</a:t>
            </a:r>
            <a:endParaRPr lang="en-US" sz="950" dirty="0"/>
          </a:p>
        </p:txBody>
      </p:sp>
      <p:sp>
        <p:nvSpPr>
          <p:cNvPr id="17" name="Text 15"/>
          <p:cNvSpPr/>
          <p:nvPr/>
        </p:nvSpPr>
        <p:spPr>
          <a:xfrm>
            <a:off x="3840480" y="3749040"/>
            <a:ext cx="7315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give feedback with context and impact</a:t>
            </a:r>
            <a:endParaRPr lang="en-US" sz="950" dirty="0"/>
          </a:p>
        </p:txBody>
      </p:sp>
      <p:sp>
        <p:nvSpPr>
          <p:cNvPr id="18" name="Text 16"/>
          <p:cNvSpPr/>
          <p:nvPr/>
        </p:nvSpPr>
        <p:spPr>
          <a:xfrm>
            <a:off x="914400" y="4251960"/>
            <a:ext cx="292608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Escalation</a:t>
            </a:r>
            <a:endParaRPr lang="en-US" sz="950" dirty="0"/>
          </a:p>
        </p:txBody>
      </p:sp>
      <p:sp>
        <p:nvSpPr>
          <p:cNvPr id="19" name="Text 17"/>
          <p:cNvSpPr/>
          <p:nvPr/>
        </p:nvSpPr>
        <p:spPr>
          <a:xfrm>
            <a:off x="3840480" y="4251960"/>
            <a:ext cx="7315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escalate unresolved blockers after 48 hours</a:t>
            </a:r>
            <a:endParaRPr lang="en-US" sz="950" dirty="0"/>
          </a:p>
        </p:txBody>
      </p:sp>
      <p:sp>
        <p:nvSpPr>
          <p:cNvPr id="20" name="Text 18"/>
          <p:cNvSpPr/>
          <p:nvPr/>
        </p:nvSpPr>
        <p:spPr>
          <a:xfrm>
            <a:off x="914400" y="4754880"/>
            <a:ext cx="292608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Tools</a:t>
            </a:r>
            <a:endParaRPr lang="en-US" sz="950" dirty="0"/>
          </a:p>
        </p:txBody>
      </p:sp>
      <p:sp>
        <p:nvSpPr>
          <p:cNvPr id="21" name="Text 19"/>
          <p:cNvSpPr/>
          <p:nvPr/>
        </p:nvSpPr>
        <p:spPr>
          <a:xfrm>
            <a:off x="3840480" y="4754880"/>
            <a:ext cx="7315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We define one source of truth for tasks and decisions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Measurement Plan</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27</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Training completion</a:t>
            </a:r>
            <a:endParaRPr lang="en-US" sz="1500" dirty="0"/>
          </a:p>
          <a:p>
            <a:r>
              <a:rPr lang="en-US" sz="1500" dirty="0">
                <a:solidFill>
                  <a:srgbClr val="1F2937"/>
                </a:solidFill>
                <a:latin typeface="Aptos" pitchFamily="34" charset="0"/>
                <a:ea typeface="Aptos" pitchFamily="34" charset="-122"/>
                <a:cs typeface="Aptos" pitchFamily="34" charset="-120"/>
              </a:rPr>
              <a:t>Manager confidence before / after</a:t>
            </a:r>
            <a:endParaRPr lang="en-US" sz="1500" dirty="0"/>
          </a:p>
          <a:p>
            <a:r>
              <a:rPr lang="en-US" sz="1500" dirty="0">
                <a:solidFill>
                  <a:srgbClr val="1F2937"/>
                </a:solidFill>
                <a:latin typeface="Aptos" pitchFamily="34" charset="0"/>
                <a:ea typeface="Aptos" pitchFamily="34" charset="-122"/>
                <a:cs typeface="Aptos" pitchFamily="34" charset="-120"/>
              </a:rPr>
              <a:t>Conflict resolution time</a:t>
            </a:r>
            <a:endParaRPr lang="en-US" sz="1500" dirty="0"/>
          </a:p>
          <a:p>
            <a:r>
              <a:rPr lang="en-US" sz="1500" dirty="0">
                <a:solidFill>
                  <a:srgbClr val="1F2937"/>
                </a:solidFill>
                <a:latin typeface="Aptos" pitchFamily="34" charset="0"/>
                <a:ea typeface="Aptos" pitchFamily="34" charset="-122"/>
                <a:cs typeface="Aptos" pitchFamily="34" charset="-120"/>
              </a:rPr>
              <a:t>Mediation checklist usage</a:t>
            </a:r>
            <a:endParaRPr lang="en-US" sz="1500" dirty="0"/>
          </a:p>
          <a:p>
            <a:r>
              <a:rPr lang="en-US" sz="1500" dirty="0">
                <a:solidFill>
                  <a:srgbClr val="1F2937"/>
                </a:solidFill>
                <a:latin typeface="Aptos" pitchFamily="34" charset="0"/>
                <a:ea typeface="Aptos" pitchFamily="34" charset="-122"/>
                <a:cs typeface="Aptos" pitchFamily="34" charset="-120"/>
              </a:rPr>
              <a:t>Cross-team collaboration score</a:t>
            </a:r>
            <a:endParaRPr lang="en-US" sz="1500" dirty="0"/>
          </a:p>
          <a:p>
            <a:r>
              <a:rPr lang="en-US" sz="1500" dirty="0">
                <a:solidFill>
                  <a:srgbClr val="1F2937"/>
                </a:solidFill>
                <a:latin typeface="Aptos" pitchFamily="34" charset="0"/>
                <a:ea typeface="Aptos" pitchFamily="34" charset="-122"/>
                <a:cs typeface="Aptos" pitchFamily="34" charset="-120"/>
              </a:rPr>
              <a:t>Psychological safety score</a:t>
            </a:r>
            <a:endParaRPr lang="en-US" sz="1500" dirty="0"/>
          </a:p>
          <a:p>
            <a:r>
              <a:rPr lang="en-US" sz="1500" dirty="0">
                <a:solidFill>
                  <a:srgbClr val="1F2937"/>
                </a:solidFill>
                <a:latin typeface="Aptos" pitchFamily="34" charset="0"/>
                <a:ea typeface="Aptos" pitchFamily="34" charset="-122"/>
                <a:cs typeface="Aptos" pitchFamily="34" charset="-120"/>
              </a:rPr>
              <a:t>Team working agreements submitted</a:t>
            </a:r>
            <a:endParaRPr lang="en-US" sz="1500" dirty="0"/>
          </a:p>
          <a:p>
            <a:r>
              <a:rPr lang="en-US" sz="1500" dirty="0">
                <a:solidFill>
                  <a:srgbClr val="1F2937"/>
                </a:solidFill>
                <a:latin typeface="Aptos" pitchFamily="34" charset="0"/>
                <a:ea typeface="Aptos" pitchFamily="34" charset="-122"/>
                <a:cs typeface="Aptos" pitchFamily="34" charset="-120"/>
              </a:rPr>
              <a:t>Employee satisfaction</a:t>
            </a:r>
            <a:endParaRPr lang="en-US" sz="1500" dirty="0"/>
          </a:p>
          <a:p>
            <a:r>
              <a:rPr lang="en-US" sz="1500" dirty="0">
                <a:solidFill>
                  <a:srgbClr val="1F2937"/>
                </a:solidFill>
                <a:latin typeface="Aptos" pitchFamily="34" charset="0"/>
                <a:ea typeface="Aptos" pitchFamily="34" charset="-122"/>
                <a:cs typeface="Aptos" pitchFamily="34" charset="-120"/>
              </a:rPr>
              <a:t>Tool alignment score</a:t>
            </a:r>
            <a:endParaRPr lang="en-US" sz="1500" dirty="0"/>
          </a:p>
        </p:txBody>
      </p:sp>
      <p:sp>
        <p:nvSpPr>
          <p:cNvPr id="7" name="Text 5"/>
          <p:cNvSpPr/>
          <p:nvPr/>
        </p:nvSpPr>
        <p:spPr>
          <a:xfrm>
            <a:off x="7726680" y="14173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Portfolio Value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Shows L&amp;D partner skills: needs analysis, manager enablement, simulation-based learning, knowledge management and KPI-based measurement.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Example Success Metrics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28</a:t>
            </a:r>
            <a:endParaRPr lang="en-US" sz="750" dirty="0"/>
          </a:p>
        </p:txBody>
      </p:sp>
      <p:sp>
        <p:nvSpPr>
          <p:cNvPr id="6" name="Text 4"/>
          <p:cNvSpPr/>
          <p:nvPr/>
        </p:nvSpPr>
        <p:spPr>
          <a:xfrm>
            <a:off x="914400" y="1234440"/>
            <a:ext cx="4572000" cy="502920"/>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Metric</a:t>
            </a:r>
            <a:endParaRPr lang="en-US" sz="1050" dirty="0"/>
          </a:p>
        </p:txBody>
      </p:sp>
      <p:sp>
        <p:nvSpPr>
          <p:cNvPr id="7" name="Text 5"/>
          <p:cNvSpPr/>
          <p:nvPr/>
        </p:nvSpPr>
        <p:spPr>
          <a:xfrm>
            <a:off x="5486400" y="1234440"/>
            <a:ext cx="2743200" cy="502920"/>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Before</a:t>
            </a:r>
            <a:endParaRPr lang="en-US" sz="1050" dirty="0"/>
          </a:p>
        </p:txBody>
      </p:sp>
      <p:sp>
        <p:nvSpPr>
          <p:cNvPr id="8" name="Text 6"/>
          <p:cNvSpPr/>
          <p:nvPr/>
        </p:nvSpPr>
        <p:spPr>
          <a:xfrm>
            <a:off x="8229600" y="1234440"/>
            <a:ext cx="2743200" cy="502920"/>
          </a:xfrm>
          <a:prstGeom prst="rect">
            <a:avLst/>
          </a:prstGeom>
          <a:solidFill>
            <a:srgbClr val="17213F"/>
          </a:solidFill>
          <a:ln w="6350">
            <a:solidFill>
              <a:srgbClr val="D1D5DB"/>
            </a:solidFill>
          </a:ln>
        </p:spPr>
        <p:txBody>
          <a:bodyPr wrap="square" lIns="762" tIns="762" rIns="762" bIns="762" rtlCol="0" anchor="ctr">
            <a:normAutofit/>
          </a:bodyPr>
          <a:lstStyle/>
          <a:p>
            <a:pPr indent="0" marL="0">
              <a:buNone/>
            </a:pPr>
            <a:r>
              <a:rPr lang="en-US" sz="1050" b="1" dirty="0">
                <a:solidFill>
                  <a:srgbClr val="FFFFFF"/>
                </a:solidFill>
                <a:latin typeface="Aptos" pitchFamily="34" charset="0"/>
                <a:ea typeface="Aptos" pitchFamily="34" charset="-122"/>
                <a:cs typeface="Aptos" pitchFamily="34" charset="-120"/>
              </a:rPr>
              <a:t>After</a:t>
            </a:r>
            <a:endParaRPr lang="en-US" sz="1050" dirty="0"/>
          </a:p>
        </p:txBody>
      </p:sp>
      <p:sp>
        <p:nvSpPr>
          <p:cNvPr id="9" name="Text 7"/>
          <p:cNvSpPr/>
          <p:nvPr/>
        </p:nvSpPr>
        <p:spPr>
          <a:xfrm>
            <a:off x="914400" y="1737360"/>
            <a:ext cx="45720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Manager confidence</a:t>
            </a:r>
            <a:endParaRPr lang="en-US" sz="950" dirty="0"/>
          </a:p>
        </p:txBody>
      </p:sp>
      <p:sp>
        <p:nvSpPr>
          <p:cNvPr id="10" name="Text 8"/>
          <p:cNvSpPr/>
          <p:nvPr/>
        </p:nvSpPr>
        <p:spPr>
          <a:xfrm>
            <a:off x="5486400" y="173736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2.9/5</a:t>
            </a:r>
            <a:endParaRPr lang="en-US" sz="950" dirty="0"/>
          </a:p>
        </p:txBody>
      </p:sp>
      <p:sp>
        <p:nvSpPr>
          <p:cNvPr id="11" name="Text 9"/>
          <p:cNvSpPr/>
          <p:nvPr/>
        </p:nvSpPr>
        <p:spPr>
          <a:xfrm>
            <a:off x="8229600" y="173736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4.2/5</a:t>
            </a:r>
            <a:endParaRPr lang="en-US" sz="950" dirty="0"/>
          </a:p>
        </p:txBody>
      </p:sp>
      <p:sp>
        <p:nvSpPr>
          <p:cNvPr id="12" name="Text 10"/>
          <p:cNvSpPr/>
          <p:nvPr/>
        </p:nvSpPr>
        <p:spPr>
          <a:xfrm>
            <a:off x="914400" y="2240280"/>
            <a:ext cx="45720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Collaboration score</a:t>
            </a:r>
            <a:endParaRPr lang="en-US" sz="950" dirty="0"/>
          </a:p>
        </p:txBody>
      </p:sp>
      <p:sp>
        <p:nvSpPr>
          <p:cNvPr id="13" name="Text 11"/>
          <p:cNvSpPr/>
          <p:nvPr/>
        </p:nvSpPr>
        <p:spPr>
          <a:xfrm>
            <a:off x="5486400" y="2240280"/>
            <a:ext cx="2743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3.1/5</a:t>
            </a:r>
            <a:endParaRPr lang="en-US" sz="950" dirty="0"/>
          </a:p>
        </p:txBody>
      </p:sp>
      <p:sp>
        <p:nvSpPr>
          <p:cNvPr id="14" name="Text 12"/>
          <p:cNvSpPr/>
          <p:nvPr/>
        </p:nvSpPr>
        <p:spPr>
          <a:xfrm>
            <a:off x="8229600" y="2240280"/>
            <a:ext cx="2743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4.1/5</a:t>
            </a:r>
            <a:endParaRPr lang="en-US" sz="950" dirty="0"/>
          </a:p>
        </p:txBody>
      </p:sp>
      <p:sp>
        <p:nvSpPr>
          <p:cNvPr id="15" name="Text 13"/>
          <p:cNvSpPr/>
          <p:nvPr/>
        </p:nvSpPr>
        <p:spPr>
          <a:xfrm>
            <a:off x="914400" y="2743200"/>
            <a:ext cx="45720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Psychological safety</a:t>
            </a:r>
            <a:endParaRPr lang="en-US" sz="950" dirty="0"/>
          </a:p>
        </p:txBody>
      </p:sp>
      <p:sp>
        <p:nvSpPr>
          <p:cNvPr id="16" name="Text 14"/>
          <p:cNvSpPr/>
          <p:nvPr/>
        </p:nvSpPr>
        <p:spPr>
          <a:xfrm>
            <a:off x="5486400" y="274320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3.3/5</a:t>
            </a:r>
            <a:endParaRPr lang="en-US" sz="950" dirty="0"/>
          </a:p>
        </p:txBody>
      </p:sp>
      <p:sp>
        <p:nvSpPr>
          <p:cNvPr id="17" name="Text 15"/>
          <p:cNvSpPr/>
          <p:nvPr/>
        </p:nvSpPr>
        <p:spPr>
          <a:xfrm>
            <a:off x="8229600" y="274320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4.0/5</a:t>
            </a:r>
            <a:endParaRPr lang="en-US" sz="950" dirty="0"/>
          </a:p>
        </p:txBody>
      </p:sp>
      <p:sp>
        <p:nvSpPr>
          <p:cNvPr id="18" name="Text 16"/>
          <p:cNvSpPr/>
          <p:nvPr/>
        </p:nvSpPr>
        <p:spPr>
          <a:xfrm>
            <a:off x="914400" y="3246120"/>
            <a:ext cx="45720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Average resolution time</a:t>
            </a:r>
            <a:endParaRPr lang="en-US" sz="950" dirty="0"/>
          </a:p>
        </p:txBody>
      </p:sp>
      <p:sp>
        <p:nvSpPr>
          <p:cNvPr id="19" name="Text 17"/>
          <p:cNvSpPr/>
          <p:nvPr/>
        </p:nvSpPr>
        <p:spPr>
          <a:xfrm>
            <a:off x="5486400" y="3246120"/>
            <a:ext cx="2743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12 days</a:t>
            </a:r>
            <a:endParaRPr lang="en-US" sz="950" dirty="0"/>
          </a:p>
        </p:txBody>
      </p:sp>
      <p:sp>
        <p:nvSpPr>
          <p:cNvPr id="20" name="Text 18"/>
          <p:cNvSpPr/>
          <p:nvPr/>
        </p:nvSpPr>
        <p:spPr>
          <a:xfrm>
            <a:off x="8229600" y="3246120"/>
            <a:ext cx="2743200" cy="502920"/>
          </a:xfrm>
          <a:prstGeom prst="rect">
            <a:avLst/>
          </a:prstGeom>
          <a:solidFill>
            <a:srgbClr val="F6F7FB"/>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8.6 days</a:t>
            </a:r>
            <a:endParaRPr lang="en-US" sz="950" dirty="0"/>
          </a:p>
        </p:txBody>
      </p:sp>
      <p:sp>
        <p:nvSpPr>
          <p:cNvPr id="21" name="Text 19"/>
          <p:cNvSpPr/>
          <p:nvPr/>
        </p:nvSpPr>
        <p:spPr>
          <a:xfrm>
            <a:off x="914400" y="3749040"/>
            <a:ext cx="45720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Mediation checklist usage</a:t>
            </a:r>
            <a:endParaRPr lang="en-US" sz="950" dirty="0"/>
          </a:p>
        </p:txBody>
      </p:sp>
      <p:sp>
        <p:nvSpPr>
          <p:cNvPr id="22" name="Text 20"/>
          <p:cNvSpPr/>
          <p:nvPr/>
        </p:nvSpPr>
        <p:spPr>
          <a:xfrm>
            <a:off x="5486400" y="374904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15%</a:t>
            </a:r>
            <a:endParaRPr lang="en-US" sz="950" dirty="0"/>
          </a:p>
        </p:txBody>
      </p:sp>
      <p:sp>
        <p:nvSpPr>
          <p:cNvPr id="23" name="Text 21"/>
          <p:cNvSpPr/>
          <p:nvPr/>
        </p:nvSpPr>
        <p:spPr>
          <a:xfrm>
            <a:off x="8229600" y="3749040"/>
            <a:ext cx="2743200" cy="502920"/>
          </a:xfrm>
          <a:prstGeom prst="rect">
            <a:avLst/>
          </a:prstGeom>
          <a:solidFill>
            <a:srgbClr val="FFFFFF"/>
          </a:solidFill>
          <a:ln w="6350">
            <a:solidFill>
              <a:srgbClr val="D1D5DB"/>
            </a:solidFill>
          </a:ln>
        </p:spPr>
        <p:txBody>
          <a:bodyPr wrap="square" lIns="762" tIns="762" rIns="762" bIns="762"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73%</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02920" y="164592"/>
            <a:ext cx="685800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Global Conflict Management Enablement</a:t>
            </a:r>
            <a:endParaRPr lang="en-US" sz="850" dirty="0"/>
          </a:p>
        </p:txBody>
      </p:sp>
      <p:sp>
        <p:nvSpPr>
          <p:cNvPr id="3" name="Text 1"/>
          <p:cNvSpPr/>
          <p:nvPr/>
        </p:nvSpPr>
        <p:spPr>
          <a:xfrm>
            <a:off x="502920" y="438912"/>
            <a:ext cx="10424160" cy="384048"/>
          </a:xfrm>
          <a:prstGeom prst="rect">
            <a:avLst/>
          </a:prstGeom>
          <a:noFill/>
          <a:ln/>
        </p:spPr>
        <p:txBody>
          <a:bodyPr wrap="square" lIns="0" tIns="0" rIns="0" bIns="0" rtlCol="0" anchor="ctr"/>
          <a:lstStyle/>
          <a:p>
            <a:pPr indent="0" marL="0">
              <a:buNone/>
            </a:pPr>
            <a:r>
              <a:rPr lang="en-US" sz="2200" b="1" dirty="0">
                <a:solidFill>
                  <a:srgbClr val="17213F"/>
                </a:solidFill>
                <a:latin typeface="Aptos Display" pitchFamily="34" charset="0"/>
                <a:ea typeface="Aptos Display" pitchFamily="34" charset="-122"/>
                <a:cs typeface="Aptos Display" pitchFamily="34" charset="-120"/>
              </a:rPr>
              <a:t>Manager Takeaways</a:t>
            </a:r>
            <a:endParaRPr lang="en-US" sz="2200" dirty="0"/>
          </a:p>
        </p:txBody>
      </p:sp>
      <p:sp>
        <p:nvSpPr>
          <p:cNvPr id="4" name="Shape 2"/>
          <p:cNvSpPr/>
          <p:nvPr/>
        </p:nvSpPr>
        <p:spPr>
          <a:xfrm>
            <a:off x="502920" y="896112"/>
            <a:ext cx="11064240" cy="0"/>
          </a:xfrm>
          <a:prstGeom prst="line">
            <a:avLst/>
          </a:prstGeom>
          <a:noFill/>
          <a:ln w="12700">
            <a:solidFill>
              <a:srgbClr val="E5E7EB"/>
            </a:solidFill>
            <a:prstDash val="solid"/>
          </a:ln>
        </p:spPr>
      </p:sp>
      <p:sp>
        <p:nvSpPr>
          <p:cNvPr id="5" name="Text 3"/>
          <p:cNvSpPr/>
          <p:nvPr/>
        </p:nvSpPr>
        <p:spPr>
          <a:xfrm>
            <a:off x="9875520" y="6510528"/>
            <a:ext cx="1737360" cy="182880"/>
          </a:xfrm>
          <a:prstGeom prst="rect">
            <a:avLst/>
          </a:prstGeom>
          <a:noFill/>
          <a:ln/>
        </p:spPr>
        <p:txBody>
          <a:bodyPr wrap="square" lIns="0" tIns="0" rIns="0" bIns="0" rtlCol="0" anchor="ctr"/>
          <a:lstStyle/>
          <a:p>
            <a:pPr algn="r" indent="0" marL="0">
              <a:buNone/>
            </a:pPr>
            <a:r>
              <a:rPr lang="en-US" sz="750" dirty="0">
                <a:solidFill>
                  <a:srgbClr val="6B7280"/>
                </a:solidFill>
              </a:rPr>
              <a:t>Portfolio training deck | 29</a:t>
            </a:r>
            <a:endParaRPr lang="en-US" sz="750" dirty="0"/>
          </a:p>
        </p:txBody>
      </p:sp>
      <p:sp>
        <p:nvSpPr>
          <p:cNvPr id="6" name="Text 4"/>
          <p:cNvSpPr/>
          <p:nvPr/>
        </p:nvSpPr>
        <p:spPr>
          <a:xfrm>
            <a:off x="777240" y="1234440"/>
            <a:ext cx="6675120" cy="4389120"/>
          </a:xfrm>
          <a:prstGeom prst="rect">
            <a:avLst/>
          </a:prstGeom>
          <a:noFill/>
          <a:ln/>
        </p:spPr>
        <p:txBody>
          <a:bodyPr wrap="square" lIns="1016" tIns="1016" rIns="1016" bIns="1016" rtlCol="0" anchor="ctr">
            <a:normAutofit/>
          </a:bodyPr>
          <a:lstStyle/>
          <a:p>
            <a:r>
              <a:rPr lang="en-US" sz="1500" dirty="0">
                <a:solidFill>
                  <a:srgbClr val="1F2937"/>
                </a:solidFill>
                <a:latin typeface="Aptos" pitchFamily="34" charset="0"/>
                <a:ea typeface="Aptos" pitchFamily="34" charset="-122"/>
                <a:cs typeface="Aptos" pitchFamily="34" charset="-120"/>
              </a:rPr>
              <a:t>Diagnose the conflict source before reacting.</a:t>
            </a:r>
            <a:endParaRPr lang="en-US" sz="1500" dirty="0"/>
          </a:p>
          <a:p>
            <a:r>
              <a:rPr lang="en-US" sz="1500" dirty="0">
                <a:solidFill>
                  <a:srgbClr val="1F2937"/>
                </a:solidFill>
                <a:latin typeface="Aptos" pitchFamily="34" charset="0"/>
                <a:ea typeface="Aptos" pitchFamily="34" charset="-122"/>
                <a:cs typeface="Aptos" pitchFamily="34" charset="-120"/>
              </a:rPr>
              <a:t>Separate facts from assumptions.</a:t>
            </a:r>
            <a:endParaRPr lang="en-US" sz="1500" dirty="0"/>
          </a:p>
          <a:p>
            <a:r>
              <a:rPr lang="en-US" sz="1500" dirty="0">
                <a:solidFill>
                  <a:srgbClr val="1F2937"/>
                </a:solidFill>
                <a:latin typeface="Aptos" pitchFamily="34" charset="0"/>
                <a:ea typeface="Aptos" pitchFamily="34" charset="-122"/>
                <a:cs typeface="Aptos" pitchFamily="34" charset="-120"/>
              </a:rPr>
              <a:t>Create space for different cultural communication styles.</a:t>
            </a:r>
            <a:endParaRPr lang="en-US" sz="1500" dirty="0"/>
          </a:p>
          <a:p>
            <a:r>
              <a:rPr lang="en-US" sz="1500" dirty="0">
                <a:solidFill>
                  <a:srgbClr val="1F2937"/>
                </a:solidFill>
                <a:latin typeface="Aptos" pitchFamily="34" charset="0"/>
                <a:ea typeface="Aptos" pitchFamily="34" charset="-122"/>
                <a:cs typeface="Aptos" pitchFamily="34" charset="-120"/>
              </a:rPr>
              <a:t>Use mediation tools early.</a:t>
            </a:r>
            <a:endParaRPr lang="en-US" sz="1500" dirty="0"/>
          </a:p>
          <a:p>
            <a:r>
              <a:rPr lang="en-US" sz="1500" dirty="0">
                <a:solidFill>
                  <a:srgbClr val="1F2937"/>
                </a:solidFill>
                <a:latin typeface="Aptos" pitchFamily="34" charset="0"/>
                <a:ea typeface="Aptos" pitchFamily="34" charset="-122"/>
                <a:cs typeface="Aptos" pitchFamily="34" charset="-120"/>
              </a:rPr>
              <a:t>Create team working agreements.</a:t>
            </a:r>
            <a:endParaRPr lang="en-US" sz="1500" dirty="0"/>
          </a:p>
          <a:p>
            <a:r>
              <a:rPr lang="en-US" sz="1500" dirty="0">
                <a:solidFill>
                  <a:srgbClr val="1F2937"/>
                </a:solidFill>
                <a:latin typeface="Aptos" pitchFamily="34" charset="0"/>
                <a:ea typeface="Aptos" pitchFamily="34" charset="-122"/>
                <a:cs typeface="Aptos" pitchFamily="34" charset="-120"/>
              </a:rPr>
              <a:t>Measure and review collaboration norms.</a:t>
            </a:r>
            <a:endParaRPr lang="en-US" sz="1500" dirty="0"/>
          </a:p>
        </p:txBody>
      </p:sp>
      <p:sp>
        <p:nvSpPr>
          <p:cNvPr id="7" name="Text 5"/>
          <p:cNvSpPr/>
          <p:nvPr/>
        </p:nvSpPr>
        <p:spPr>
          <a:xfrm>
            <a:off x="7726680" y="1417320"/>
            <a:ext cx="3474720" cy="320040"/>
          </a:xfrm>
          <a:prstGeom prst="rect">
            <a:avLst/>
          </a:prstGeom>
          <a:solidFill>
            <a:srgbClr val="F1EEFF"/>
          </a:solidFill>
          <a:ln>
            <a:solidFill>
              <a:srgbClr val="F1EEFF">
                <a:alpha val="0"/>
              </a:srgbClr>
            </a:solidFill>
          </a:ln>
        </p:spPr>
        <p:txBody>
          <a:bodyPr wrap="square" lIns="1270" tIns="1270" rIns="1270" bIns="1270" rtlCol="0" anchor="ctr"/>
          <a:lstStyle/>
          <a:p>
            <a:pPr indent="0" marL="0">
              <a:buNone/>
            </a:pPr>
            <a:r>
              <a:rPr lang="en-US" sz="1350" b="1" dirty="0">
                <a:solidFill>
                  <a:srgbClr val="17213F"/>
                </a:solidFill>
                <a:latin typeface="Aptos Display" pitchFamily="34" charset="0"/>
                <a:ea typeface="Aptos Display" pitchFamily="34" charset="-122"/>
                <a:cs typeface="Aptos Display" pitchFamily="34" charset="-120"/>
              </a:rPr>
              <a:t>Portfolio Value</a:t>
            </a:r>
            <a:endParaRPr lang="en-US" sz="1350" dirty="0"/>
          </a:p>
        </p:txBody>
      </p:sp>
      <p:sp>
        <p:nvSpPr>
          <p:cNvPr id="8" name="Shape 6"/>
          <p:cNvSpPr/>
          <p:nvPr/>
        </p:nvSpPr>
        <p:spPr>
          <a:xfrm>
            <a:off x="7818120" y="1801368"/>
            <a:ext cx="3291840" cy="0"/>
          </a:xfrm>
          <a:prstGeom prst="line">
            <a:avLst/>
          </a:prstGeom>
          <a:noFill/>
          <a:ln w="25400">
            <a:solidFill>
              <a:srgbClr val="A69BE8"/>
            </a:solidFill>
            <a:prstDash val="solid"/>
          </a:ln>
        </p:spPr>
      </p:sp>
      <p:sp>
        <p:nvSpPr>
          <p:cNvPr id="9" name="Text 7"/>
          <p:cNvSpPr/>
          <p:nvPr/>
        </p:nvSpPr>
        <p:spPr>
          <a:xfrm>
            <a:off x="7772400" y="1892808"/>
            <a:ext cx="3383280" cy="1481328"/>
          </a:xfrm>
          <a:prstGeom prst="rect">
            <a:avLst/>
          </a:prstGeom>
          <a:solidFill>
            <a:srgbClr val="F1EEFF"/>
          </a:solidFill>
          <a:ln>
            <a:solidFill>
              <a:srgbClr val="F1EEFF">
                <a:alpha val="0"/>
              </a:srgbClr>
            </a:solidFill>
          </a:ln>
        </p:spPr>
        <p:txBody>
          <a:bodyPr wrap="square" lIns="1270" tIns="1270" rIns="1270" bIns="1270"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Shows L&amp;D partner skills: needs analysis, manager enablement, simulation-based learning, knowledge management and KPI-based measurement.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213F"/>
        </a:solidFill>
      </p:bgPr>
    </p:bg>
    <p:spTree>
      <p:nvGrpSpPr>
        <p:cNvPr id="1" name=""/>
        <p:cNvGrpSpPr/>
        <p:nvPr/>
      </p:nvGrpSpPr>
      <p:grpSpPr>
        <a:xfrm>
          <a:off x="0" y="0"/>
          <a:ext cx="0" cy="0"/>
          <a:chOff x="0" y="0"/>
          <a:chExt cx="0" cy="0"/>
        </a:xfrm>
      </p:grpSpPr>
      <p:sp>
        <p:nvSpPr>
          <p:cNvPr id="2" name="Text 0"/>
          <p:cNvSpPr/>
          <p:nvPr/>
        </p:nvSpPr>
        <p:spPr>
          <a:xfrm>
            <a:off x="822960" y="1828800"/>
            <a:ext cx="1042416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Aptos Display" pitchFamily="34" charset="0"/>
                <a:ea typeface="Aptos Display" pitchFamily="34" charset="-122"/>
                <a:cs typeface="Aptos Display" pitchFamily="34" charset="-120"/>
              </a:rPr>
              <a:t>Healthy conflict creates clarity.</a:t>
            </a:r>
            <a:endParaRPr lang="en-US" sz="3200" dirty="0"/>
          </a:p>
        </p:txBody>
      </p:sp>
      <p:sp>
        <p:nvSpPr>
          <p:cNvPr id="3" name="Text 1"/>
          <p:cNvSpPr/>
          <p:nvPr/>
        </p:nvSpPr>
        <p:spPr>
          <a:xfrm>
            <a:off x="822960" y="2743200"/>
            <a:ext cx="10424160" cy="640080"/>
          </a:xfrm>
          <a:prstGeom prst="rect">
            <a:avLst/>
          </a:prstGeom>
          <a:noFill/>
          <a:ln/>
        </p:spPr>
        <p:txBody>
          <a:bodyPr wrap="square" lIns="0" tIns="0" rIns="0" bIns="0" rtlCol="0" anchor="ctr"/>
          <a:lstStyle/>
          <a:p>
            <a:pPr algn="ctr" indent="0" marL="0">
              <a:buNone/>
            </a:pPr>
            <a:r>
              <a:rPr lang="en-US" sz="2800" b="1" dirty="0">
                <a:solidFill>
                  <a:srgbClr val="F1EEFF"/>
                </a:solidFill>
                <a:latin typeface="Aptos Display" pitchFamily="34" charset="0"/>
                <a:ea typeface="Aptos Display" pitchFamily="34" charset="-122"/>
                <a:cs typeface="Aptos Display" pitchFamily="34" charset="-120"/>
              </a:rPr>
              <a:t>Unmanaged conflict creates distance.</a:t>
            </a:r>
            <a:endParaRPr lang="en-US" sz="2800" dirty="0"/>
          </a:p>
        </p:txBody>
      </p:sp>
      <p:sp>
        <p:nvSpPr>
          <p:cNvPr id="4" name="Text 2"/>
          <p:cNvSpPr/>
          <p:nvPr/>
        </p:nvSpPr>
        <p:spPr>
          <a:xfrm>
            <a:off x="822960" y="4846320"/>
            <a:ext cx="10424160" cy="365760"/>
          </a:xfrm>
          <a:prstGeom prst="rect">
            <a:avLst/>
          </a:prstGeom>
          <a:noFill/>
          <a:ln/>
        </p:spPr>
        <p:txBody>
          <a:bodyPr wrap="square" lIns="0" tIns="0" rIns="0" bIns="0" rtlCol="0" anchor="ctr"/>
          <a:lstStyle/>
          <a:p>
            <a:pPr algn="ctr" indent="0" marL="0">
              <a:buNone/>
            </a:pPr>
            <a:r>
              <a:rPr lang="en-US" sz="1800" dirty="0">
                <a:solidFill>
                  <a:srgbClr val="FFFFFF"/>
                </a:solidFill>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Portfolio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Conflict Management Enablement Program</dc:title>
  <dc:subject>Global Conflict Management Enablement Program</dc:subject>
  <dc:creator>Ayelet Nogrian</dc:creator>
  <cp:lastModifiedBy>Ayelet Nogrian</cp:lastModifiedBy>
  <cp:revision>1</cp:revision>
  <dcterms:created xsi:type="dcterms:W3CDTF">2026-04-29T15:27:40Z</dcterms:created>
  <dcterms:modified xsi:type="dcterms:W3CDTF">2026-04-29T15:27:40Z</dcterms:modified>
</cp:coreProperties>
</file>